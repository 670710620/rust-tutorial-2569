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notesMaster+xml" PartName="/ppt/notesMasters/notesMaster1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0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29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slide+xml" PartName="/ppt/slides/slide18.xml"/>
  <Override ContentType="application/vnd.openxmlformats-officedocument.presentationml.slide+xml" PartName="/ppt/slides/slide19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22.xml"/>
  <Override ContentType="application/vnd.openxmlformats-officedocument.presentationml.slide+xml" PartName="/ppt/slides/slide23.xml"/>
  <Override ContentType="application/vnd.openxmlformats-officedocument.presentationml.slide+xml" PartName="/ppt/slides/slide24.xml"/>
  <Override ContentType="application/vnd.openxmlformats-officedocument.presentationml.slide+xml" PartName="/ppt/slides/slide25.xml"/>
  <Override ContentType="application/vnd.openxmlformats-officedocument.presentationml.slide+xml" PartName="/ppt/slides/slide26.xml"/>
  <Override ContentType="application/vnd.openxmlformats-officedocument.presentationml.slide+xml" PartName="/ppt/slides/slide27.xml"/>
  <Override ContentType="application/vnd.openxmlformats-officedocument.presentationml.slide+xml" PartName="/ppt/slides/slide28.xml"/>
  <Override ContentType="application/vnd.openxmlformats-officedocument.presentationml.slide+xml" PartName="/ppt/slides/slide29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notesMasterIdLst>
    <p:notesMasterId r:id="rId3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</p:sldIdLst>
  <p:sldSz cx="18288000" cy="10287000"/>
  <p:notesSz cx="6858000" cy="9144000"/>
  <p:embeddedFontLst>
    <p:embeddedFont>
      <p:font typeface="Calibri (MS) Bold" charset="1" panose="020F0702030404030204"/>
      <p:regular r:id="rId38"/>
    </p:embeddedFont>
    <p:embeddedFont>
      <p:font typeface="Calibri (MS)" charset="1" panose="020F0502020204030204"/>
      <p:regular r:id="rId39"/>
    </p:embeddedFont>
    <p:embeddedFont>
      <p:font typeface="Cambria Bold" charset="1" panose="02040803050406030204"/>
      <p:regular r:id="rId40"/>
    </p:embeddedFont>
    <p:embeddedFont>
      <p:font typeface="Calibri (MS) Italics" charset="1" panose="020F05020202040A0204"/>
      <p:regular r:id="rId42"/>
    </p:embeddedFont>
    <p:embeddedFont>
      <p:font typeface="Courier New" charset="1" panose="02070309020205020404"/>
      <p:regular r:id="rId44"/>
    </p:embeddedFont>
    <p:embeddedFont>
      <p:font typeface="Sarabun Bold" charset="1" panose="00000800000000000000"/>
      <p:regular r:id="rId57"/>
    </p:embeddedFont>
    <p:embeddedFont>
      <p:font typeface="Sarabun" charset="1" panose="00000500000000000000"/>
      <p:regular r:id="rId58"/>
    </p:embeddedFont>
    <p:embeddedFont>
      <p:font typeface="Sarabun Semi-Bold" charset="1" panose="00000700000000000000"/>
      <p:regular r:id="rId60"/>
    </p:embeddedFont>
    <p:embeddedFont>
      <p:font typeface="Cambria" charset="1" panose="02040503050406030204"/>
      <p:regular r:id="rId74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22" Target="slides/slide17.xml" Type="http://schemas.openxmlformats.org/officeDocument/2006/relationships/slide"/><Relationship Id="rId23" Target="slides/slide18.xml" Type="http://schemas.openxmlformats.org/officeDocument/2006/relationships/slide"/><Relationship Id="rId24" Target="slides/slide19.xml" Type="http://schemas.openxmlformats.org/officeDocument/2006/relationships/slide"/><Relationship Id="rId25" Target="slides/slide20.xml" Type="http://schemas.openxmlformats.org/officeDocument/2006/relationships/slide"/><Relationship Id="rId26" Target="slides/slide21.xml" Type="http://schemas.openxmlformats.org/officeDocument/2006/relationships/slide"/><Relationship Id="rId27" Target="slides/slide22.xml" Type="http://schemas.openxmlformats.org/officeDocument/2006/relationships/slide"/><Relationship Id="rId28" Target="slides/slide23.xml" Type="http://schemas.openxmlformats.org/officeDocument/2006/relationships/slide"/><Relationship Id="rId29" Target="slides/slide24.xml" Type="http://schemas.openxmlformats.org/officeDocument/2006/relationships/slide"/><Relationship Id="rId3" Target="viewProps.xml" Type="http://schemas.openxmlformats.org/officeDocument/2006/relationships/viewProps"/><Relationship Id="rId30" Target="slides/slide25.xml" Type="http://schemas.openxmlformats.org/officeDocument/2006/relationships/slide"/><Relationship Id="rId31" Target="slides/slide26.xml" Type="http://schemas.openxmlformats.org/officeDocument/2006/relationships/slide"/><Relationship Id="rId32" Target="slides/slide27.xml" Type="http://schemas.openxmlformats.org/officeDocument/2006/relationships/slide"/><Relationship Id="rId33" Target="slides/slide28.xml" Type="http://schemas.openxmlformats.org/officeDocument/2006/relationships/slide"/><Relationship Id="rId34" Target="slides/slide29.xml" Type="http://schemas.openxmlformats.org/officeDocument/2006/relationships/slide"/><Relationship Id="rId35" Target="notesMasters/notesMaster1.xml" Type="http://schemas.openxmlformats.org/officeDocument/2006/relationships/notesMaster"/><Relationship Id="rId36" Target="theme/theme2.xml" Type="http://schemas.openxmlformats.org/officeDocument/2006/relationships/theme"/><Relationship Id="rId37" Target="notesSlides/notesSlide1.xml" Type="http://schemas.openxmlformats.org/officeDocument/2006/relationships/notesSlide"/><Relationship Id="rId38" Target="fonts/font38.fntdata" Type="http://schemas.openxmlformats.org/officeDocument/2006/relationships/font"/><Relationship Id="rId39" Target="fonts/font39.fntdata" Type="http://schemas.openxmlformats.org/officeDocument/2006/relationships/font"/><Relationship Id="rId4" Target="theme/theme1.xml" Type="http://schemas.openxmlformats.org/officeDocument/2006/relationships/theme"/><Relationship Id="rId40" Target="fonts/font40.fntdata" Type="http://schemas.openxmlformats.org/officeDocument/2006/relationships/font"/><Relationship Id="rId41" Target="notesSlides/notesSlide2.xml" Type="http://schemas.openxmlformats.org/officeDocument/2006/relationships/notesSlide"/><Relationship Id="rId42" Target="fonts/font42.fntdata" Type="http://schemas.openxmlformats.org/officeDocument/2006/relationships/font"/><Relationship Id="rId43" Target="notesSlides/notesSlide3.xml" Type="http://schemas.openxmlformats.org/officeDocument/2006/relationships/notesSlide"/><Relationship Id="rId44" Target="fonts/font44.fntdata" Type="http://schemas.openxmlformats.org/officeDocument/2006/relationships/font"/><Relationship Id="rId45" Target="notesSlides/notesSlide4.xml" Type="http://schemas.openxmlformats.org/officeDocument/2006/relationships/notesSlide"/><Relationship Id="rId46" Target="notesSlides/notesSlide5.xml" Type="http://schemas.openxmlformats.org/officeDocument/2006/relationships/notesSlide"/><Relationship Id="rId47" Target="notesSlides/notesSlide6.xml" Type="http://schemas.openxmlformats.org/officeDocument/2006/relationships/notesSlide"/><Relationship Id="rId48" Target="notesSlides/notesSlide7.xml" Type="http://schemas.openxmlformats.org/officeDocument/2006/relationships/notesSlide"/><Relationship Id="rId49" Target="notesSlides/notesSlide8.xml" Type="http://schemas.openxmlformats.org/officeDocument/2006/relationships/notesSlide"/><Relationship Id="rId5" Target="tableStyles.xml" Type="http://schemas.openxmlformats.org/officeDocument/2006/relationships/tableStyles"/><Relationship Id="rId50" Target="notesSlides/notesSlide9.xml" Type="http://schemas.openxmlformats.org/officeDocument/2006/relationships/notesSlide"/><Relationship Id="rId51" Target="notesSlides/notesSlide10.xml" Type="http://schemas.openxmlformats.org/officeDocument/2006/relationships/notesSlide"/><Relationship Id="rId52" Target="notesSlides/notesSlide11.xml" Type="http://schemas.openxmlformats.org/officeDocument/2006/relationships/notesSlide"/><Relationship Id="rId53" Target="notesSlides/notesSlide12.xml" Type="http://schemas.openxmlformats.org/officeDocument/2006/relationships/notesSlide"/><Relationship Id="rId54" Target="notesSlides/notesSlide13.xml" Type="http://schemas.openxmlformats.org/officeDocument/2006/relationships/notesSlide"/><Relationship Id="rId55" Target="notesSlides/notesSlide14.xml" Type="http://schemas.openxmlformats.org/officeDocument/2006/relationships/notesSlide"/><Relationship Id="rId56" Target="notesSlides/notesSlide15.xml" Type="http://schemas.openxmlformats.org/officeDocument/2006/relationships/notesSlide"/><Relationship Id="rId57" Target="fonts/font57.fntdata" Type="http://schemas.openxmlformats.org/officeDocument/2006/relationships/font"/><Relationship Id="rId58" Target="fonts/font58.fntdata" Type="http://schemas.openxmlformats.org/officeDocument/2006/relationships/font"/><Relationship Id="rId59" Target="notesSlides/notesSlide16.xml" Type="http://schemas.openxmlformats.org/officeDocument/2006/relationships/notesSlide"/><Relationship Id="rId6" Target="slides/slide1.xml" Type="http://schemas.openxmlformats.org/officeDocument/2006/relationships/slide"/><Relationship Id="rId60" Target="fonts/font60.fntdata" Type="http://schemas.openxmlformats.org/officeDocument/2006/relationships/font"/><Relationship Id="rId61" Target="notesSlides/notesSlide17.xml" Type="http://schemas.openxmlformats.org/officeDocument/2006/relationships/notesSlide"/><Relationship Id="rId62" Target="notesSlides/notesSlide18.xml" Type="http://schemas.openxmlformats.org/officeDocument/2006/relationships/notesSlide"/><Relationship Id="rId63" Target="notesSlides/notesSlide19.xml" Type="http://schemas.openxmlformats.org/officeDocument/2006/relationships/notesSlide"/><Relationship Id="rId64" Target="notesSlides/notesSlide20.xml" Type="http://schemas.openxmlformats.org/officeDocument/2006/relationships/notesSlide"/><Relationship Id="rId65" Target="notesSlides/notesSlide21.xml" Type="http://schemas.openxmlformats.org/officeDocument/2006/relationships/notesSlide"/><Relationship Id="rId66" Target="notesSlides/notesSlide22.xml" Type="http://schemas.openxmlformats.org/officeDocument/2006/relationships/notesSlide"/><Relationship Id="rId67" Target="notesSlides/notesSlide23.xml" Type="http://schemas.openxmlformats.org/officeDocument/2006/relationships/notesSlide"/><Relationship Id="rId68" Target="notesSlides/notesSlide24.xml" Type="http://schemas.openxmlformats.org/officeDocument/2006/relationships/notesSlide"/><Relationship Id="rId69" Target="notesSlides/notesSlide25.xml" Type="http://schemas.openxmlformats.org/officeDocument/2006/relationships/notesSlide"/><Relationship Id="rId7" Target="slides/slide2.xml" Type="http://schemas.openxmlformats.org/officeDocument/2006/relationships/slide"/><Relationship Id="rId70" Target="notesSlides/notesSlide26.xml" Type="http://schemas.openxmlformats.org/officeDocument/2006/relationships/notesSlide"/><Relationship Id="rId71" Target="notesSlides/notesSlide27.xml" Type="http://schemas.openxmlformats.org/officeDocument/2006/relationships/notesSlide"/><Relationship Id="rId72" Target="notesSlides/notesSlide28.xml" Type="http://schemas.openxmlformats.org/officeDocument/2006/relationships/notesSlide"/><Relationship Id="rId73" Target="notesSlides/notesSlide29.xml" Type="http://schemas.openxmlformats.org/officeDocument/2006/relationships/notesSlide"/><Relationship Id="rId74" Target="fonts/font74.fntdata" Type="http://schemas.openxmlformats.org/officeDocument/2006/relationships/font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notesMasters/_rels/notesMaster1.xml.rels><?xml version="1.0" encoding="UTF-8" standalone="yes"?><Relationships xmlns="http://schemas.openxmlformats.org/package/2006/relationships"><Relationship Id="rId1" Target="../theme/theme2.xml" Type="http://schemas.openxmlformats.org/officeDocument/2006/relationships/theme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1.7.2013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.xml" Type="http://schemas.openxmlformats.org/officeDocument/2006/relationships/slide"/></Relationships>
</file>

<file path=ppt/notesSlides/_rels/notesSlide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.xml" Type="http://schemas.openxmlformats.org/officeDocument/2006/relationships/slide"/></Relationships>
</file>

<file path=ppt/notesSlides/_rels/notesSlide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3.xml" Type="http://schemas.openxmlformats.org/officeDocument/2006/relationships/slide"/></Relationships>
</file>

<file path=ppt/notesSlides/_rels/notesSlide4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4.xml" Type="http://schemas.openxmlformats.org/officeDocument/2006/relationships/slide"/></Relationships>
</file>

<file path=ppt/notesSlides/_rels/notesSlide5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5.xml" Type="http://schemas.openxmlformats.org/officeDocument/2006/relationships/slide"/></Relationships>
</file>

<file path=ppt/notesSlides/_rels/notesSlide6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6.xml" Type="http://schemas.openxmlformats.org/officeDocument/2006/relationships/slide"/></Relationships>
</file>

<file path=ppt/notesSlides/_rels/notesSlide7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7.xml" Type="http://schemas.openxmlformats.org/officeDocument/2006/relationships/slide"/></Relationships>
</file>

<file path=ppt/notesSlides/_rels/notesSlide8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8.xml" Type="http://schemas.openxmlformats.org/officeDocument/2006/relationships/slide"/></Relationships>
</file>

<file path=ppt/notesSlides/_rels/notesSlide9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9.xml" Type="http://schemas.openxmlformats.org/officeDocument/2006/relationships/slide"/></Relationships>
</file>

<file path=ppt/notesSlides/_rels/notesSlide10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0.xml" Type="http://schemas.openxmlformats.org/officeDocument/2006/relationships/slide"/></Relationships>
</file>

<file path=ppt/notesSlides/_rels/notesSlide1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1.xml" Type="http://schemas.openxmlformats.org/officeDocument/2006/relationships/slide"/></Relationships>
</file>

<file path=ppt/notesSlides/_rels/notesSlide1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2.xml" Type="http://schemas.openxmlformats.org/officeDocument/2006/relationships/slide"/></Relationships>
</file>

<file path=ppt/notesSlides/_rels/notesSlide1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3.xml" Type="http://schemas.openxmlformats.org/officeDocument/2006/relationships/slide"/></Relationships>
</file>

<file path=ppt/notesSlides/_rels/notesSlide14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4.xml" Type="http://schemas.openxmlformats.org/officeDocument/2006/relationships/slide"/></Relationships>
</file>

<file path=ppt/notesSlides/_rels/notesSlide15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5.xml" Type="http://schemas.openxmlformats.org/officeDocument/2006/relationships/slide"/></Relationships>
</file>

<file path=ppt/notesSlides/_rels/notesSlide16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6.xml" Type="http://schemas.openxmlformats.org/officeDocument/2006/relationships/slide"/></Relationships>
</file>

<file path=ppt/notesSlides/_rels/notesSlide17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7.xml" Type="http://schemas.openxmlformats.org/officeDocument/2006/relationships/slide"/></Relationships>
</file>

<file path=ppt/notesSlides/_rels/notesSlide18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8.xml" Type="http://schemas.openxmlformats.org/officeDocument/2006/relationships/slide"/></Relationships>
</file>

<file path=ppt/notesSlides/_rels/notesSlide19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9.xml" Type="http://schemas.openxmlformats.org/officeDocument/2006/relationships/slide"/></Relationships>
</file>

<file path=ppt/notesSlides/_rels/notesSlide20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0.xml" Type="http://schemas.openxmlformats.org/officeDocument/2006/relationships/slide"/></Relationships>
</file>

<file path=ppt/notesSlides/_rels/notesSlide2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1.xml" Type="http://schemas.openxmlformats.org/officeDocument/2006/relationships/slide"/></Relationships>
</file>

<file path=ppt/notesSlides/_rels/notesSlide2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2.xml" Type="http://schemas.openxmlformats.org/officeDocument/2006/relationships/slide"/></Relationships>
</file>

<file path=ppt/notesSlides/_rels/notesSlide2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3.xml" Type="http://schemas.openxmlformats.org/officeDocument/2006/relationships/slide"/></Relationships>
</file>

<file path=ppt/notesSlides/_rels/notesSlide24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4.xml" Type="http://schemas.openxmlformats.org/officeDocument/2006/relationships/slide"/></Relationships>
</file>

<file path=ppt/notesSlides/_rels/notesSlide25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5.xml" Type="http://schemas.openxmlformats.org/officeDocument/2006/relationships/slide"/></Relationships>
</file>

<file path=ppt/notesSlides/_rels/notesSlide26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6.xml" Type="http://schemas.openxmlformats.org/officeDocument/2006/relationships/slide"/></Relationships>
</file>

<file path=ppt/notesSlides/_rels/notesSlide27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7.xml" Type="http://schemas.openxmlformats.org/officeDocument/2006/relationships/slide"/></Relationships>
</file>

<file path=ppt/notesSlides/_rels/notesSlide28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8.xml" Type="http://schemas.openxmlformats.org/officeDocument/2006/relationships/slide"/></Relationships>
</file>

<file path=ppt/notesSlides/_rels/notesSlide29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9.xml" Type="http://schemas.openxmlformats.org/officeDocument/2006/relationships/slide"/></Relationships>
</file>

<file path=ppt/notesSlides/notesSlide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2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3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3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3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3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3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3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3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3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4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4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4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4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5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6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5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7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5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8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5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9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5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0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5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6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6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6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7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5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7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6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8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7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9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8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10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9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Template นี้จัดทำเพื่อใช้เป็นโครงร่างการนำเสนอ กลุ่มสามารถปรับสี/รูปแบบเพิ่มเติมได้ แต่ควรคงโครงสร้าง 4 ส่วนตามสมาชิกไว้ และให้ทุกคนเตรียมพร้อมตอบคำถามในส่วนของเพื่อนร่วมกลุ่มได้ด้วย</a:t>
            </a:r>
          </a:p>
          <a:p>
            <a:r>
              <a:rPr lang="en-US"/>
              <a:t>11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.xml" Type="http://schemas.openxmlformats.org/officeDocument/2006/relationships/notesSlide"/><Relationship Id="rId3" Target="../media/image1.jpe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2.xml" Type="http://schemas.openxmlformats.org/officeDocument/2006/relationships/notesSlide"/><Relationship Id="rId3" Target="../media/image1.jpe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3.xml" Type="http://schemas.openxmlformats.org/officeDocument/2006/relationships/notesSlide"/><Relationship Id="rId3" Target="../media/image1.jpe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4.xml" Type="http://schemas.openxmlformats.org/officeDocument/2006/relationships/notesSlide"/><Relationship Id="rId3" Target="../media/image1.jpe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5.xml" Type="http://schemas.openxmlformats.org/officeDocument/2006/relationships/notesSlide"/><Relationship Id="rId3" Target="../media/image1.jpe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6.xml" Type="http://schemas.openxmlformats.org/officeDocument/2006/relationships/notesSlide"/><Relationship Id="rId3" Target="../media/image1.jpe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7.xml" Type="http://schemas.openxmlformats.org/officeDocument/2006/relationships/notesSlide"/><Relationship Id="rId3" Target="../media/image1.jpe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8.xml" Type="http://schemas.openxmlformats.org/officeDocument/2006/relationships/notesSlide"/><Relationship Id="rId3" Target="../media/image1.jpe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9.xml" Type="http://schemas.openxmlformats.org/officeDocument/2006/relationships/notesSlide"/><Relationship Id="rId3" Target="../media/image1.jpe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0.xml" Type="http://schemas.openxmlformats.org/officeDocument/2006/relationships/notesSlide"/><Relationship Id="rId3" Target="../media/image1.jpe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1.xml" Type="http://schemas.openxmlformats.org/officeDocument/2006/relationships/notesSlide"/><Relationship Id="rId3" Target="../media/image1.jpe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2.xml" Type="http://schemas.openxmlformats.org/officeDocument/2006/relationships/notesSlide"/><Relationship Id="rId3" Target="../media/image1.jpe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3.xml" Type="http://schemas.openxmlformats.org/officeDocument/2006/relationships/notesSlide"/><Relationship Id="rId3" Target="../media/image1.jpe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4.xml" Type="http://schemas.openxmlformats.org/officeDocument/2006/relationships/notesSlide"/><Relationship Id="rId3" Target="../media/image1.jpe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5.xml" Type="http://schemas.openxmlformats.org/officeDocument/2006/relationships/notesSlide"/><Relationship Id="rId3" Target="../media/image1.jpeg" Type="http://schemas.openxmlformats.org/officeDocument/2006/relationships/image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6.xml" Type="http://schemas.openxmlformats.org/officeDocument/2006/relationships/notesSlide"/><Relationship Id="rId3" Target="../media/image1.jpeg" Type="http://schemas.openxmlformats.org/officeDocument/2006/relationships/image"/></Relationships>
</file>

<file path=ppt/slides/_rels/slide1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7.xml" Type="http://schemas.openxmlformats.org/officeDocument/2006/relationships/notesSlide"/><Relationship Id="rId3" Target="../media/image1.jpeg" Type="http://schemas.openxmlformats.org/officeDocument/2006/relationships/image"/></Relationships>
</file>

<file path=ppt/slides/_rels/slide1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8.xml" Type="http://schemas.openxmlformats.org/officeDocument/2006/relationships/notesSlide"/><Relationship Id="rId3" Target="../media/image1.jpeg" Type="http://schemas.openxmlformats.org/officeDocument/2006/relationships/image"/></Relationships>
</file>

<file path=ppt/slides/_rels/slide1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9.xml" Type="http://schemas.openxmlformats.org/officeDocument/2006/relationships/notesSlide"/><Relationship Id="rId3" Target="../media/image1.jpeg" Type="http://schemas.openxmlformats.org/officeDocument/2006/relationships/image"/></Relationships>
</file>

<file path=ppt/slides/_rels/slide2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20.xml" Type="http://schemas.openxmlformats.org/officeDocument/2006/relationships/notesSlide"/><Relationship Id="rId3" Target="../media/image1.jpeg" Type="http://schemas.openxmlformats.org/officeDocument/2006/relationships/image"/></Relationships>
</file>

<file path=ppt/slides/_rels/slide2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21.xml" Type="http://schemas.openxmlformats.org/officeDocument/2006/relationships/notesSlide"/><Relationship Id="rId3" Target="../media/image1.jpeg" Type="http://schemas.openxmlformats.org/officeDocument/2006/relationships/image"/></Relationships>
</file>

<file path=ppt/slides/_rels/slide2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22.xml" Type="http://schemas.openxmlformats.org/officeDocument/2006/relationships/notesSlide"/><Relationship Id="rId3" Target="../media/image1.jpeg" Type="http://schemas.openxmlformats.org/officeDocument/2006/relationships/image"/></Relationships>
</file>

<file path=ppt/slides/_rels/slide2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23.xml" Type="http://schemas.openxmlformats.org/officeDocument/2006/relationships/notesSlide"/><Relationship Id="rId3" Target="../media/image1.jpeg" Type="http://schemas.openxmlformats.org/officeDocument/2006/relationships/image"/></Relationships>
</file>

<file path=ppt/slides/_rels/slide2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24.xml" Type="http://schemas.openxmlformats.org/officeDocument/2006/relationships/notesSlide"/><Relationship Id="rId3" Target="../media/image1.jpeg" Type="http://schemas.openxmlformats.org/officeDocument/2006/relationships/image"/></Relationships>
</file>

<file path=ppt/slides/_rels/slide2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25.xml" Type="http://schemas.openxmlformats.org/officeDocument/2006/relationships/notesSlide"/><Relationship Id="rId3" Target="../media/image1.jpeg" Type="http://schemas.openxmlformats.org/officeDocument/2006/relationships/image"/></Relationships>
</file>

<file path=ppt/slides/_rels/slide2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26.xml" Type="http://schemas.openxmlformats.org/officeDocument/2006/relationships/notesSlide"/><Relationship Id="rId3" Target="../media/image1.jpeg" Type="http://schemas.openxmlformats.org/officeDocument/2006/relationships/image"/></Relationships>
</file>

<file path=ppt/slides/_rels/slide2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27.xml" Type="http://schemas.openxmlformats.org/officeDocument/2006/relationships/notesSlide"/><Relationship Id="rId3" Target="../media/image1.jpeg" Type="http://schemas.openxmlformats.org/officeDocument/2006/relationships/image"/></Relationships>
</file>

<file path=ppt/slides/_rels/slide2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28.xml" Type="http://schemas.openxmlformats.org/officeDocument/2006/relationships/notesSlide"/><Relationship Id="rId3" Target="../media/image1.jpeg" Type="http://schemas.openxmlformats.org/officeDocument/2006/relationships/image"/></Relationships>
</file>

<file path=ppt/slides/_rels/slide2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29.xml" Type="http://schemas.openxmlformats.org/officeDocument/2006/relationships/notesSlide"/><Relationship Id="rId3" Target="../media/image1.jpe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3A14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3428" cy="10287000"/>
            <a:chOff x="0" y="0"/>
            <a:chExt cx="24377904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77904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77904">
                  <a:moveTo>
                    <a:pt x="0" y="0"/>
                  </a:moveTo>
                  <a:lnTo>
                    <a:pt x="24377904" y="0"/>
                  </a:lnTo>
                  <a:lnTo>
                    <a:pt x="24377904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3A1414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12522708" y="-2743200"/>
            <a:ext cx="8915400" cy="8915400"/>
            <a:chOff x="0" y="0"/>
            <a:chExt cx="11887200" cy="118872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1887200" cy="11887200"/>
            </a:xfrm>
            <a:custGeom>
              <a:avLst/>
              <a:gdLst/>
              <a:ahLst/>
              <a:cxnLst/>
              <a:rect r="r" b="b" t="t" l="l"/>
              <a:pathLst>
                <a:path h="11887200" w="11887200">
                  <a:moveTo>
                    <a:pt x="0" y="5943600"/>
                  </a:moveTo>
                  <a:cubicBezTo>
                    <a:pt x="0" y="2661031"/>
                    <a:pt x="2661031" y="0"/>
                    <a:pt x="5943600" y="0"/>
                  </a:cubicBezTo>
                  <a:cubicBezTo>
                    <a:pt x="9226169" y="0"/>
                    <a:pt x="11887200" y="2661031"/>
                    <a:pt x="11887200" y="5943600"/>
                  </a:cubicBezTo>
                  <a:cubicBezTo>
                    <a:pt x="11887200" y="9226169"/>
                    <a:pt x="9226169" y="11887200"/>
                    <a:pt x="5943600" y="11887200"/>
                  </a:cubicBezTo>
                  <a:cubicBezTo>
                    <a:pt x="2661031" y="11887200"/>
                    <a:pt x="0" y="9226169"/>
                    <a:pt x="0" y="5943600"/>
                  </a:cubicBezTo>
                  <a:close/>
                </a:path>
              </a:pathLst>
            </a:custGeom>
            <a:solidFill>
              <a:srgbClr val="8B2E2E">
                <a:alpha val="35686"/>
              </a:srgbClr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-3429000" y="6446520"/>
            <a:ext cx="6858000" cy="6858000"/>
            <a:chOff x="0" y="0"/>
            <a:chExt cx="9144000" cy="91440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9144000" cy="9144000"/>
            </a:xfrm>
            <a:custGeom>
              <a:avLst/>
              <a:gdLst/>
              <a:ahLst/>
              <a:cxnLst/>
              <a:rect r="r" b="b" t="t" l="l"/>
              <a:pathLst>
                <a:path h="9144000" w="9144000">
                  <a:moveTo>
                    <a:pt x="0" y="4572000"/>
                  </a:moveTo>
                  <a:cubicBezTo>
                    <a:pt x="0" y="2046986"/>
                    <a:pt x="2046986" y="0"/>
                    <a:pt x="4572000" y="0"/>
                  </a:cubicBezTo>
                  <a:cubicBezTo>
                    <a:pt x="7097014" y="0"/>
                    <a:pt x="9144000" y="2046986"/>
                    <a:pt x="9144000" y="4572000"/>
                  </a:cubicBezTo>
                  <a:cubicBezTo>
                    <a:pt x="9144000" y="7097014"/>
                    <a:pt x="7097014" y="9144000"/>
                    <a:pt x="4572000" y="9144000"/>
                  </a:cubicBezTo>
                  <a:cubicBezTo>
                    <a:pt x="2046986" y="9144000"/>
                    <a:pt x="0" y="7097014"/>
                    <a:pt x="0" y="4572000"/>
                  </a:cubicBezTo>
                  <a:close/>
                </a:path>
              </a:pathLst>
            </a:custGeom>
            <a:solidFill>
              <a:srgbClr val="C9A227">
                <a:alpha val="5882"/>
              </a:srgbClr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1097280" y="960120"/>
            <a:ext cx="16088868" cy="548640"/>
            <a:chOff x="0" y="0"/>
            <a:chExt cx="21451824" cy="73152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1451824" cy="731520"/>
            </a:xfrm>
            <a:custGeom>
              <a:avLst/>
              <a:gdLst/>
              <a:ahLst/>
              <a:cxnLst/>
              <a:rect r="r" b="b" t="t" l="l"/>
              <a:pathLst>
                <a:path h="731520" w="21451824">
                  <a:moveTo>
                    <a:pt x="0" y="0"/>
                  </a:moveTo>
                  <a:lnTo>
                    <a:pt x="21451824" y="0"/>
                  </a:lnTo>
                  <a:lnTo>
                    <a:pt x="21451824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21398" r="0" b="-521398"/>
              </a:stretch>
            </a:blip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47625"/>
              <a:ext cx="21451824" cy="7791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40"/>
                </a:lnSpc>
              </a:pPr>
              <a:r>
                <a:rPr lang="en-US" b="true" sz="1950" spc="299">
                  <a:solidFill>
                    <a:srgbClr val="C9A227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517321 PRINCIPLES OF PROGRAMMING LANGUAGES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1097280" y="1577340"/>
            <a:ext cx="16088868" cy="480060"/>
            <a:chOff x="0" y="0"/>
            <a:chExt cx="21451824" cy="64008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21451824" cy="640080"/>
            </a:xfrm>
            <a:custGeom>
              <a:avLst/>
              <a:gdLst/>
              <a:ahLst/>
              <a:cxnLst/>
              <a:rect r="r" b="b" t="t" l="l"/>
              <a:pathLst>
                <a:path h="640080" w="21451824">
                  <a:moveTo>
                    <a:pt x="0" y="0"/>
                  </a:moveTo>
                  <a:lnTo>
                    <a:pt x="21451824" y="0"/>
                  </a:lnTo>
                  <a:lnTo>
                    <a:pt x="21451824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03027" r="0" b="-603027"/>
              </a:stretch>
            </a:blip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38100"/>
              <a:ext cx="21451824" cy="6781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 spc="149">
                  <a:solidFill>
                    <a:srgbClr val="E8D9D9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RUST TUTORIAL PRESENTATION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1170432" y="2385606"/>
            <a:ext cx="16088868" cy="4404792"/>
            <a:chOff x="0" y="0"/>
            <a:chExt cx="21451824" cy="5873055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21451824" cy="5873055"/>
            </a:xfrm>
            <a:custGeom>
              <a:avLst/>
              <a:gdLst/>
              <a:ahLst/>
              <a:cxnLst/>
              <a:rect r="r" b="b" t="t" l="l"/>
              <a:pathLst>
                <a:path h="5873055" w="21451824">
                  <a:moveTo>
                    <a:pt x="0" y="0"/>
                  </a:moveTo>
                  <a:lnTo>
                    <a:pt x="21451824" y="0"/>
                  </a:lnTo>
                  <a:lnTo>
                    <a:pt x="21451824" y="5873055"/>
                  </a:lnTo>
                  <a:lnTo>
                    <a:pt x="0" y="587305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4044" r="0" b="11702"/>
              </a:stretch>
            </a:blip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9525"/>
              <a:ext cx="21451824" cy="58825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7200"/>
                </a:lnSpc>
              </a:pPr>
              <a:r>
                <a:rPr lang="en-US" sz="6000" b="true">
                  <a:solidFill>
                    <a:srgbClr val="FFFFFF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กลุ่ม 14  —  Error Handling: Option &amp; Result 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1087755" y="6231255"/>
            <a:ext cx="16107918" cy="2967990"/>
            <a:chOff x="0" y="0"/>
            <a:chExt cx="21477224" cy="395732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21477224" cy="3957320"/>
            </a:xfrm>
            <a:custGeom>
              <a:avLst/>
              <a:gdLst/>
              <a:ahLst/>
              <a:cxnLst/>
              <a:rect r="r" b="b" t="t" l="l"/>
              <a:pathLst>
                <a:path h="3957320" w="21477224">
                  <a:moveTo>
                    <a:pt x="0" y="147193"/>
                  </a:moveTo>
                  <a:cubicBezTo>
                    <a:pt x="0" y="65913"/>
                    <a:pt x="65913" y="0"/>
                    <a:pt x="147193" y="0"/>
                  </a:cubicBezTo>
                  <a:lnTo>
                    <a:pt x="21330031" y="0"/>
                  </a:lnTo>
                  <a:cubicBezTo>
                    <a:pt x="21411312" y="0"/>
                    <a:pt x="21477224" y="65913"/>
                    <a:pt x="21477224" y="147193"/>
                  </a:cubicBezTo>
                  <a:lnTo>
                    <a:pt x="21477224" y="3810127"/>
                  </a:lnTo>
                  <a:cubicBezTo>
                    <a:pt x="21477224" y="3891407"/>
                    <a:pt x="21411312" y="3957320"/>
                    <a:pt x="21330031" y="3957320"/>
                  </a:cubicBezTo>
                  <a:lnTo>
                    <a:pt x="147193" y="3957320"/>
                  </a:lnTo>
                  <a:cubicBezTo>
                    <a:pt x="65913" y="3957320"/>
                    <a:pt x="0" y="3891407"/>
                    <a:pt x="0" y="3810127"/>
                  </a:cubicBezTo>
                  <a:close/>
                </a:path>
              </a:pathLst>
            </a:custGeom>
            <a:solidFill>
              <a:srgbClr val="FFFFFF">
                <a:alpha val="392"/>
              </a:srgbClr>
            </a:solidFill>
            <a:ln w="19050" cap="sq">
              <a:solidFill>
                <a:srgbClr val="B87A7A"/>
              </a:solidFill>
              <a:prstDash val="solid"/>
              <a:miter/>
            </a:ln>
          </p:spPr>
        </p:sp>
      </p:grpSp>
      <p:grpSp>
        <p:nvGrpSpPr>
          <p:cNvPr name="Group 19" id="19"/>
          <p:cNvGrpSpPr/>
          <p:nvPr/>
        </p:nvGrpSpPr>
        <p:grpSpPr>
          <a:xfrm rot="0">
            <a:off x="1508760" y="6473952"/>
            <a:ext cx="15265908" cy="576072"/>
            <a:chOff x="0" y="0"/>
            <a:chExt cx="20354544" cy="768096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20354544" cy="768096"/>
            </a:xfrm>
            <a:custGeom>
              <a:avLst/>
              <a:gdLst/>
              <a:ahLst/>
              <a:cxnLst/>
              <a:rect r="r" b="b" t="t" l="l"/>
              <a:pathLst>
                <a:path h="768096" w="20354544">
                  <a:moveTo>
                    <a:pt x="0" y="0"/>
                  </a:moveTo>
                  <a:lnTo>
                    <a:pt x="20354544" y="0"/>
                  </a:lnTo>
                  <a:lnTo>
                    <a:pt x="20354544" y="768096"/>
                  </a:lnTo>
                  <a:lnTo>
                    <a:pt x="0" y="76809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66353" r="0" b="-466353"/>
              </a:stretch>
            </a:blipFill>
          </p:spPr>
        </p:sp>
        <p:sp>
          <p:nvSpPr>
            <p:cNvPr name="TextBox 21" id="21"/>
            <p:cNvSpPr txBox="true"/>
            <p:nvPr/>
          </p:nvSpPr>
          <p:spPr>
            <a:xfrm>
              <a:off x="0" y="-47625"/>
              <a:ext cx="20354544" cy="81572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1. นาย กันต์ธร บุตรเบ้า — Concept + Short Code Illustration</a:t>
              </a: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1527810" y="7118604"/>
            <a:ext cx="15265908" cy="576072"/>
            <a:chOff x="0" y="0"/>
            <a:chExt cx="20354544" cy="768096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20354544" cy="768096"/>
            </a:xfrm>
            <a:custGeom>
              <a:avLst/>
              <a:gdLst/>
              <a:ahLst/>
              <a:cxnLst/>
              <a:rect r="r" b="b" t="t" l="l"/>
              <a:pathLst>
                <a:path h="768096" w="20354544">
                  <a:moveTo>
                    <a:pt x="0" y="0"/>
                  </a:moveTo>
                  <a:lnTo>
                    <a:pt x="20354544" y="0"/>
                  </a:lnTo>
                  <a:lnTo>
                    <a:pt x="20354544" y="768096"/>
                  </a:lnTo>
                  <a:lnTo>
                    <a:pt x="0" y="76809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66353" r="0" b="-466353"/>
              </a:stretch>
            </a:blipFill>
          </p:spPr>
        </p:sp>
        <p:sp>
          <p:nvSpPr>
            <p:cNvPr name="TextBox 24" id="24"/>
            <p:cNvSpPr txBox="true"/>
            <p:nvPr/>
          </p:nvSpPr>
          <p:spPr>
            <a:xfrm>
              <a:off x="0" y="-47625"/>
              <a:ext cx="20354544" cy="81572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2.  น.ส. ฉันทณัฏฐ วิชพันธุ์ — Detailed Code + Live Demo</a:t>
              </a:r>
            </a:p>
          </p:txBody>
        </p:sp>
      </p:grpSp>
      <p:grpSp>
        <p:nvGrpSpPr>
          <p:cNvPr name="Group 25" id="25"/>
          <p:cNvGrpSpPr/>
          <p:nvPr/>
        </p:nvGrpSpPr>
        <p:grpSpPr>
          <a:xfrm rot="0">
            <a:off x="1508760" y="7763256"/>
            <a:ext cx="15265908" cy="576072"/>
            <a:chOff x="0" y="0"/>
            <a:chExt cx="20354544" cy="768096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20354544" cy="768096"/>
            </a:xfrm>
            <a:custGeom>
              <a:avLst/>
              <a:gdLst/>
              <a:ahLst/>
              <a:cxnLst/>
              <a:rect r="r" b="b" t="t" l="l"/>
              <a:pathLst>
                <a:path h="768096" w="20354544">
                  <a:moveTo>
                    <a:pt x="0" y="0"/>
                  </a:moveTo>
                  <a:lnTo>
                    <a:pt x="20354544" y="0"/>
                  </a:lnTo>
                  <a:lnTo>
                    <a:pt x="20354544" y="768096"/>
                  </a:lnTo>
                  <a:lnTo>
                    <a:pt x="0" y="76809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66353" r="0" b="-466353"/>
              </a:stretch>
            </a:blipFill>
          </p:spPr>
        </p:sp>
        <p:sp>
          <p:nvSpPr>
            <p:cNvPr name="TextBox 27" id="27"/>
            <p:cNvSpPr txBox="true"/>
            <p:nvPr/>
          </p:nvSpPr>
          <p:spPr>
            <a:xfrm>
              <a:off x="0" y="-47625"/>
              <a:ext cx="20354544" cy="81572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3. น.ส. ณัฐกฤตา บุญมี — Rust vs Other Language + PPL Analysis</a:t>
              </a:r>
            </a:p>
          </p:txBody>
        </p:sp>
      </p:grpSp>
      <p:grpSp>
        <p:nvGrpSpPr>
          <p:cNvPr name="Group 28" id="28"/>
          <p:cNvGrpSpPr/>
          <p:nvPr/>
        </p:nvGrpSpPr>
        <p:grpSpPr>
          <a:xfrm rot="0">
            <a:off x="1508760" y="8407908"/>
            <a:ext cx="15265908" cy="576072"/>
            <a:chOff x="0" y="0"/>
            <a:chExt cx="20354544" cy="768096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20354544" cy="768096"/>
            </a:xfrm>
            <a:custGeom>
              <a:avLst/>
              <a:gdLst/>
              <a:ahLst/>
              <a:cxnLst/>
              <a:rect r="r" b="b" t="t" l="l"/>
              <a:pathLst>
                <a:path h="768096" w="20354544">
                  <a:moveTo>
                    <a:pt x="0" y="0"/>
                  </a:moveTo>
                  <a:lnTo>
                    <a:pt x="20354544" y="0"/>
                  </a:lnTo>
                  <a:lnTo>
                    <a:pt x="20354544" y="768096"/>
                  </a:lnTo>
                  <a:lnTo>
                    <a:pt x="0" y="76809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66353" r="0" b="-466353"/>
              </a:stretch>
            </a:blipFill>
          </p:spPr>
        </p:sp>
        <p:sp>
          <p:nvSpPr>
            <p:cNvPr name="TextBox 30" id="30"/>
            <p:cNvSpPr txBox="true"/>
            <p:nvPr/>
          </p:nvSpPr>
          <p:spPr>
            <a:xfrm>
              <a:off x="0" y="-47625"/>
              <a:ext cx="20354544" cy="81572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4. นาย ณัฐวีร์ บุญยินดี — Exercises + Common Mistakes + Challenge</a:t>
              </a:r>
            </a:p>
          </p:txBody>
        </p:sp>
      </p:grpSp>
      <p:grpSp>
        <p:nvGrpSpPr>
          <p:cNvPr name="Group 31" id="31"/>
          <p:cNvGrpSpPr/>
          <p:nvPr/>
        </p:nvGrpSpPr>
        <p:grpSpPr>
          <a:xfrm rot="0">
            <a:off x="1097280" y="9532620"/>
            <a:ext cx="16088868" cy="480060"/>
            <a:chOff x="0" y="0"/>
            <a:chExt cx="21451824" cy="640080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21451824" cy="640080"/>
            </a:xfrm>
            <a:custGeom>
              <a:avLst/>
              <a:gdLst/>
              <a:ahLst/>
              <a:cxnLst/>
              <a:rect r="r" b="b" t="t" l="l"/>
              <a:pathLst>
                <a:path h="640080" w="21451824">
                  <a:moveTo>
                    <a:pt x="0" y="0"/>
                  </a:moveTo>
                  <a:lnTo>
                    <a:pt x="21451824" y="0"/>
                  </a:lnTo>
                  <a:lnTo>
                    <a:pt x="21451824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03027" r="0" b="-603027"/>
              </a:stretch>
            </a:blipFill>
          </p:spPr>
        </p:sp>
        <p:sp>
          <p:nvSpPr>
            <p:cNvPr name="TextBox 33" id="33"/>
            <p:cNvSpPr txBox="true"/>
            <p:nvPr/>
          </p:nvSpPr>
          <p:spPr>
            <a:xfrm>
              <a:off x="0" y="-28575"/>
              <a:ext cx="21451824" cy="66865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80"/>
                </a:lnSpc>
              </a:pPr>
              <a:r>
                <a:rPr lang="en-US" sz="1650">
                  <a:solidFill>
                    <a:srgbClr val="C9B8B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คณะวิทยาศาสตร์ มหาวิทยาลัยศิลปากร  |  ภาคการศึกษาที่ 1/2569</a:t>
              </a:r>
            </a:p>
          </p:txBody>
        </p:sp>
      </p:grp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685800" y="1440180"/>
            <a:ext cx="16911828" cy="960120"/>
            <a:chOff x="0" y="0"/>
            <a:chExt cx="22549104" cy="128016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2549104" cy="1280160"/>
            </a:xfrm>
            <a:custGeom>
              <a:avLst/>
              <a:gdLst/>
              <a:ahLst/>
              <a:cxnLst/>
              <a:rect r="r" b="b" t="t" l="l"/>
              <a:pathLst>
                <a:path h="1280160" w="22549104">
                  <a:moveTo>
                    <a:pt x="0" y="0"/>
                  </a:moveTo>
                  <a:lnTo>
                    <a:pt x="22549104" y="0"/>
                  </a:lnTo>
                  <a:lnTo>
                    <a:pt x="22549104" y="1280160"/>
                  </a:lnTo>
                  <a:lnTo>
                    <a:pt x="0" y="12801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93215" r="0" b="-293215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19050"/>
              <a:ext cx="22549104" cy="129921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400"/>
                </a:lnSpc>
              </a:pPr>
              <a:r>
                <a:rPr lang="en-US" sz="4500" b="true">
                  <a:solidFill>
                    <a:srgbClr val="222222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Agenda — โครงสร้างการนำเสนอ (รวม ~20 นาที)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685800" y="2331720"/>
            <a:ext cx="16911828" cy="548640"/>
            <a:chOff x="0" y="0"/>
            <a:chExt cx="22549104" cy="73152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2549104" cy="731520"/>
            </a:xfrm>
            <a:custGeom>
              <a:avLst/>
              <a:gdLst/>
              <a:ahLst/>
              <a:cxnLst/>
              <a:rect r="r" b="b" t="t" l="l"/>
              <a:pathLst>
                <a:path h="731520" w="22549104">
                  <a:moveTo>
                    <a:pt x="0" y="0"/>
                  </a:moveTo>
                  <a:lnTo>
                    <a:pt x="22549104" y="0"/>
                  </a:lnTo>
                  <a:lnTo>
                    <a:pt x="22549104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50626" r="0" b="-550626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47625"/>
              <a:ext cx="22549104" cy="7791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 i="true">
                  <a:solidFill>
                    <a:srgbClr val="6B6B6B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แต่ละคนนำเสนอประมาณ 5 นาที ต่อเนื่องกันตามลำดับ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685800" y="3223260"/>
            <a:ext cx="4022217" cy="5349240"/>
            <a:chOff x="0" y="0"/>
            <a:chExt cx="5362956" cy="713232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5362956" cy="7132320"/>
            </a:xfrm>
            <a:custGeom>
              <a:avLst/>
              <a:gdLst/>
              <a:ahLst/>
              <a:cxnLst/>
              <a:rect r="r" b="b" t="t" l="l"/>
              <a:pathLst>
                <a:path h="7132320" w="5362956">
                  <a:moveTo>
                    <a:pt x="0" y="146304"/>
                  </a:moveTo>
                  <a:cubicBezTo>
                    <a:pt x="0" y="65532"/>
                    <a:pt x="65532" y="0"/>
                    <a:pt x="146304" y="0"/>
                  </a:cubicBezTo>
                  <a:lnTo>
                    <a:pt x="5216652" y="0"/>
                  </a:lnTo>
                  <a:cubicBezTo>
                    <a:pt x="5297424" y="0"/>
                    <a:pt x="5362956" y="65532"/>
                    <a:pt x="5362956" y="146304"/>
                  </a:cubicBezTo>
                  <a:lnTo>
                    <a:pt x="5362956" y="6986016"/>
                  </a:lnTo>
                  <a:cubicBezTo>
                    <a:pt x="5362956" y="7066788"/>
                    <a:pt x="5297424" y="7132320"/>
                    <a:pt x="5216652" y="7132320"/>
                  </a:cubicBezTo>
                  <a:lnTo>
                    <a:pt x="146304" y="7132320"/>
                  </a:lnTo>
                  <a:cubicBezTo>
                    <a:pt x="65532" y="7132320"/>
                    <a:pt x="0" y="7066788"/>
                    <a:pt x="0" y="6986016"/>
                  </a:cubicBezTo>
                  <a:close/>
                </a:path>
              </a:pathLst>
            </a:custGeom>
            <a:solidFill>
              <a:srgbClr val="F7F0F0"/>
            </a:solid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2216848" y="3634740"/>
            <a:ext cx="960120" cy="960120"/>
            <a:chOff x="0" y="0"/>
            <a:chExt cx="1280160" cy="128016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280160" cy="1280160"/>
            </a:xfrm>
            <a:custGeom>
              <a:avLst/>
              <a:gdLst/>
              <a:ahLst/>
              <a:cxnLst/>
              <a:rect r="r" b="b" t="t" l="l"/>
              <a:pathLst>
                <a:path h="1280160" w="1280160">
                  <a:moveTo>
                    <a:pt x="0" y="640080"/>
                  </a:moveTo>
                  <a:cubicBezTo>
                    <a:pt x="0" y="286512"/>
                    <a:pt x="286512" y="0"/>
                    <a:pt x="640080" y="0"/>
                  </a:cubicBezTo>
                  <a:cubicBezTo>
                    <a:pt x="993648" y="0"/>
                    <a:pt x="1280160" y="286512"/>
                    <a:pt x="1280160" y="640080"/>
                  </a:cubicBezTo>
                  <a:cubicBezTo>
                    <a:pt x="1280160" y="993648"/>
                    <a:pt x="993648" y="1280160"/>
                    <a:pt x="640080" y="1280160"/>
                  </a:cubicBezTo>
                  <a:cubicBezTo>
                    <a:pt x="286512" y="1280160"/>
                    <a:pt x="0" y="993648"/>
                    <a:pt x="0" y="640080"/>
                  </a:cubicBezTo>
                  <a:close/>
                </a:path>
              </a:pathLst>
            </a:custGeom>
            <a:solidFill>
              <a:srgbClr val="8B2E2E"/>
            </a:solid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2216848" y="3634740"/>
            <a:ext cx="960120" cy="960120"/>
            <a:chOff x="0" y="0"/>
            <a:chExt cx="1280160" cy="128016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280160" cy="1280160"/>
            </a:xfrm>
            <a:custGeom>
              <a:avLst/>
              <a:gdLst/>
              <a:ahLst/>
              <a:cxnLst/>
              <a:rect r="r" b="b" t="t" l="l"/>
              <a:pathLst>
                <a:path h="1280160" w="1280160">
                  <a:moveTo>
                    <a:pt x="0" y="0"/>
                  </a:moveTo>
                  <a:lnTo>
                    <a:pt x="1280160" y="0"/>
                  </a:lnTo>
                  <a:lnTo>
                    <a:pt x="1280160" y="1280160"/>
                  </a:lnTo>
                  <a:lnTo>
                    <a:pt x="0" y="12801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9525"/>
              <a:ext cx="1280160" cy="12896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960"/>
                </a:lnSpc>
              </a:pPr>
              <a:r>
                <a:rPr lang="en-US" sz="3300" b="true">
                  <a:solidFill>
                    <a:srgbClr val="FFFFFF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1</a:t>
              </a: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891540" y="4800600"/>
            <a:ext cx="3610737" cy="411480"/>
            <a:chOff x="0" y="0"/>
            <a:chExt cx="4814316" cy="54864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4814316" cy="548640"/>
            </a:xfrm>
            <a:custGeom>
              <a:avLst/>
              <a:gdLst/>
              <a:ahLst/>
              <a:cxnLst/>
              <a:rect r="r" b="b" t="t" l="l"/>
              <a:pathLst>
                <a:path h="548640" w="4814316">
                  <a:moveTo>
                    <a:pt x="0" y="0"/>
                  </a:moveTo>
                  <a:lnTo>
                    <a:pt x="4814316" y="0"/>
                  </a:lnTo>
                  <a:lnTo>
                    <a:pt x="4814316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20981" r="0" b="-120981"/>
              </a:stretch>
            </a:blip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28575"/>
              <a:ext cx="4814316" cy="5772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980"/>
                </a:lnSpc>
              </a:pPr>
              <a:r>
                <a:rPr lang="en-US" sz="1650" b="true">
                  <a:solidFill>
                    <a:srgbClr val="C9A227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Member 1</a:t>
              </a:r>
            </a:p>
          </p:txBody>
        </p:sp>
      </p:grpSp>
      <p:sp>
        <p:nvSpPr>
          <p:cNvPr name="TextBox 18" id="18"/>
          <p:cNvSpPr txBox="true"/>
          <p:nvPr/>
        </p:nvSpPr>
        <p:spPr>
          <a:xfrm rot="0">
            <a:off x="891540" y="5220462"/>
            <a:ext cx="3610737" cy="13220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20"/>
              </a:lnSpc>
            </a:pPr>
            <a:r>
              <a:rPr lang="en-US" sz="2100" b="true">
                <a:solidFill>
                  <a:srgbClr val="222222"/>
                </a:solidFill>
                <a:latin typeface="Cambria Bold"/>
                <a:ea typeface="Cambria Bold"/>
                <a:cs typeface="Cambria Bold"/>
                <a:sym typeface="Cambria Bold"/>
              </a:rPr>
              <a:t>Concept + Short Code Illustration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891540" y="6623685"/>
            <a:ext cx="3610737" cy="17430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80"/>
              </a:lnSpc>
            </a:pPr>
            <a:r>
              <a:rPr lang="en-US" sz="1650">
                <a:solidFill>
                  <a:srgbClr val="6B6B6B"/>
                </a:solidFill>
                <a:latin typeface="Calibri (MS)"/>
                <a:ea typeface="Calibri (MS)"/>
                <a:cs typeface="Calibri (MS)"/>
                <a:sym typeface="Calibri (MS)"/>
              </a:rPr>
              <a:t>แนวคิดหลักของหัวข้อ พร้อมโค้ดตัวอย่างสั้น ๆ</a:t>
            </a:r>
          </a:p>
        </p:txBody>
      </p:sp>
      <p:grpSp>
        <p:nvGrpSpPr>
          <p:cNvPr name="Group 20" id="20"/>
          <p:cNvGrpSpPr/>
          <p:nvPr/>
        </p:nvGrpSpPr>
        <p:grpSpPr>
          <a:xfrm rot="0">
            <a:off x="891540" y="8092440"/>
            <a:ext cx="3610737" cy="411480"/>
            <a:chOff x="0" y="0"/>
            <a:chExt cx="4814316" cy="54864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4814316" cy="548640"/>
            </a:xfrm>
            <a:custGeom>
              <a:avLst/>
              <a:gdLst/>
              <a:ahLst/>
              <a:cxnLst/>
              <a:rect r="r" b="b" t="t" l="l"/>
              <a:pathLst>
                <a:path h="548640" w="4814316">
                  <a:moveTo>
                    <a:pt x="0" y="0"/>
                  </a:moveTo>
                  <a:lnTo>
                    <a:pt x="4814316" y="0"/>
                  </a:lnTo>
                  <a:lnTo>
                    <a:pt x="4814316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20981" r="0" b="-120981"/>
              </a:stretch>
            </a:blip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28575"/>
              <a:ext cx="4814316" cy="5772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980"/>
                </a:lnSpc>
              </a:pPr>
              <a:r>
                <a:rPr lang="en-US" sz="1650" i="true">
                  <a:solidFill>
                    <a:srgbClr val="8B2E2E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~5 นาที</a:t>
              </a: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4982337" y="3223260"/>
            <a:ext cx="4022217" cy="5349240"/>
            <a:chOff x="0" y="0"/>
            <a:chExt cx="5362956" cy="713232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5362956" cy="7132320"/>
            </a:xfrm>
            <a:custGeom>
              <a:avLst/>
              <a:gdLst/>
              <a:ahLst/>
              <a:cxnLst/>
              <a:rect r="r" b="b" t="t" l="l"/>
              <a:pathLst>
                <a:path h="7132320" w="5362956">
                  <a:moveTo>
                    <a:pt x="0" y="146304"/>
                  </a:moveTo>
                  <a:cubicBezTo>
                    <a:pt x="0" y="65532"/>
                    <a:pt x="65532" y="0"/>
                    <a:pt x="146304" y="0"/>
                  </a:cubicBezTo>
                  <a:lnTo>
                    <a:pt x="5216652" y="0"/>
                  </a:lnTo>
                  <a:cubicBezTo>
                    <a:pt x="5297424" y="0"/>
                    <a:pt x="5362956" y="65532"/>
                    <a:pt x="5362956" y="146304"/>
                  </a:cubicBezTo>
                  <a:lnTo>
                    <a:pt x="5362956" y="6986016"/>
                  </a:lnTo>
                  <a:cubicBezTo>
                    <a:pt x="5362956" y="7066788"/>
                    <a:pt x="5297424" y="7132320"/>
                    <a:pt x="5216652" y="7132320"/>
                  </a:cubicBezTo>
                  <a:lnTo>
                    <a:pt x="146304" y="7132320"/>
                  </a:lnTo>
                  <a:cubicBezTo>
                    <a:pt x="65532" y="7132320"/>
                    <a:pt x="0" y="7066788"/>
                    <a:pt x="0" y="6986016"/>
                  </a:cubicBezTo>
                  <a:close/>
                </a:path>
              </a:pathLst>
            </a:custGeom>
            <a:solidFill>
              <a:srgbClr val="F7F0F0"/>
            </a:solidFill>
          </p:spPr>
        </p:sp>
      </p:grpSp>
      <p:grpSp>
        <p:nvGrpSpPr>
          <p:cNvPr name="Group 25" id="25"/>
          <p:cNvGrpSpPr/>
          <p:nvPr/>
        </p:nvGrpSpPr>
        <p:grpSpPr>
          <a:xfrm rot="0">
            <a:off x="6513386" y="3634740"/>
            <a:ext cx="960120" cy="960120"/>
            <a:chOff x="0" y="0"/>
            <a:chExt cx="1280160" cy="1280160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1280160" cy="1280160"/>
            </a:xfrm>
            <a:custGeom>
              <a:avLst/>
              <a:gdLst/>
              <a:ahLst/>
              <a:cxnLst/>
              <a:rect r="r" b="b" t="t" l="l"/>
              <a:pathLst>
                <a:path h="1280160" w="1280160">
                  <a:moveTo>
                    <a:pt x="0" y="640080"/>
                  </a:moveTo>
                  <a:cubicBezTo>
                    <a:pt x="0" y="286512"/>
                    <a:pt x="286512" y="0"/>
                    <a:pt x="640080" y="0"/>
                  </a:cubicBezTo>
                  <a:cubicBezTo>
                    <a:pt x="993648" y="0"/>
                    <a:pt x="1280160" y="286512"/>
                    <a:pt x="1280160" y="640080"/>
                  </a:cubicBezTo>
                  <a:cubicBezTo>
                    <a:pt x="1280160" y="993648"/>
                    <a:pt x="993648" y="1280160"/>
                    <a:pt x="640080" y="1280160"/>
                  </a:cubicBezTo>
                  <a:cubicBezTo>
                    <a:pt x="286512" y="1280160"/>
                    <a:pt x="0" y="993648"/>
                    <a:pt x="0" y="640080"/>
                  </a:cubicBezTo>
                  <a:close/>
                </a:path>
              </a:pathLst>
            </a:custGeom>
            <a:solidFill>
              <a:srgbClr val="8B2E2E"/>
            </a:solidFill>
          </p:spPr>
        </p:sp>
      </p:grpSp>
      <p:grpSp>
        <p:nvGrpSpPr>
          <p:cNvPr name="Group 27" id="27"/>
          <p:cNvGrpSpPr/>
          <p:nvPr/>
        </p:nvGrpSpPr>
        <p:grpSpPr>
          <a:xfrm rot="0">
            <a:off x="6513386" y="3634740"/>
            <a:ext cx="960120" cy="960120"/>
            <a:chOff x="0" y="0"/>
            <a:chExt cx="1280160" cy="1280160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1280160" cy="1280160"/>
            </a:xfrm>
            <a:custGeom>
              <a:avLst/>
              <a:gdLst/>
              <a:ahLst/>
              <a:cxnLst/>
              <a:rect r="r" b="b" t="t" l="l"/>
              <a:pathLst>
                <a:path h="1280160" w="1280160">
                  <a:moveTo>
                    <a:pt x="0" y="0"/>
                  </a:moveTo>
                  <a:lnTo>
                    <a:pt x="1280160" y="0"/>
                  </a:lnTo>
                  <a:lnTo>
                    <a:pt x="1280160" y="1280160"/>
                  </a:lnTo>
                  <a:lnTo>
                    <a:pt x="0" y="12801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29" id="29"/>
            <p:cNvSpPr txBox="true"/>
            <p:nvPr/>
          </p:nvSpPr>
          <p:spPr>
            <a:xfrm>
              <a:off x="0" y="-9525"/>
              <a:ext cx="1280160" cy="12896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960"/>
                </a:lnSpc>
              </a:pPr>
              <a:r>
                <a:rPr lang="en-US" sz="3300" b="true">
                  <a:solidFill>
                    <a:srgbClr val="FFFFFF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2</a:t>
              </a:r>
            </a:p>
          </p:txBody>
        </p:sp>
      </p:grpSp>
      <p:grpSp>
        <p:nvGrpSpPr>
          <p:cNvPr name="Group 30" id="30"/>
          <p:cNvGrpSpPr/>
          <p:nvPr/>
        </p:nvGrpSpPr>
        <p:grpSpPr>
          <a:xfrm rot="0">
            <a:off x="5188077" y="4800600"/>
            <a:ext cx="3610737" cy="411480"/>
            <a:chOff x="0" y="0"/>
            <a:chExt cx="4814316" cy="548640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4814316" cy="548640"/>
            </a:xfrm>
            <a:custGeom>
              <a:avLst/>
              <a:gdLst/>
              <a:ahLst/>
              <a:cxnLst/>
              <a:rect r="r" b="b" t="t" l="l"/>
              <a:pathLst>
                <a:path h="548640" w="4814316">
                  <a:moveTo>
                    <a:pt x="0" y="0"/>
                  </a:moveTo>
                  <a:lnTo>
                    <a:pt x="4814316" y="0"/>
                  </a:lnTo>
                  <a:lnTo>
                    <a:pt x="4814316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20981" r="0" b="-120981"/>
              </a:stretch>
            </a:blipFill>
          </p:spPr>
        </p:sp>
        <p:sp>
          <p:nvSpPr>
            <p:cNvPr name="TextBox 32" id="32"/>
            <p:cNvSpPr txBox="true"/>
            <p:nvPr/>
          </p:nvSpPr>
          <p:spPr>
            <a:xfrm>
              <a:off x="0" y="-28575"/>
              <a:ext cx="4814316" cy="5772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980"/>
                </a:lnSpc>
              </a:pPr>
              <a:r>
                <a:rPr lang="en-US" sz="1650" b="true">
                  <a:solidFill>
                    <a:srgbClr val="C9A227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Member 2</a:t>
              </a:r>
            </a:p>
          </p:txBody>
        </p:sp>
      </p:grpSp>
      <p:sp>
        <p:nvSpPr>
          <p:cNvPr name="TextBox 33" id="33"/>
          <p:cNvSpPr txBox="true"/>
          <p:nvPr/>
        </p:nvSpPr>
        <p:spPr>
          <a:xfrm rot="0">
            <a:off x="5188077" y="5220462"/>
            <a:ext cx="3610737" cy="13220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20"/>
              </a:lnSpc>
            </a:pPr>
            <a:r>
              <a:rPr lang="en-US" sz="2100" b="true">
                <a:solidFill>
                  <a:srgbClr val="222222"/>
                </a:solidFill>
                <a:latin typeface="Cambria Bold"/>
                <a:ea typeface="Cambria Bold"/>
                <a:cs typeface="Cambria Bold"/>
                <a:sym typeface="Cambria Bold"/>
              </a:rPr>
              <a:t>Detailed Code + Live Demo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5188077" y="6623685"/>
            <a:ext cx="3610737" cy="17430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80"/>
              </a:lnSpc>
            </a:pPr>
            <a:r>
              <a:rPr lang="en-US" sz="1650">
                <a:solidFill>
                  <a:srgbClr val="6B6B6B"/>
                </a:solidFill>
                <a:latin typeface="Calibri (MS)"/>
                <a:ea typeface="Calibri (MS)"/>
                <a:cs typeface="Calibri (MS)"/>
                <a:sym typeface="Calibri (MS)"/>
              </a:rPr>
              <a:t>อธิบายโค้ดเชิงลึกและสาธิตการทำงานจริง</a:t>
            </a:r>
          </a:p>
        </p:txBody>
      </p:sp>
      <p:grpSp>
        <p:nvGrpSpPr>
          <p:cNvPr name="Group 35" id="35"/>
          <p:cNvGrpSpPr/>
          <p:nvPr/>
        </p:nvGrpSpPr>
        <p:grpSpPr>
          <a:xfrm rot="0">
            <a:off x="5188077" y="8092440"/>
            <a:ext cx="3610737" cy="411480"/>
            <a:chOff x="0" y="0"/>
            <a:chExt cx="4814316" cy="548640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4814316" cy="548640"/>
            </a:xfrm>
            <a:custGeom>
              <a:avLst/>
              <a:gdLst/>
              <a:ahLst/>
              <a:cxnLst/>
              <a:rect r="r" b="b" t="t" l="l"/>
              <a:pathLst>
                <a:path h="548640" w="4814316">
                  <a:moveTo>
                    <a:pt x="0" y="0"/>
                  </a:moveTo>
                  <a:lnTo>
                    <a:pt x="4814316" y="0"/>
                  </a:lnTo>
                  <a:lnTo>
                    <a:pt x="4814316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20981" r="0" b="-120981"/>
              </a:stretch>
            </a:blipFill>
          </p:spPr>
        </p:sp>
        <p:sp>
          <p:nvSpPr>
            <p:cNvPr name="TextBox 37" id="37"/>
            <p:cNvSpPr txBox="true"/>
            <p:nvPr/>
          </p:nvSpPr>
          <p:spPr>
            <a:xfrm>
              <a:off x="0" y="-28575"/>
              <a:ext cx="4814316" cy="5772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980"/>
                </a:lnSpc>
              </a:pPr>
              <a:r>
                <a:rPr lang="en-US" sz="1650" i="true">
                  <a:solidFill>
                    <a:srgbClr val="8B2E2E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~5 นาที</a:t>
              </a:r>
            </a:p>
          </p:txBody>
        </p:sp>
      </p:grpSp>
      <p:grpSp>
        <p:nvGrpSpPr>
          <p:cNvPr name="Group 38" id="38"/>
          <p:cNvGrpSpPr/>
          <p:nvPr/>
        </p:nvGrpSpPr>
        <p:grpSpPr>
          <a:xfrm rot="0">
            <a:off x="9278874" y="3223260"/>
            <a:ext cx="4022217" cy="5349240"/>
            <a:chOff x="0" y="0"/>
            <a:chExt cx="5362956" cy="7132320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5362956" cy="7132320"/>
            </a:xfrm>
            <a:custGeom>
              <a:avLst/>
              <a:gdLst/>
              <a:ahLst/>
              <a:cxnLst/>
              <a:rect r="r" b="b" t="t" l="l"/>
              <a:pathLst>
                <a:path h="7132320" w="5362956">
                  <a:moveTo>
                    <a:pt x="0" y="146304"/>
                  </a:moveTo>
                  <a:cubicBezTo>
                    <a:pt x="0" y="65532"/>
                    <a:pt x="65532" y="0"/>
                    <a:pt x="146304" y="0"/>
                  </a:cubicBezTo>
                  <a:lnTo>
                    <a:pt x="5216652" y="0"/>
                  </a:lnTo>
                  <a:cubicBezTo>
                    <a:pt x="5297424" y="0"/>
                    <a:pt x="5362956" y="65532"/>
                    <a:pt x="5362956" y="146304"/>
                  </a:cubicBezTo>
                  <a:lnTo>
                    <a:pt x="5362956" y="6986016"/>
                  </a:lnTo>
                  <a:cubicBezTo>
                    <a:pt x="5362956" y="7066788"/>
                    <a:pt x="5297424" y="7132320"/>
                    <a:pt x="5216652" y="7132320"/>
                  </a:cubicBezTo>
                  <a:lnTo>
                    <a:pt x="146304" y="7132320"/>
                  </a:lnTo>
                  <a:cubicBezTo>
                    <a:pt x="65532" y="7132320"/>
                    <a:pt x="0" y="7066788"/>
                    <a:pt x="0" y="6986016"/>
                  </a:cubicBezTo>
                  <a:close/>
                </a:path>
              </a:pathLst>
            </a:custGeom>
            <a:solidFill>
              <a:srgbClr val="F7F0F0"/>
            </a:solidFill>
          </p:spPr>
        </p:sp>
      </p:grpSp>
      <p:grpSp>
        <p:nvGrpSpPr>
          <p:cNvPr name="Group 40" id="40"/>
          <p:cNvGrpSpPr/>
          <p:nvPr/>
        </p:nvGrpSpPr>
        <p:grpSpPr>
          <a:xfrm rot="0">
            <a:off x="10809922" y="3634740"/>
            <a:ext cx="960120" cy="960120"/>
            <a:chOff x="0" y="0"/>
            <a:chExt cx="1280160" cy="1280160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1280160" cy="1280160"/>
            </a:xfrm>
            <a:custGeom>
              <a:avLst/>
              <a:gdLst/>
              <a:ahLst/>
              <a:cxnLst/>
              <a:rect r="r" b="b" t="t" l="l"/>
              <a:pathLst>
                <a:path h="1280160" w="1280160">
                  <a:moveTo>
                    <a:pt x="0" y="640080"/>
                  </a:moveTo>
                  <a:cubicBezTo>
                    <a:pt x="0" y="286512"/>
                    <a:pt x="286512" y="0"/>
                    <a:pt x="640080" y="0"/>
                  </a:cubicBezTo>
                  <a:cubicBezTo>
                    <a:pt x="993648" y="0"/>
                    <a:pt x="1280160" y="286512"/>
                    <a:pt x="1280160" y="640080"/>
                  </a:cubicBezTo>
                  <a:cubicBezTo>
                    <a:pt x="1280160" y="993648"/>
                    <a:pt x="993648" y="1280160"/>
                    <a:pt x="640080" y="1280160"/>
                  </a:cubicBezTo>
                  <a:cubicBezTo>
                    <a:pt x="286512" y="1280160"/>
                    <a:pt x="0" y="993648"/>
                    <a:pt x="0" y="640080"/>
                  </a:cubicBezTo>
                  <a:close/>
                </a:path>
              </a:pathLst>
            </a:custGeom>
            <a:solidFill>
              <a:srgbClr val="8B2E2E"/>
            </a:solidFill>
          </p:spPr>
        </p:sp>
      </p:grpSp>
      <p:grpSp>
        <p:nvGrpSpPr>
          <p:cNvPr name="Group 42" id="42"/>
          <p:cNvGrpSpPr/>
          <p:nvPr/>
        </p:nvGrpSpPr>
        <p:grpSpPr>
          <a:xfrm rot="0">
            <a:off x="10809922" y="3634740"/>
            <a:ext cx="960120" cy="960120"/>
            <a:chOff x="0" y="0"/>
            <a:chExt cx="1280160" cy="1280160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1280160" cy="1280160"/>
            </a:xfrm>
            <a:custGeom>
              <a:avLst/>
              <a:gdLst/>
              <a:ahLst/>
              <a:cxnLst/>
              <a:rect r="r" b="b" t="t" l="l"/>
              <a:pathLst>
                <a:path h="1280160" w="1280160">
                  <a:moveTo>
                    <a:pt x="0" y="0"/>
                  </a:moveTo>
                  <a:lnTo>
                    <a:pt x="1280160" y="0"/>
                  </a:lnTo>
                  <a:lnTo>
                    <a:pt x="1280160" y="1280160"/>
                  </a:lnTo>
                  <a:lnTo>
                    <a:pt x="0" y="12801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44" id="44"/>
            <p:cNvSpPr txBox="true"/>
            <p:nvPr/>
          </p:nvSpPr>
          <p:spPr>
            <a:xfrm>
              <a:off x="0" y="-9525"/>
              <a:ext cx="1280160" cy="12896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960"/>
                </a:lnSpc>
              </a:pPr>
              <a:r>
                <a:rPr lang="en-US" sz="3300" b="true">
                  <a:solidFill>
                    <a:srgbClr val="FFFFFF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3</a:t>
              </a:r>
            </a:p>
          </p:txBody>
        </p:sp>
      </p:grpSp>
      <p:grpSp>
        <p:nvGrpSpPr>
          <p:cNvPr name="Group 45" id="45"/>
          <p:cNvGrpSpPr/>
          <p:nvPr/>
        </p:nvGrpSpPr>
        <p:grpSpPr>
          <a:xfrm rot="0">
            <a:off x="9484614" y="4800600"/>
            <a:ext cx="3610737" cy="411480"/>
            <a:chOff x="0" y="0"/>
            <a:chExt cx="4814316" cy="548640"/>
          </a:xfrm>
        </p:grpSpPr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4814316" cy="548640"/>
            </a:xfrm>
            <a:custGeom>
              <a:avLst/>
              <a:gdLst/>
              <a:ahLst/>
              <a:cxnLst/>
              <a:rect r="r" b="b" t="t" l="l"/>
              <a:pathLst>
                <a:path h="548640" w="4814316">
                  <a:moveTo>
                    <a:pt x="0" y="0"/>
                  </a:moveTo>
                  <a:lnTo>
                    <a:pt x="4814316" y="0"/>
                  </a:lnTo>
                  <a:lnTo>
                    <a:pt x="4814316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20981" r="0" b="-120981"/>
              </a:stretch>
            </a:blipFill>
          </p:spPr>
        </p:sp>
        <p:sp>
          <p:nvSpPr>
            <p:cNvPr name="TextBox 47" id="47"/>
            <p:cNvSpPr txBox="true"/>
            <p:nvPr/>
          </p:nvSpPr>
          <p:spPr>
            <a:xfrm>
              <a:off x="0" y="-28575"/>
              <a:ext cx="4814316" cy="5772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980"/>
                </a:lnSpc>
              </a:pPr>
              <a:r>
                <a:rPr lang="en-US" sz="1650" b="true">
                  <a:solidFill>
                    <a:srgbClr val="C9A227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Member 3</a:t>
              </a:r>
            </a:p>
          </p:txBody>
        </p:sp>
      </p:grpSp>
      <p:sp>
        <p:nvSpPr>
          <p:cNvPr name="TextBox 48" id="48"/>
          <p:cNvSpPr txBox="true"/>
          <p:nvPr/>
        </p:nvSpPr>
        <p:spPr>
          <a:xfrm rot="0">
            <a:off x="9484614" y="5220462"/>
            <a:ext cx="3610737" cy="13220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20"/>
              </a:lnSpc>
            </a:pPr>
            <a:r>
              <a:rPr lang="en-US" sz="2100" b="true">
                <a:solidFill>
                  <a:srgbClr val="222222"/>
                </a:solidFill>
                <a:latin typeface="Cambria Bold"/>
                <a:ea typeface="Cambria Bold"/>
                <a:cs typeface="Cambria Bold"/>
                <a:sym typeface="Cambria Bold"/>
              </a:rPr>
              <a:t>Rust vs Other Language + PPL Analysis</a:t>
            </a:r>
          </a:p>
        </p:txBody>
      </p:sp>
      <p:sp>
        <p:nvSpPr>
          <p:cNvPr name="TextBox 49" id="49"/>
          <p:cNvSpPr txBox="true"/>
          <p:nvPr/>
        </p:nvSpPr>
        <p:spPr>
          <a:xfrm rot="0">
            <a:off x="9484614" y="6623685"/>
            <a:ext cx="3610737" cy="17430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80"/>
              </a:lnSpc>
            </a:pPr>
            <a:r>
              <a:rPr lang="en-US" sz="1650">
                <a:solidFill>
                  <a:srgbClr val="6B6B6B"/>
                </a:solidFill>
                <a:latin typeface="Calibri (MS)"/>
                <a:ea typeface="Calibri (MS)"/>
                <a:cs typeface="Calibri (MS)"/>
                <a:sym typeface="Calibri (MS)"/>
              </a:rPr>
              <a:t>เปรียบเทียบภาษา และวิเคราะห์เชิง Programming Language</a:t>
            </a:r>
          </a:p>
        </p:txBody>
      </p:sp>
      <p:grpSp>
        <p:nvGrpSpPr>
          <p:cNvPr name="Group 50" id="50"/>
          <p:cNvGrpSpPr/>
          <p:nvPr/>
        </p:nvGrpSpPr>
        <p:grpSpPr>
          <a:xfrm rot="0">
            <a:off x="9484614" y="8092440"/>
            <a:ext cx="3610737" cy="411480"/>
            <a:chOff x="0" y="0"/>
            <a:chExt cx="4814316" cy="548640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0" y="0"/>
              <a:ext cx="4814316" cy="548640"/>
            </a:xfrm>
            <a:custGeom>
              <a:avLst/>
              <a:gdLst/>
              <a:ahLst/>
              <a:cxnLst/>
              <a:rect r="r" b="b" t="t" l="l"/>
              <a:pathLst>
                <a:path h="548640" w="4814316">
                  <a:moveTo>
                    <a:pt x="0" y="0"/>
                  </a:moveTo>
                  <a:lnTo>
                    <a:pt x="4814316" y="0"/>
                  </a:lnTo>
                  <a:lnTo>
                    <a:pt x="4814316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20981" r="0" b="-120981"/>
              </a:stretch>
            </a:blipFill>
          </p:spPr>
        </p:sp>
        <p:sp>
          <p:nvSpPr>
            <p:cNvPr name="TextBox 52" id="52"/>
            <p:cNvSpPr txBox="true"/>
            <p:nvPr/>
          </p:nvSpPr>
          <p:spPr>
            <a:xfrm>
              <a:off x="0" y="-28575"/>
              <a:ext cx="4814316" cy="5772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980"/>
                </a:lnSpc>
              </a:pPr>
              <a:r>
                <a:rPr lang="en-US" sz="1650" i="true">
                  <a:solidFill>
                    <a:srgbClr val="8B2E2E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~5 นาที</a:t>
              </a:r>
            </a:p>
          </p:txBody>
        </p:sp>
      </p:grpSp>
      <p:grpSp>
        <p:nvGrpSpPr>
          <p:cNvPr name="Group 53" id="53"/>
          <p:cNvGrpSpPr/>
          <p:nvPr/>
        </p:nvGrpSpPr>
        <p:grpSpPr>
          <a:xfrm rot="0">
            <a:off x="13575411" y="3223260"/>
            <a:ext cx="4022217" cy="5349240"/>
            <a:chOff x="0" y="0"/>
            <a:chExt cx="5362956" cy="7132320"/>
          </a:xfrm>
        </p:grpSpPr>
        <p:sp>
          <p:nvSpPr>
            <p:cNvPr name="Freeform 54" id="54"/>
            <p:cNvSpPr/>
            <p:nvPr/>
          </p:nvSpPr>
          <p:spPr>
            <a:xfrm flipH="false" flipV="false" rot="0">
              <a:off x="0" y="0"/>
              <a:ext cx="5362956" cy="7132320"/>
            </a:xfrm>
            <a:custGeom>
              <a:avLst/>
              <a:gdLst/>
              <a:ahLst/>
              <a:cxnLst/>
              <a:rect r="r" b="b" t="t" l="l"/>
              <a:pathLst>
                <a:path h="7132320" w="5362956">
                  <a:moveTo>
                    <a:pt x="0" y="146304"/>
                  </a:moveTo>
                  <a:cubicBezTo>
                    <a:pt x="0" y="65532"/>
                    <a:pt x="65532" y="0"/>
                    <a:pt x="146304" y="0"/>
                  </a:cubicBezTo>
                  <a:lnTo>
                    <a:pt x="5216652" y="0"/>
                  </a:lnTo>
                  <a:cubicBezTo>
                    <a:pt x="5297424" y="0"/>
                    <a:pt x="5362956" y="65532"/>
                    <a:pt x="5362956" y="146304"/>
                  </a:cubicBezTo>
                  <a:lnTo>
                    <a:pt x="5362956" y="6986016"/>
                  </a:lnTo>
                  <a:cubicBezTo>
                    <a:pt x="5362956" y="7066788"/>
                    <a:pt x="5297424" y="7132320"/>
                    <a:pt x="5216652" y="7132320"/>
                  </a:cubicBezTo>
                  <a:lnTo>
                    <a:pt x="146304" y="7132320"/>
                  </a:lnTo>
                  <a:cubicBezTo>
                    <a:pt x="65532" y="7132320"/>
                    <a:pt x="0" y="7066788"/>
                    <a:pt x="0" y="6986016"/>
                  </a:cubicBezTo>
                  <a:close/>
                </a:path>
              </a:pathLst>
            </a:custGeom>
            <a:solidFill>
              <a:srgbClr val="F7F0F0"/>
            </a:solidFill>
          </p:spPr>
        </p:sp>
      </p:grpSp>
      <p:grpSp>
        <p:nvGrpSpPr>
          <p:cNvPr name="Group 55" id="55"/>
          <p:cNvGrpSpPr/>
          <p:nvPr/>
        </p:nvGrpSpPr>
        <p:grpSpPr>
          <a:xfrm rot="0">
            <a:off x="15106460" y="3634740"/>
            <a:ext cx="960120" cy="960120"/>
            <a:chOff x="0" y="0"/>
            <a:chExt cx="1280160" cy="1280160"/>
          </a:xfrm>
        </p:grpSpPr>
        <p:sp>
          <p:nvSpPr>
            <p:cNvPr name="Freeform 56" id="56"/>
            <p:cNvSpPr/>
            <p:nvPr/>
          </p:nvSpPr>
          <p:spPr>
            <a:xfrm flipH="false" flipV="false" rot="0">
              <a:off x="0" y="0"/>
              <a:ext cx="1280160" cy="1280160"/>
            </a:xfrm>
            <a:custGeom>
              <a:avLst/>
              <a:gdLst/>
              <a:ahLst/>
              <a:cxnLst/>
              <a:rect r="r" b="b" t="t" l="l"/>
              <a:pathLst>
                <a:path h="1280160" w="1280160">
                  <a:moveTo>
                    <a:pt x="0" y="640080"/>
                  </a:moveTo>
                  <a:cubicBezTo>
                    <a:pt x="0" y="286512"/>
                    <a:pt x="286512" y="0"/>
                    <a:pt x="640080" y="0"/>
                  </a:cubicBezTo>
                  <a:cubicBezTo>
                    <a:pt x="993648" y="0"/>
                    <a:pt x="1280160" y="286512"/>
                    <a:pt x="1280160" y="640080"/>
                  </a:cubicBezTo>
                  <a:cubicBezTo>
                    <a:pt x="1280160" y="993648"/>
                    <a:pt x="993648" y="1280160"/>
                    <a:pt x="640080" y="1280160"/>
                  </a:cubicBezTo>
                  <a:cubicBezTo>
                    <a:pt x="286512" y="1280160"/>
                    <a:pt x="0" y="993648"/>
                    <a:pt x="0" y="640080"/>
                  </a:cubicBezTo>
                  <a:close/>
                </a:path>
              </a:pathLst>
            </a:custGeom>
            <a:solidFill>
              <a:srgbClr val="8B2E2E"/>
            </a:solidFill>
          </p:spPr>
        </p:sp>
      </p:grpSp>
      <p:grpSp>
        <p:nvGrpSpPr>
          <p:cNvPr name="Group 57" id="57"/>
          <p:cNvGrpSpPr/>
          <p:nvPr/>
        </p:nvGrpSpPr>
        <p:grpSpPr>
          <a:xfrm rot="0">
            <a:off x="15106460" y="3634740"/>
            <a:ext cx="960120" cy="960120"/>
            <a:chOff x="0" y="0"/>
            <a:chExt cx="1280160" cy="1280160"/>
          </a:xfrm>
        </p:grpSpPr>
        <p:sp>
          <p:nvSpPr>
            <p:cNvPr name="Freeform 58" id="58"/>
            <p:cNvSpPr/>
            <p:nvPr/>
          </p:nvSpPr>
          <p:spPr>
            <a:xfrm flipH="false" flipV="false" rot="0">
              <a:off x="0" y="0"/>
              <a:ext cx="1280160" cy="1280160"/>
            </a:xfrm>
            <a:custGeom>
              <a:avLst/>
              <a:gdLst/>
              <a:ahLst/>
              <a:cxnLst/>
              <a:rect r="r" b="b" t="t" l="l"/>
              <a:pathLst>
                <a:path h="1280160" w="1280160">
                  <a:moveTo>
                    <a:pt x="0" y="0"/>
                  </a:moveTo>
                  <a:lnTo>
                    <a:pt x="1280160" y="0"/>
                  </a:lnTo>
                  <a:lnTo>
                    <a:pt x="1280160" y="1280160"/>
                  </a:lnTo>
                  <a:lnTo>
                    <a:pt x="0" y="12801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59" id="59"/>
            <p:cNvSpPr txBox="true"/>
            <p:nvPr/>
          </p:nvSpPr>
          <p:spPr>
            <a:xfrm>
              <a:off x="0" y="-9525"/>
              <a:ext cx="1280160" cy="12896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960"/>
                </a:lnSpc>
              </a:pPr>
              <a:r>
                <a:rPr lang="en-US" sz="3300" b="true">
                  <a:solidFill>
                    <a:srgbClr val="FFFFFF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4</a:t>
              </a:r>
            </a:p>
          </p:txBody>
        </p:sp>
      </p:grpSp>
      <p:grpSp>
        <p:nvGrpSpPr>
          <p:cNvPr name="Group 60" id="60"/>
          <p:cNvGrpSpPr/>
          <p:nvPr/>
        </p:nvGrpSpPr>
        <p:grpSpPr>
          <a:xfrm rot="0">
            <a:off x="13781151" y="4800600"/>
            <a:ext cx="3610737" cy="411480"/>
            <a:chOff x="0" y="0"/>
            <a:chExt cx="4814316" cy="548640"/>
          </a:xfrm>
        </p:grpSpPr>
        <p:sp>
          <p:nvSpPr>
            <p:cNvPr name="Freeform 61" id="61"/>
            <p:cNvSpPr/>
            <p:nvPr/>
          </p:nvSpPr>
          <p:spPr>
            <a:xfrm flipH="false" flipV="false" rot="0">
              <a:off x="0" y="0"/>
              <a:ext cx="4814316" cy="548640"/>
            </a:xfrm>
            <a:custGeom>
              <a:avLst/>
              <a:gdLst/>
              <a:ahLst/>
              <a:cxnLst/>
              <a:rect r="r" b="b" t="t" l="l"/>
              <a:pathLst>
                <a:path h="548640" w="4814316">
                  <a:moveTo>
                    <a:pt x="0" y="0"/>
                  </a:moveTo>
                  <a:lnTo>
                    <a:pt x="4814316" y="0"/>
                  </a:lnTo>
                  <a:lnTo>
                    <a:pt x="4814316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20981" r="0" b="-120981"/>
              </a:stretch>
            </a:blipFill>
          </p:spPr>
        </p:sp>
        <p:sp>
          <p:nvSpPr>
            <p:cNvPr name="TextBox 62" id="62"/>
            <p:cNvSpPr txBox="true"/>
            <p:nvPr/>
          </p:nvSpPr>
          <p:spPr>
            <a:xfrm>
              <a:off x="0" y="-28575"/>
              <a:ext cx="4814316" cy="5772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980"/>
                </a:lnSpc>
              </a:pPr>
              <a:r>
                <a:rPr lang="en-US" sz="1650" b="true">
                  <a:solidFill>
                    <a:srgbClr val="C9A227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Member 4</a:t>
              </a:r>
            </a:p>
          </p:txBody>
        </p:sp>
      </p:grpSp>
      <p:sp>
        <p:nvSpPr>
          <p:cNvPr name="TextBox 63" id="63"/>
          <p:cNvSpPr txBox="true"/>
          <p:nvPr/>
        </p:nvSpPr>
        <p:spPr>
          <a:xfrm rot="0">
            <a:off x="13781151" y="5220462"/>
            <a:ext cx="3610737" cy="13220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20"/>
              </a:lnSpc>
            </a:pPr>
            <a:r>
              <a:rPr lang="en-US" sz="2100" b="true">
                <a:solidFill>
                  <a:srgbClr val="222222"/>
                </a:solidFill>
                <a:latin typeface="Cambria Bold"/>
                <a:ea typeface="Cambria Bold"/>
                <a:cs typeface="Cambria Bold"/>
                <a:sym typeface="Cambria Bold"/>
              </a:rPr>
              <a:t>Exercises + Common Mistakes + Challenge</a:t>
            </a:r>
          </a:p>
        </p:txBody>
      </p:sp>
      <p:sp>
        <p:nvSpPr>
          <p:cNvPr name="TextBox 64" id="64"/>
          <p:cNvSpPr txBox="true"/>
          <p:nvPr/>
        </p:nvSpPr>
        <p:spPr>
          <a:xfrm rot="0">
            <a:off x="13781151" y="6623685"/>
            <a:ext cx="3610737" cy="17430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80"/>
              </a:lnSpc>
            </a:pPr>
            <a:r>
              <a:rPr lang="en-US" sz="1650">
                <a:solidFill>
                  <a:srgbClr val="6B6B6B"/>
                </a:solidFill>
                <a:latin typeface="Calibri (MS)"/>
                <a:ea typeface="Calibri (MS)"/>
                <a:cs typeface="Calibri (MS)"/>
                <a:sym typeface="Calibri (MS)"/>
              </a:rPr>
              <a:t>ข้อผิดพลาดที่พบบ่อย และโจทย์ท้าทายผู้ฟัง</a:t>
            </a:r>
          </a:p>
        </p:txBody>
      </p:sp>
      <p:grpSp>
        <p:nvGrpSpPr>
          <p:cNvPr name="Group 65" id="65"/>
          <p:cNvGrpSpPr/>
          <p:nvPr/>
        </p:nvGrpSpPr>
        <p:grpSpPr>
          <a:xfrm rot="0">
            <a:off x="13781151" y="8092440"/>
            <a:ext cx="3610737" cy="411480"/>
            <a:chOff x="0" y="0"/>
            <a:chExt cx="4814316" cy="548640"/>
          </a:xfrm>
        </p:grpSpPr>
        <p:sp>
          <p:nvSpPr>
            <p:cNvPr name="Freeform 66" id="66"/>
            <p:cNvSpPr/>
            <p:nvPr/>
          </p:nvSpPr>
          <p:spPr>
            <a:xfrm flipH="false" flipV="false" rot="0">
              <a:off x="0" y="0"/>
              <a:ext cx="4814316" cy="548640"/>
            </a:xfrm>
            <a:custGeom>
              <a:avLst/>
              <a:gdLst/>
              <a:ahLst/>
              <a:cxnLst/>
              <a:rect r="r" b="b" t="t" l="l"/>
              <a:pathLst>
                <a:path h="548640" w="4814316">
                  <a:moveTo>
                    <a:pt x="0" y="0"/>
                  </a:moveTo>
                  <a:lnTo>
                    <a:pt x="4814316" y="0"/>
                  </a:lnTo>
                  <a:lnTo>
                    <a:pt x="4814316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20981" r="0" b="-120981"/>
              </a:stretch>
            </a:blipFill>
          </p:spPr>
        </p:sp>
        <p:sp>
          <p:nvSpPr>
            <p:cNvPr name="TextBox 67" id="67"/>
            <p:cNvSpPr txBox="true"/>
            <p:nvPr/>
          </p:nvSpPr>
          <p:spPr>
            <a:xfrm>
              <a:off x="0" y="-28575"/>
              <a:ext cx="4814316" cy="5772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980"/>
                </a:lnSpc>
              </a:pPr>
              <a:r>
                <a:rPr lang="en-US" sz="1650" i="true">
                  <a:solidFill>
                    <a:srgbClr val="8B2E2E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~5 นาที</a:t>
              </a:r>
            </a:p>
          </p:txBody>
        </p:sp>
      </p:grpSp>
      <p:grpSp>
        <p:nvGrpSpPr>
          <p:cNvPr name="Group 68" id="68"/>
          <p:cNvGrpSpPr/>
          <p:nvPr/>
        </p:nvGrpSpPr>
        <p:grpSpPr>
          <a:xfrm rot="0">
            <a:off x="685800" y="9710928"/>
            <a:ext cx="10972800" cy="411480"/>
            <a:chOff x="0" y="0"/>
            <a:chExt cx="14630400" cy="548640"/>
          </a:xfrm>
        </p:grpSpPr>
        <p:sp>
          <p:nvSpPr>
            <p:cNvPr name="Freeform 69" id="69"/>
            <p:cNvSpPr/>
            <p:nvPr/>
          </p:nvSpPr>
          <p:spPr>
            <a:xfrm flipH="false" flipV="false" rot="0">
              <a:off x="0" y="0"/>
              <a:ext cx="14630400" cy="548640"/>
            </a:xfrm>
            <a:custGeom>
              <a:avLst/>
              <a:gdLst/>
              <a:ahLst/>
              <a:cxnLst/>
              <a:rect r="r" b="b" t="t" l="l"/>
              <a:pathLst>
                <a:path h="548640" w="14630400">
                  <a:moveTo>
                    <a:pt x="0" y="0"/>
                  </a:moveTo>
                  <a:lnTo>
                    <a:pt x="14630400" y="0"/>
                  </a:lnTo>
                  <a:lnTo>
                    <a:pt x="146304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69601" r="0" b="-469601"/>
              </a:stretch>
            </a:blipFill>
          </p:spPr>
        </p:sp>
        <p:sp>
          <p:nvSpPr>
            <p:cNvPr name="TextBox 70" id="70"/>
            <p:cNvSpPr txBox="true"/>
            <p:nvPr/>
          </p:nvSpPr>
          <p:spPr>
            <a:xfrm>
              <a:off x="0" y="-38100"/>
              <a:ext cx="14630400" cy="5867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00"/>
                </a:lnSpc>
              </a:pPr>
              <a:r>
                <a:rPr lang="en-US" sz="1500">
                  <a:solidFill>
                    <a:srgbClr val="6B6B6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517321 Principles of Programming Languages — Rust Tutorial</a:t>
              </a:r>
            </a:p>
          </p:txBody>
        </p:sp>
      </p:grpSp>
      <p:grpSp>
        <p:nvGrpSpPr>
          <p:cNvPr name="Group 71" id="71"/>
          <p:cNvGrpSpPr/>
          <p:nvPr/>
        </p:nvGrpSpPr>
        <p:grpSpPr>
          <a:xfrm rot="0">
            <a:off x="16911828" y="9710928"/>
            <a:ext cx="685800" cy="411480"/>
            <a:chOff x="0" y="0"/>
            <a:chExt cx="914400" cy="548640"/>
          </a:xfrm>
        </p:grpSpPr>
        <p:sp>
          <p:nvSpPr>
            <p:cNvPr name="Freeform 72" id="72"/>
            <p:cNvSpPr/>
            <p:nvPr/>
          </p:nvSpPr>
          <p:spPr>
            <a:xfrm flipH="false" flipV="false" rot="0">
              <a:off x="0" y="0"/>
              <a:ext cx="914400" cy="548640"/>
            </a:xfrm>
            <a:custGeom>
              <a:avLst/>
              <a:gdLst/>
              <a:ahLst/>
              <a:cxnLst/>
              <a:rect r="r" b="b" t="t" l="l"/>
              <a:pathLst>
                <a:path h="548640" w="914400">
                  <a:moveTo>
                    <a:pt x="0" y="0"/>
                  </a:moveTo>
                  <a:lnTo>
                    <a:pt x="914400" y="0"/>
                  </a:lnTo>
                  <a:lnTo>
                    <a:pt x="9144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26982" t="0" r="-26982" b="0"/>
              </a:stretch>
            </a:blipFill>
          </p:spPr>
        </p:sp>
        <p:sp>
          <p:nvSpPr>
            <p:cNvPr name="TextBox 73" id="73"/>
            <p:cNvSpPr txBox="true"/>
            <p:nvPr/>
          </p:nvSpPr>
          <p:spPr>
            <a:xfrm>
              <a:off x="0" y="-38100"/>
              <a:ext cx="914400" cy="5867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800"/>
                </a:lnSpc>
              </a:pPr>
              <a:r>
                <a:rPr lang="en-US" sz="1500">
                  <a:solidFill>
                    <a:srgbClr val="6B6B6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2</a:t>
              </a:r>
            </a:p>
          </p:txBody>
        </p:sp>
      </p:grpSp>
    </p:spTree>
  </p:cSld>
  <p:clrMapOvr>
    <a:masterClrMapping/>
  </p:clrMapOvr>
  <p:transition spd="fast">
    <p:wipe dir="l"/>
  </p:transition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685800" y="617220"/>
            <a:ext cx="4114800" cy="576072"/>
            <a:chOff x="0" y="0"/>
            <a:chExt cx="5486400" cy="76809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5486400" cy="768096"/>
            </a:xfrm>
            <a:custGeom>
              <a:avLst/>
              <a:gdLst/>
              <a:ahLst/>
              <a:cxnLst/>
              <a:rect r="r" b="b" t="t" l="l"/>
              <a:pathLst>
                <a:path h="768096" w="5486400">
                  <a:moveTo>
                    <a:pt x="0" y="146304"/>
                  </a:moveTo>
                  <a:cubicBezTo>
                    <a:pt x="0" y="65532"/>
                    <a:pt x="65532" y="0"/>
                    <a:pt x="146304" y="0"/>
                  </a:cubicBezTo>
                  <a:lnTo>
                    <a:pt x="5340096" y="0"/>
                  </a:lnTo>
                  <a:cubicBezTo>
                    <a:pt x="5420868" y="0"/>
                    <a:pt x="5486400" y="65532"/>
                    <a:pt x="5486400" y="146304"/>
                  </a:cubicBezTo>
                  <a:lnTo>
                    <a:pt x="5486400" y="621792"/>
                  </a:lnTo>
                  <a:cubicBezTo>
                    <a:pt x="5486400" y="702564"/>
                    <a:pt x="5420868" y="768096"/>
                    <a:pt x="5340096" y="768096"/>
                  </a:cubicBezTo>
                  <a:lnTo>
                    <a:pt x="146304" y="768096"/>
                  </a:lnTo>
                  <a:cubicBezTo>
                    <a:pt x="65532" y="768096"/>
                    <a:pt x="0" y="702564"/>
                    <a:pt x="0" y="621792"/>
                  </a:cubicBezTo>
                  <a:close/>
                </a:path>
              </a:pathLst>
            </a:custGeom>
            <a:solidFill>
              <a:srgbClr val="8B2E2E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685800" y="617220"/>
            <a:ext cx="4114800" cy="576072"/>
            <a:chOff x="0" y="0"/>
            <a:chExt cx="5486400" cy="768096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5486400" cy="768096"/>
            </a:xfrm>
            <a:custGeom>
              <a:avLst/>
              <a:gdLst/>
              <a:ahLst/>
              <a:cxnLst/>
              <a:rect r="r" b="b" t="t" l="l"/>
              <a:pathLst>
                <a:path h="768096" w="5486400">
                  <a:moveTo>
                    <a:pt x="0" y="0"/>
                  </a:moveTo>
                  <a:lnTo>
                    <a:pt x="5486400" y="0"/>
                  </a:lnTo>
                  <a:lnTo>
                    <a:pt x="5486400" y="768096"/>
                  </a:lnTo>
                  <a:lnTo>
                    <a:pt x="0" y="76809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9178" r="0" b="-89178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-47625"/>
              <a:ext cx="5486400" cy="81572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340"/>
                </a:lnSpc>
              </a:pPr>
              <a:r>
                <a:rPr lang="en-US" sz="195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PART 1 · MEMBER 1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4133099" y="297551"/>
            <a:ext cx="16911828" cy="3303594"/>
            <a:chOff x="0" y="0"/>
            <a:chExt cx="22549104" cy="4404792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2549104" cy="4404792"/>
            </a:xfrm>
            <a:custGeom>
              <a:avLst/>
              <a:gdLst/>
              <a:ahLst/>
              <a:cxnLst/>
              <a:rect r="r" b="b" t="t" l="l"/>
              <a:pathLst>
                <a:path h="4404792" w="22549104">
                  <a:moveTo>
                    <a:pt x="0" y="0"/>
                  </a:moveTo>
                  <a:lnTo>
                    <a:pt x="22549104" y="0"/>
                  </a:lnTo>
                  <a:lnTo>
                    <a:pt x="22549104" y="4404792"/>
                  </a:lnTo>
                  <a:lnTo>
                    <a:pt x="0" y="44047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5216" r="0" b="-14279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>
              <a:off x="0" y="-19050"/>
              <a:ext cx="22549104" cy="442384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400"/>
                </a:lnSpc>
              </a:pPr>
              <a:r>
                <a:rPr lang="en-US" sz="4500" b="true">
                  <a:solidFill>
                    <a:srgbClr val="222222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Rust’s Error handling philosophy</a:t>
              </a:r>
            </a:p>
          </p:txBody>
        </p:sp>
      </p:grpSp>
      <p:sp>
        <p:nvSpPr>
          <p:cNvPr name="TextBox 10" id="10"/>
          <p:cNvSpPr txBox="true"/>
          <p:nvPr/>
        </p:nvSpPr>
        <p:spPr>
          <a:xfrm rot="0">
            <a:off x="3375757" y="3872608"/>
            <a:ext cx="11893088" cy="17430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75"/>
              </a:lnSpc>
            </a:pPr>
          </a:p>
          <a:p>
            <a:pPr algn="l" marL="407194" indent="-203597" lvl="1">
              <a:lnSpc>
                <a:spcPts val="3375"/>
              </a:lnSpc>
              <a:buFont typeface="Arial"/>
              <a:buChar char="•"/>
            </a:pPr>
            <a:r>
              <a:rPr lang="en-US" sz="2250">
                <a:solidFill>
                  <a:srgbClr val="222222"/>
                </a:solidFill>
                <a:latin typeface="Calibri (MS)"/>
                <a:ea typeface="Calibri (MS)"/>
                <a:cs typeface="Calibri (MS)"/>
                <a:sym typeface="Calibri (MS)"/>
              </a:rPr>
              <a:t>Rust ต้องการให้ข้อผิดพลาดเป็นชนิดข้อมูลที่เห็นได้ชัดเจน และออกแบบขั้นตอนเพื่อรับมือ</a:t>
            </a:r>
          </a:p>
          <a:p>
            <a:pPr algn="l" marL="407194" indent="-203597" lvl="1">
              <a:lnSpc>
                <a:spcPts val="3375"/>
              </a:lnSpc>
              <a:buFont typeface="Arial"/>
              <a:buChar char="•"/>
            </a:pPr>
            <a:r>
              <a:rPr lang="en-US" sz="2250">
                <a:solidFill>
                  <a:srgbClr val="222222"/>
                </a:solidFill>
                <a:latin typeface="Calibri (MS)"/>
                <a:ea typeface="Calibri (MS)"/>
                <a:cs typeface="Calibri (MS)"/>
                <a:sym typeface="Calibri (MS)"/>
              </a:rPr>
              <a:t>Rust แสดงให้เห็น return type จากฟังก์ชันอย่างชัดเจน ทำให้นักพัฒนารู้ว่าต้องมีการรับมือกับปัญหาที่อาจเกิดขึ้นได้</a:t>
            </a:r>
          </a:p>
        </p:txBody>
      </p:sp>
      <p:grpSp>
        <p:nvGrpSpPr>
          <p:cNvPr name="Group 11" id="11"/>
          <p:cNvGrpSpPr/>
          <p:nvPr/>
        </p:nvGrpSpPr>
        <p:grpSpPr>
          <a:xfrm rot="0">
            <a:off x="685800" y="9710928"/>
            <a:ext cx="10972800" cy="411480"/>
            <a:chOff x="0" y="0"/>
            <a:chExt cx="14630400" cy="54864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4630400" cy="548640"/>
            </a:xfrm>
            <a:custGeom>
              <a:avLst/>
              <a:gdLst/>
              <a:ahLst/>
              <a:cxnLst/>
              <a:rect r="r" b="b" t="t" l="l"/>
              <a:pathLst>
                <a:path h="548640" w="14630400">
                  <a:moveTo>
                    <a:pt x="0" y="0"/>
                  </a:moveTo>
                  <a:lnTo>
                    <a:pt x="14630400" y="0"/>
                  </a:lnTo>
                  <a:lnTo>
                    <a:pt x="146304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69601" r="0" b="-469601"/>
              </a:stretch>
            </a:blip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38100"/>
              <a:ext cx="14630400" cy="5867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00"/>
                </a:lnSpc>
              </a:pPr>
              <a:r>
                <a:rPr lang="en-US" sz="1500">
                  <a:solidFill>
                    <a:srgbClr val="6B6B6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517321 Principles of Programming Languages — Rust Tutorial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16911828" y="9710928"/>
            <a:ext cx="685800" cy="411480"/>
            <a:chOff x="0" y="0"/>
            <a:chExt cx="914400" cy="54864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914400" cy="548640"/>
            </a:xfrm>
            <a:custGeom>
              <a:avLst/>
              <a:gdLst/>
              <a:ahLst/>
              <a:cxnLst/>
              <a:rect r="r" b="b" t="t" l="l"/>
              <a:pathLst>
                <a:path h="548640" w="914400">
                  <a:moveTo>
                    <a:pt x="0" y="0"/>
                  </a:moveTo>
                  <a:lnTo>
                    <a:pt x="914400" y="0"/>
                  </a:lnTo>
                  <a:lnTo>
                    <a:pt x="9144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26982" t="0" r="-26982" b="0"/>
              </a:stretch>
            </a:blip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38100"/>
              <a:ext cx="914400" cy="5867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800"/>
                </a:lnSpc>
              </a:pPr>
              <a:r>
                <a:rPr lang="en-US" sz="1500">
                  <a:solidFill>
                    <a:srgbClr val="6B6B6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3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5803192" y="5746922"/>
            <a:ext cx="6160344" cy="781050"/>
            <a:chOff x="0" y="0"/>
            <a:chExt cx="12400176" cy="1572178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2400176" cy="1572178"/>
            </a:xfrm>
            <a:custGeom>
              <a:avLst/>
              <a:gdLst/>
              <a:ahLst/>
              <a:cxnLst/>
              <a:rect r="r" b="b" t="t" l="l"/>
              <a:pathLst>
                <a:path h="1572178" w="12400176">
                  <a:moveTo>
                    <a:pt x="0" y="36281"/>
                  </a:moveTo>
                  <a:cubicBezTo>
                    <a:pt x="0" y="16251"/>
                    <a:pt x="51828" y="0"/>
                    <a:pt x="115709" y="0"/>
                  </a:cubicBezTo>
                  <a:lnTo>
                    <a:pt x="12284467" y="0"/>
                  </a:lnTo>
                  <a:cubicBezTo>
                    <a:pt x="12348349" y="0"/>
                    <a:pt x="12400176" y="16251"/>
                    <a:pt x="12400176" y="36281"/>
                  </a:cubicBezTo>
                  <a:lnTo>
                    <a:pt x="12400176" y="1535897"/>
                  </a:lnTo>
                  <a:cubicBezTo>
                    <a:pt x="12400176" y="1555927"/>
                    <a:pt x="12348349" y="1572178"/>
                    <a:pt x="12284467" y="1572178"/>
                  </a:cubicBezTo>
                  <a:lnTo>
                    <a:pt x="115709" y="1572178"/>
                  </a:lnTo>
                  <a:cubicBezTo>
                    <a:pt x="51828" y="1572178"/>
                    <a:pt x="0" y="1555927"/>
                    <a:pt x="0" y="1535897"/>
                  </a:cubicBezTo>
                  <a:close/>
                </a:path>
              </a:pathLst>
            </a:custGeom>
            <a:solidFill>
              <a:srgbClr val="1E1E1E"/>
            </a:solidFill>
          </p:spPr>
        </p:sp>
      </p:grpSp>
      <p:sp>
        <p:nvSpPr>
          <p:cNvPr name="TextBox 19" id="19"/>
          <p:cNvSpPr txBox="true"/>
          <p:nvPr/>
        </p:nvSpPr>
        <p:spPr>
          <a:xfrm rot="0">
            <a:off x="6146092" y="5955710"/>
            <a:ext cx="8133588" cy="3520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97"/>
              </a:lnSpc>
            </a:pPr>
            <a:r>
              <a:rPr lang="en-US" sz="2100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  <a:t>fn function(a: i32) -&gt; Option&lt;i32&gt;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3822180" y="6662454"/>
            <a:ext cx="11893088" cy="885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75"/>
              </a:lnSpc>
            </a:pPr>
            <a:r>
              <a:rPr lang="en-US" sz="2250">
                <a:solidFill>
                  <a:srgbClr val="222222"/>
                </a:solidFill>
                <a:latin typeface="Calibri (MS)"/>
                <a:ea typeface="Calibri (MS)"/>
                <a:cs typeface="Calibri (MS)"/>
                <a:sym typeface="Calibri (MS)"/>
              </a:rPr>
              <a:t>ซึ่งช่วยให้นักพัฒนามองเห็นได้ว่าอาจจะเกิดข้อผิดพลาดอะไรได้บ้าง และกำหนดการทำงานเพื่อรับมือกับปัญหานั้นอย่างไร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3822180" y="3486845"/>
            <a:ext cx="11446665" cy="885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75"/>
              </a:lnSpc>
            </a:pPr>
            <a:r>
              <a:rPr lang="en-US" sz="2250">
                <a:solidFill>
                  <a:srgbClr val="222222"/>
                </a:solidFill>
                <a:latin typeface="Calibri (MS)"/>
                <a:ea typeface="Calibri (MS)"/>
                <a:cs typeface="Calibri (MS)"/>
                <a:sym typeface="Calibri (MS)"/>
              </a:rPr>
              <a:t>       การพัฒนาโปรแกรมต้องคำนึงถึงความผิดพลาดที่อาจเกิดขึ้น การรับมือแก้ไข้เพื่อให้โปรแกรมทำงานต่อไปได้จึงมี่ส่วนสำคัญอย่างมาก</a:t>
            </a:r>
          </a:p>
        </p:txBody>
      </p:sp>
    </p:spTree>
  </p:cSld>
  <p:clrMapOvr>
    <a:masterClrMapping/>
  </p:clrMapOvr>
  <p:transition spd="fast">
    <p:wipe dir="l"/>
  </p:transition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685800" y="617220"/>
            <a:ext cx="4114800" cy="576072"/>
            <a:chOff x="0" y="0"/>
            <a:chExt cx="5486400" cy="76809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5486400" cy="768096"/>
            </a:xfrm>
            <a:custGeom>
              <a:avLst/>
              <a:gdLst/>
              <a:ahLst/>
              <a:cxnLst/>
              <a:rect r="r" b="b" t="t" l="l"/>
              <a:pathLst>
                <a:path h="768096" w="5486400">
                  <a:moveTo>
                    <a:pt x="0" y="146304"/>
                  </a:moveTo>
                  <a:cubicBezTo>
                    <a:pt x="0" y="65532"/>
                    <a:pt x="65532" y="0"/>
                    <a:pt x="146304" y="0"/>
                  </a:cubicBezTo>
                  <a:lnTo>
                    <a:pt x="5340096" y="0"/>
                  </a:lnTo>
                  <a:cubicBezTo>
                    <a:pt x="5420868" y="0"/>
                    <a:pt x="5486400" y="65532"/>
                    <a:pt x="5486400" y="146304"/>
                  </a:cubicBezTo>
                  <a:lnTo>
                    <a:pt x="5486400" y="621792"/>
                  </a:lnTo>
                  <a:cubicBezTo>
                    <a:pt x="5486400" y="702564"/>
                    <a:pt x="5420868" y="768096"/>
                    <a:pt x="5340096" y="768096"/>
                  </a:cubicBezTo>
                  <a:lnTo>
                    <a:pt x="146304" y="768096"/>
                  </a:lnTo>
                  <a:cubicBezTo>
                    <a:pt x="65532" y="768096"/>
                    <a:pt x="0" y="702564"/>
                    <a:pt x="0" y="621792"/>
                  </a:cubicBezTo>
                  <a:close/>
                </a:path>
              </a:pathLst>
            </a:custGeom>
            <a:solidFill>
              <a:srgbClr val="8B2E2E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685800" y="617220"/>
            <a:ext cx="4114800" cy="576072"/>
            <a:chOff x="0" y="0"/>
            <a:chExt cx="5486400" cy="768096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5486400" cy="768096"/>
            </a:xfrm>
            <a:custGeom>
              <a:avLst/>
              <a:gdLst/>
              <a:ahLst/>
              <a:cxnLst/>
              <a:rect r="r" b="b" t="t" l="l"/>
              <a:pathLst>
                <a:path h="768096" w="5486400">
                  <a:moveTo>
                    <a:pt x="0" y="0"/>
                  </a:moveTo>
                  <a:lnTo>
                    <a:pt x="5486400" y="0"/>
                  </a:lnTo>
                  <a:lnTo>
                    <a:pt x="5486400" y="768096"/>
                  </a:lnTo>
                  <a:lnTo>
                    <a:pt x="0" y="76809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9178" r="0" b="-89178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-47625"/>
              <a:ext cx="5486400" cy="81572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340"/>
                </a:lnSpc>
              </a:pPr>
              <a:r>
                <a:rPr lang="en-US" sz="195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PART 1 · MEMBER 1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5906407" y="297551"/>
            <a:ext cx="16911828" cy="3303594"/>
            <a:chOff x="0" y="0"/>
            <a:chExt cx="22549104" cy="4404792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2549104" cy="4404792"/>
            </a:xfrm>
            <a:custGeom>
              <a:avLst/>
              <a:gdLst/>
              <a:ahLst/>
              <a:cxnLst/>
              <a:rect r="r" b="b" t="t" l="l"/>
              <a:pathLst>
                <a:path h="4404792" w="22549104">
                  <a:moveTo>
                    <a:pt x="0" y="0"/>
                  </a:moveTo>
                  <a:lnTo>
                    <a:pt x="22549104" y="0"/>
                  </a:lnTo>
                  <a:lnTo>
                    <a:pt x="22549104" y="4404792"/>
                  </a:lnTo>
                  <a:lnTo>
                    <a:pt x="0" y="44047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5216" r="0" b="-14279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>
              <a:off x="0" y="-19050"/>
              <a:ext cx="22549104" cy="442384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400"/>
                </a:lnSpc>
              </a:pPr>
              <a:r>
                <a:rPr lang="en-US" sz="4500" b="true">
                  <a:solidFill>
                    <a:srgbClr val="222222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Rust’s Error handling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685800" y="9710928"/>
            <a:ext cx="10972800" cy="411480"/>
            <a:chOff x="0" y="0"/>
            <a:chExt cx="14630400" cy="54864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4630400" cy="548640"/>
            </a:xfrm>
            <a:custGeom>
              <a:avLst/>
              <a:gdLst/>
              <a:ahLst/>
              <a:cxnLst/>
              <a:rect r="r" b="b" t="t" l="l"/>
              <a:pathLst>
                <a:path h="548640" w="14630400">
                  <a:moveTo>
                    <a:pt x="0" y="0"/>
                  </a:moveTo>
                  <a:lnTo>
                    <a:pt x="14630400" y="0"/>
                  </a:lnTo>
                  <a:lnTo>
                    <a:pt x="146304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69601" r="0" b="-469601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38100"/>
              <a:ext cx="14630400" cy="5867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00"/>
                </a:lnSpc>
              </a:pPr>
              <a:r>
                <a:rPr lang="en-US" sz="1500">
                  <a:solidFill>
                    <a:srgbClr val="6B6B6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517321 Principles of Programming Languages — Rust Tutorial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16911828" y="9710928"/>
            <a:ext cx="685800" cy="411480"/>
            <a:chOff x="0" y="0"/>
            <a:chExt cx="914400" cy="54864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914400" cy="548640"/>
            </a:xfrm>
            <a:custGeom>
              <a:avLst/>
              <a:gdLst/>
              <a:ahLst/>
              <a:cxnLst/>
              <a:rect r="r" b="b" t="t" l="l"/>
              <a:pathLst>
                <a:path h="548640" w="914400">
                  <a:moveTo>
                    <a:pt x="0" y="0"/>
                  </a:moveTo>
                  <a:lnTo>
                    <a:pt x="914400" y="0"/>
                  </a:lnTo>
                  <a:lnTo>
                    <a:pt x="9144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26982" t="0" r="-26982" b="0"/>
              </a:stretch>
            </a:blip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38100"/>
              <a:ext cx="914400" cy="5867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800"/>
                </a:lnSpc>
              </a:pPr>
              <a:r>
                <a:rPr lang="en-US" sz="1500">
                  <a:solidFill>
                    <a:srgbClr val="6B6B6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3</a:t>
              </a: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2904946" y="5811285"/>
            <a:ext cx="6160344" cy="2355314"/>
            <a:chOff x="0" y="0"/>
            <a:chExt cx="12400176" cy="4741019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12400176" cy="4741019"/>
            </a:xfrm>
            <a:custGeom>
              <a:avLst/>
              <a:gdLst/>
              <a:ahLst/>
              <a:cxnLst/>
              <a:rect r="r" b="b" t="t" l="l"/>
              <a:pathLst>
                <a:path h="4741019" w="12400176">
                  <a:moveTo>
                    <a:pt x="0" y="109408"/>
                  </a:moveTo>
                  <a:cubicBezTo>
                    <a:pt x="0" y="49006"/>
                    <a:pt x="51828" y="0"/>
                    <a:pt x="115709" y="0"/>
                  </a:cubicBezTo>
                  <a:lnTo>
                    <a:pt x="12284467" y="0"/>
                  </a:lnTo>
                  <a:cubicBezTo>
                    <a:pt x="12348349" y="0"/>
                    <a:pt x="12400176" y="49006"/>
                    <a:pt x="12400176" y="109408"/>
                  </a:cubicBezTo>
                  <a:lnTo>
                    <a:pt x="12400176" y="4631611"/>
                  </a:lnTo>
                  <a:cubicBezTo>
                    <a:pt x="12400176" y="4692013"/>
                    <a:pt x="12348349" y="4741019"/>
                    <a:pt x="12284467" y="4741019"/>
                  </a:cubicBezTo>
                  <a:lnTo>
                    <a:pt x="115709" y="4741019"/>
                  </a:lnTo>
                  <a:cubicBezTo>
                    <a:pt x="51828" y="4741019"/>
                    <a:pt x="0" y="4692013"/>
                    <a:pt x="0" y="4631611"/>
                  </a:cubicBezTo>
                  <a:close/>
                </a:path>
              </a:pathLst>
            </a:custGeom>
            <a:solidFill>
              <a:srgbClr val="1E1E1E"/>
            </a:solidFill>
          </p:spPr>
        </p:sp>
      </p:grpSp>
      <p:sp>
        <p:nvSpPr>
          <p:cNvPr name="TextBox 18" id="18"/>
          <p:cNvSpPr txBox="true"/>
          <p:nvPr/>
        </p:nvSpPr>
        <p:spPr>
          <a:xfrm rot="0">
            <a:off x="3247860" y="6250945"/>
            <a:ext cx="5564100" cy="14378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97"/>
              </a:lnSpc>
            </a:pPr>
            <a:r>
              <a:rPr lang="en-US" sz="2100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  <a:t>enum Option&lt;T&gt; {    </a:t>
            </a:r>
          </a:p>
          <a:p>
            <a:pPr algn="l">
              <a:lnSpc>
                <a:spcPts val="2897"/>
              </a:lnSpc>
            </a:pPr>
            <a:r>
              <a:rPr lang="en-US" sz="2100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  <a:t>    Some(T),  // the value exists</a:t>
            </a:r>
          </a:p>
          <a:p>
            <a:pPr algn="l">
              <a:lnSpc>
                <a:spcPts val="2897"/>
              </a:lnSpc>
            </a:pPr>
            <a:r>
              <a:rPr lang="en-US" sz="2100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  <a:t>    None,     // no value</a:t>
            </a:r>
          </a:p>
          <a:p>
            <a:pPr algn="l">
              <a:lnSpc>
                <a:spcPts val="2897"/>
              </a:lnSpc>
            </a:pPr>
            <a:r>
              <a:rPr lang="en-US" sz="2100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3822180" y="3486845"/>
            <a:ext cx="11446665" cy="2171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75"/>
              </a:lnSpc>
            </a:pPr>
            <a:r>
              <a:rPr lang="en-US" sz="2250">
                <a:solidFill>
                  <a:srgbClr val="222222"/>
                </a:solidFill>
                <a:latin typeface="Calibri (MS)"/>
                <a:ea typeface="Calibri (MS)"/>
                <a:cs typeface="Calibri (MS)"/>
                <a:sym typeface="Calibri (MS)"/>
              </a:rPr>
              <a:t>      Rust มีชนิดข้อมูลที่สำคัญ 2 ชนิดในการรับมือกับสถานการณ์ที่อาจเจอข้อมูบที่ต้องการ หรือต้องผบเจอกับข้อผิดพลาด</a:t>
            </a:r>
          </a:p>
          <a:p>
            <a:pPr algn="l" marL="485775" indent="-242888" lvl="1">
              <a:lnSpc>
                <a:spcPts val="3375"/>
              </a:lnSpc>
              <a:buFont typeface="Arial"/>
              <a:buChar char="•"/>
            </a:pPr>
            <a:r>
              <a:rPr lang="en-US" sz="2250">
                <a:solidFill>
                  <a:srgbClr val="222222"/>
                </a:solidFill>
                <a:latin typeface="Calibri (MS)"/>
                <a:ea typeface="Calibri (MS)"/>
                <a:cs typeface="Calibri (MS)"/>
                <a:sym typeface="Calibri (MS)"/>
              </a:rPr>
              <a:t>Option ใช้สำหรับรับมือกับความเป็นไปได้ที่เกิดขึ้นจากข้อมูลที่ต้องการไม่มีอยู่</a:t>
            </a:r>
          </a:p>
          <a:p>
            <a:pPr algn="l" marL="485775" indent="-242888" lvl="1">
              <a:lnSpc>
                <a:spcPts val="3375"/>
              </a:lnSpc>
              <a:buFont typeface="Arial"/>
              <a:buChar char="•"/>
            </a:pPr>
            <a:r>
              <a:rPr lang="en-US" sz="2250">
                <a:solidFill>
                  <a:srgbClr val="222222"/>
                </a:solidFill>
                <a:latin typeface="Calibri (MS)"/>
                <a:ea typeface="Calibri (MS)"/>
                <a:cs typeface="Calibri (MS)"/>
                <a:sym typeface="Calibri (MS)"/>
              </a:rPr>
              <a:t>Result ใช้รับมือกับปัญหาที่เกิดขึ้นจากการทำงานที่ล้มเหลว</a:t>
            </a:r>
          </a:p>
          <a:p>
            <a:pPr algn="l">
              <a:lnSpc>
                <a:spcPts val="3375"/>
              </a:lnSpc>
            </a:pPr>
          </a:p>
        </p:txBody>
      </p:sp>
      <p:grpSp>
        <p:nvGrpSpPr>
          <p:cNvPr name="Group 20" id="20"/>
          <p:cNvGrpSpPr/>
          <p:nvPr/>
        </p:nvGrpSpPr>
        <p:grpSpPr>
          <a:xfrm rot="0">
            <a:off x="9222710" y="5811285"/>
            <a:ext cx="6160344" cy="2355314"/>
            <a:chOff x="0" y="0"/>
            <a:chExt cx="12400176" cy="4741019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12400176" cy="4741019"/>
            </a:xfrm>
            <a:custGeom>
              <a:avLst/>
              <a:gdLst/>
              <a:ahLst/>
              <a:cxnLst/>
              <a:rect r="r" b="b" t="t" l="l"/>
              <a:pathLst>
                <a:path h="4741019" w="12400176">
                  <a:moveTo>
                    <a:pt x="0" y="109408"/>
                  </a:moveTo>
                  <a:cubicBezTo>
                    <a:pt x="0" y="49006"/>
                    <a:pt x="51828" y="0"/>
                    <a:pt x="115709" y="0"/>
                  </a:cubicBezTo>
                  <a:lnTo>
                    <a:pt x="12284467" y="0"/>
                  </a:lnTo>
                  <a:cubicBezTo>
                    <a:pt x="12348349" y="0"/>
                    <a:pt x="12400176" y="49006"/>
                    <a:pt x="12400176" y="109408"/>
                  </a:cubicBezTo>
                  <a:lnTo>
                    <a:pt x="12400176" y="4631611"/>
                  </a:lnTo>
                  <a:cubicBezTo>
                    <a:pt x="12400176" y="4692013"/>
                    <a:pt x="12348349" y="4741019"/>
                    <a:pt x="12284467" y="4741019"/>
                  </a:cubicBezTo>
                  <a:lnTo>
                    <a:pt x="115709" y="4741019"/>
                  </a:lnTo>
                  <a:cubicBezTo>
                    <a:pt x="51828" y="4741019"/>
                    <a:pt x="0" y="4692013"/>
                    <a:pt x="0" y="4631611"/>
                  </a:cubicBezTo>
                  <a:close/>
                </a:path>
              </a:pathLst>
            </a:custGeom>
            <a:solidFill>
              <a:srgbClr val="1E1E1E"/>
            </a:solidFill>
          </p:spPr>
        </p:sp>
      </p:grpSp>
      <p:sp>
        <p:nvSpPr>
          <p:cNvPr name="TextBox 22" id="22"/>
          <p:cNvSpPr txBox="true"/>
          <p:nvPr/>
        </p:nvSpPr>
        <p:spPr>
          <a:xfrm rot="0">
            <a:off x="9565624" y="6250945"/>
            <a:ext cx="5817430" cy="14378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97"/>
              </a:lnSpc>
            </a:pPr>
            <a:r>
              <a:rPr lang="en-US" sz="2100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  <a:t>enum Result&lt;T, E&gt; {    </a:t>
            </a:r>
          </a:p>
          <a:p>
            <a:pPr algn="l">
              <a:lnSpc>
                <a:spcPts val="2897"/>
              </a:lnSpc>
            </a:pPr>
            <a:r>
              <a:rPr lang="en-US" sz="2100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  <a:t>    Ok(T),   // success with value</a:t>
            </a:r>
          </a:p>
          <a:p>
            <a:pPr algn="l">
              <a:lnSpc>
                <a:spcPts val="2897"/>
              </a:lnSpc>
            </a:pPr>
            <a:r>
              <a:rPr lang="en-US" sz="2100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  <a:t>    Err(E),  // failure with error</a:t>
            </a:r>
          </a:p>
          <a:p>
            <a:pPr algn="l">
              <a:lnSpc>
                <a:spcPts val="2897"/>
              </a:lnSpc>
            </a:pPr>
            <a:r>
              <a:rPr lang="en-US" sz="2100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</a:p>
          <a:p>
            <a:pPr algn="l">
              <a:lnSpc>
                <a:spcPts val="2897"/>
              </a:lnSpc>
            </a:pPr>
          </a:p>
        </p:txBody>
      </p:sp>
    </p:spTree>
  </p:cSld>
  <p:clrMapOvr>
    <a:masterClrMapping/>
  </p:clrMapOvr>
  <p:transition spd="fast">
    <p:wipe dir="l"/>
  </p:transition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685800" y="617220"/>
            <a:ext cx="4114800" cy="576072"/>
            <a:chOff x="0" y="0"/>
            <a:chExt cx="5486400" cy="76809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5486400" cy="768096"/>
            </a:xfrm>
            <a:custGeom>
              <a:avLst/>
              <a:gdLst/>
              <a:ahLst/>
              <a:cxnLst/>
              <a:rect r="r" b="b" t="t" l="l"/>
              <a:pathLst>
                <a:path h="768096" w="5486400">
                  <a:moveTo>
                    <a:pt x="0" y="146304"/>
                  </a:moveTo>
                  <a:cubicBezTo>
                    <a:pt x="0" y="65532"/>
                    <a:pt x="65532" y="0"/>
                    <a:pt x="146304" y="0"/>
                  </a:cubicBezTo>
                  <a:lnTo>
                    <a:pt x="5340096" y="0"/>
                  </a:lnTo>
                  <a:cubicBezTo>
                    <a:pt x="5420868" y="0"/>
                    <a:pt x="5486400" y="65532"/>
                    <a:pt x="5486400" y="146304"/>
                  </a:cubicBezTo>
                  <a:lnTo>
                    <a:pt x="5486400" y="621792"/>
                  </a:lnTo>
                  <a:cubicBezTo>
                    <a:pt x="5486400" y="702564"/>
                    <a:pt x="5420868" y="768096"/>
                    <a:pt x="5340096" y="768096"/>
                  </a:cubicBezTo>
                  <a:lnTo>
                    <a:pt x="146304" y="768096"/>
                  </a:lnTo>
                  <a:cubicBezTo>
                    <a:pt x="65532" y="768096"/>
                    <a:pt x="0" y="702564"/>
                    <a:pt x="0" y="621792"/>
                  </a:cubicBezTo>
                  <a:close/>
                </a:path>
              </a:pathLst>
            </a:custGeom>
            <a:solidFill>
              <a:srgbClr val="8B2E2E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685800" y="617220"/>
            <a:ext cx="4114800" cy="576072"/>
            <a:chOff x="0" y="0"/>
            <a:chExt cx="5486400" cy="768096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5486400" cy="768096"/>
            </a:xfrm>
            <a:custGeom>
              <a:avLst/>
              <a:gdLst/>
              <a:ahLst/>
              <a:cxnLst/>
              <a:rect r="r" b="b" t="t" l="l"/>
              <a:pathLst>
                <a:path h="768096" w="5486400">
                  <a:moveTo>
                    <a:pt x="0" y="0"/>
                  </a:moveTo>
                  <a:lnTo>
                    <a:pt x="5486400" y="0"/>
                  </a:lnTo>
                  <a:lnTo>
                    <a:pt x="5486400" y="768096"/>
                  </a:lnTo>
                  <a:lnTo>
                    <a:pt x="0" y="76809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9178" r="0" b="-89178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-47625"/>
              <a:ext cx="5486400" cy="81572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340"/>
                </a:lnSpc>
              </a:pPr>
              <a:r>
                <a:rPr lang="en-US" sz="195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PART 1 · MEMBER 1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688086" y="221795"/>
            <a:ext cx="16911828" cy="3303594"/>
            <a:chOff x="0" y="0"/>
            <a:chExt cx="22549104" cy="4404792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2549104" cy="4404792"/>
            </a:xfrm>
            <a:custGeom>
              <a:avLst/>
              <a:gdLst/>
              <a:ahLst/>
              <a:cxnLst/>
              <a:rect r="r" b="b" t="t" l="l"/>
              <a:pathLst>
                <a:path h="4404792" w="22549104">
                  <a:moveTo>
                    <a:pt x="0" y="0"/>
                  </a:moveTo>
                  <a:lnTo>
                    <a:pt x="22549104" y="0"/>
                  </a:lnTo>
                  <a:lnTo>
                    <a:pt x="22549104" y="4404792"/>
                  </a:lnTo>
                  <a:lnTo>
                    <a:pt x="0" y="44047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5216" r="0" b="-14279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>
              <a:off x="0" y="-19050"/>
              <a:ext cx="22549104" cy="442384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400"/>
                </a:lnSpc>
              </a:pPr>
              <a:r>
                <a:rPr lang="en-US" sz="4500" b="true">
                  <a:solidFill>
                    <a:srgbClr val="222222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Match คืออะไร (Concept)</a:t>
              </a:r>
            </a:p>
          </p:txBody>
        </p:sp>
      </p:grpSp>
      <p:sp>
        <p:nvSpPr>
          <p:cNvPr name="TextBox 10" id="10"/>
          <p:cNvSpPr txBox="true"/>
          <p:nvPr/>
        </p:nvSpPr>
        <p:spPr>
          <a:xfrm rot="0">
            <a:off x="685800" y="2423160"/>
            <a:ext cx="7680960" cy="3028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07194" indent="-203597" lvl="1">
              <a:lnSpc>
                <a:spcPts val="3375"/>
              </a:lnSpc>
              <a:buFont typeface="Arial"/>
              <a:buChar char="•"/>
            </a:pPr>
            <a:r>
              <a:rPr lang="en-US" sz="2250">
                <a:solidFill>
                  <a:srgbClr val="222222"/>
                </a:solidFill>
                <a:latin typeface="Calibri (MS)"/>
                <a:ea typeface="Calibri (MS)"/>
                <a:cs typeface="Calibri (MS)"/>
                <a:sym typeface="Calibri (MS)"/>
              </a:rPr>
              <a:t>control flow construct ใช้ในการเปรียบเทียบ variant ของข้อมูลชนิด enum</a:t>
            </a:r>
          </a:p>
          <a:p>
            <a:pPr algn="l" marL="407194" indent="-203597" lvl="1">
              <a:lnSpc>
                <a:spcPts val="3375"/>
              </a:lnSpc>
              <a:buFont typeface="Arial"/>
              <a:buChar char="•"/>
            </a:pPr>
            <a:r>
              <a:rPr lang="en-US" sz="2250">
                <a:solidFill>
                  <a:srgbClr val="222222"/>
                </a:solidFill>
                <a:latin typeface="Calibri (MS)"/>
                <a:ea typeface="Calibri (MS)"/>
                <a:cs typeface="Calibri (MS)"/>
                <a:sym typeface="Calibri (MS)"/>
              </a:rPr>
              <a:t>ตรวจสอบผลลัพธ์เป็น variant ของข้อมูล enum ใด และการดำเนินการจะแยกแต่ละกรณีออกจากกัน</a:t>
            </a:r>
          </a:p>
          <a:p>
            <a:pPr algn="l" marL="407194" indent="-203597" lvl="1">
              <a:lnSpc>
                <a:spcPts val="3375"/>
              </a:lnSpc>
              <a:buFont typeface="Arial"/>
              <a:buChar char="•"/>
            </a:pPr>
            <a:r>
              <a:rPr lang="en-US" sz="2250">
                <a:solidFill>
                  <a:srgbClr val="222222"/>
                </a:solidFill>
                <a:latin typeface="Calibri (MS)"/>
                <a:ea typeface="Calibri (MS)"/>
                <a:cs typeface="Calibri (MS)"/>
                <a:sym typeface="Calibri (MS)"/>
              </a:rPr>
              <a:t>ใช้กำหนดการทำงานตามผลลัพธ์ที่ได้เปรียบเทียบ</a:t>
            </a:r>
          </a:p>
          <a:p>
            <a:pPr algn="l" marL="407194" indent="-203597" lvl="1">
              <a:lnSpc>
                <a:spcPts val="3375"/>
              </a:lnSpc>
              <a:buFont typeface="Arial"/>
              <a:buChar char="•"/>
            </a:pPr>
            <a:r>
              <a:rPr lang="en-US" sz="2250">
                <a:solidFill>
                  <a:srgbClr val="222222"/>
                </a:solidFill>
                <a:latin typeface="Calibri (MS)"/>
                <a:ea typeface="Calibri (MS)"/>
                <a:cs typeface="Calibri (MS)"/>
                <a:sym typeface="Calibri (MS)"/>
              </a:rPr>
              <a:t>ใช้ช่วยกำหนดการทำงานสำหรับเหตุการณ์ต่างๆที่อาจเกิดขึ้นได้</a:t>
            </a:r>
          </a:p>
          <a:p>
            <a:pPr algn="l">
              <a:lnSpc>
                <a:spcPts val="3375"/>
              </a:lnSpc>
            </a:pPr>
          </a:p>
        </p:txBody>
      </p:sp>
      <p:grpSp>
        <p:nvGrpSpPr>
          <p:cNvPr name="Group 11" id="11"/>
          <p:cNvGrpSpPr/>
          <p:nvPr/>
        </p:nvGrpSpPr>
        <p:grpSpPr>
          <a:xfrm rot="0">
            <a:off x="8780526" y="1582136"/>
            <a:ext cx="9220901" cy="4078435"/>
            <a:chOff x="0" y="0"/>
            <a:chExt cx="12294535" cy="5437914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2294536" cy="5437914"/>
            </a:xfrm>
            <a:custGeom>
              <a:avLst/>
              <a:gdLst/>
              <a:ahLst/>
              <a:cxnLst/>
              <a:rect r="r" b="b" t="t" l="l"/>
              <a:pathLst>
                <a:path h="5437914" w="12294536">
                  <a:moveTo>
                    <a:pt x="0" y="125490"/>
                  </a:moveTo>
                  <a:cubicBezTo>
                    <a:pt x="0" y="56209"/>
                    <a:pt x="51387" y="0"/>
                    <a:pt x="114723" y="0"/>
                  </a:cubicBezTo>
                  <a:lnTo>
                    <a:pt x="12179812" y="0"/>
                  </a:lnTo>
                  <a:cubicBezTo>
                    <a:pt x="12243149" y="0"/>
                    <a:pt x="12294536" y="56209"/>
                    <a:pt x="12294536" y="125490"/>
                  </a:cubicBezTo>
                  <a:lnTo>
                    <a:pt x="12294536" y="5312424"/>
                  </a:lnTo>
                  <a:cubicBezTo>
                    <a:pt x="12294536" y="5381704"/>
                    <a:pt x="12243149" y="5437914"/>
                    <a:pt x="12179812" y="5437914"/>
                  </a:cubicBezTo>
                  <a:lnTo>
                    <a:pt x="114723" y="5437914"/>
                  </a:lnTo>
                  <a:cubicBezTo>
                    <a:pt x="51387" y="5437914"/>
                    <a:pt x="0" y="5381704"/>
                    <a:pt x="0" y="5312424"/>
                  </a:cubicBezTo>
                  <a:close/>
                </a:path>
              </a:pathLst>
            </a:custGeom>
            <a:solidFill>
              <a:srgbClr val="1E1E1E"/>
            </a:solidFill>
          </p:spPr>
        </p:sp>
      </p:grpSp>
      <p:sp>
        <p:nvSpPr>
          <p:cNvPr name="TextBox 13" id="13"/>
          <p:cNvSpPr txBox="true"/>
          <p:nvPr/>
        </p:nvSpPr>
        <p:spPr>
          <a:xfrm rot="0">
            <a:off x="8991408" y="1797506"/>
            <a:ext cx="9296592" cy="36095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97"/>
              </a:lnSpc>
            </a:pPr>
            <a:r>
              <a:rPr lang="en-US" sz="2100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  <a:t>fn main() {</a:t>
            </a:r>
          </a:p>
          <a:p>
            <a:pPr algn="l">
              <a:lnSpc>
                <a:spcPts val="2897"/>
              </a:lnSpc>
            </a:pPr>
            <a:r>
              <a:rPr lang="en-US" sz="2100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  <a:t>   let variant: Result&lt;String, String&gt; = </a:t>
            </a:r>
          </a:p>
          <a:p>
            <a:pPr algn="l">
              <a:lnSpc>
                <a:spcPts val="2897"/>
              </a:lnSpc>
            </a:pPr>
            <a:r>
              <a:rPr lang="en-US" sz="2100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  <a:t>   Result::Ok("hello world!".to_string());</a:t>
            </a:r>
          </a:p>
          <a:p>
            <a:pPr algn="l">
              <a:lnSpc>
                <a:spcPts val="2897"/>
              </a:lnSpc>
            </a:pPr>
          </a:p>
          <a:p>
            <a:pPr algn="l">
              <a:lnSpc>
                <a:spcPts val="2897"/>
              </a:lnSpc>
            </a:pPr>
            <a:r>
              <a:rPr lang="en-US" sz="2100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  <a:t>   match variant {</a:t>
            </a:r>
          </a:p>
          <a:p>
            <a:pPr algn="l">
              <a:lnSpc>
                <a:spcPts val="2897"/>
              </a:lnSpc>
            </a:pPr>
            <a:r>
              <a:rPr lang="en-US" sz="2100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  <a:t>      Ok(value) =&gt; println!("Result: {value}"),</a:t>
            </a:r>
          </a:p>
          <a:p>
            <a:pPr algn="l">
              <a:lnSpc>
                <a:spcPts val="2897"/>
              </a:lnSpc>
            </a:pPr>
            <a:r>
              <a:rPr lang="en-US" sz="2100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  <a:t>      Err(_error) =&gt; println!("Error: something wrong"),</a:t>
            </a:r>
          </a:p>
          <a:p>
            <a:pPr algn="l">
              <a:lnSpc>
                <a:spcPts val="2897"/>
              </a:lnSpc>
            </a:pPr>
            <a:r>
              <a:rPr lang="en-US" sz="2100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  <a:t> }</a:t>
            </a:r>
          </a:p>
          <a:p>
            <a:pPr algn="l">
              <a:lnSpc>
                <a:spcPts val="2897"/>
              </a:lnSpc>
            </a:pPr>
            <a:r>
              <a:rPr lang="en-US" sz="2100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</a:p>
          <a:p>
            <a:pPr algn="l">
              <a:lnSpc>
                <a:spcPts val="2897"/>
              </a:lnSpc>
            </a:pPr>
          </a:p>
        </p:txBody>
      </p:sp>
      <p:grpSp>
        <p:nvGrpSpPr>
          <p:cNvPr name="Group 14" id="14"/>
          <p:cNvGrpSpPr/>
          <p:nvPr/>
        </p:nvGrpSpPr>
        <p:grpSpPr>
          <a:xfrm rot="0">
            <a:off x="8778240" y="6309360"/>
            <a:ext cx="8819388" cy="411480"/>
            <a:chOff x="0" y="0"/>
            <a:chExt cx="11759184" cy="54864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1759184" cy="548640"/>
            </a:xfrm>
            <a:custGeom>
              <a:avLst/>
              <a:gdLst/>
              <a:ahLst/>
              <a:cxnLst/>
              <a:rect r="r" b="b" t="t" l="l"/>
              <a:pathLst>
                <a:path h="548640" w="11759184">
                  <a:moveTo>
                    <a:pt x="0" y="0"/>
                  </a:moveTo>
                  <a:lnTo>
                    <a:pt x="11759184" y="0"/>
                  </a:lnTo>
                  <a:lnTo>
                    <a:pt x="11759184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67629" r="0" b="-367629"/>
              </a:stretch>
            </a:blip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38100"/>
              <a:ext cx="11759184" cy="5867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 b="true">
                  <a:solidFill>
                    <a:srgbClr val="6B6B6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ผลลัพธ์ที่คาดหวัง (Expected Output)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8778240" y="6789420"/>
            <a:ext cx="8819388" cy="844187"/>
            <a:chOff x="0" y="0"/>
            <a:chExt cx="11759184" cy="1125582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1759185" cy="1125582"/>
            </a:xfrm>
            <a:custGeom>
              <a:avLst/>
              <a:gdLst/>
              <a:ahLst/>
              <a:cxnLst/>
              <a:rect r="r" b="b" t="t" l="l"/>
              <a:pathLst>
                <a:path h="1125582" w="11759185">
                  <a:moveTo>
                    <a:pt x="0" y="61395"/>
                  </a:moveTo>
                  <a:cubicBezTo>
                    <a:pt x="0" y="27500"/>
                    <a:pt x="49149" y="0"/>
                    <a:pt x="109728" y="0"/>
                  </a:cubicBezTo>
                  <a:lnTo>
                    <a:pt x="11649456" y="0"/>
                  </a:lnTo>
                  <a:cubicBezTo>
                    <a:pt x="11710036" y="0"/>
                    <a:pt x="11759185" y="27500"/>
                    <a:pt x="11759185" y="61395"/>
                  </a:cubicBezTo>
                  <a:lnTo>
                    <a:pt x="11759185" y="1064187"/>
                  </a:lnTo>
                  <a:cubicBezTo>
                    <a:pt x="11759185" y="1098082"/>
                    <a:pt x="11710036" y="1125582"/>
                    <a:pt x="11649456" y="1125582"/>
                  </a:cubicBezTo>
                  <a:lnTo>
                    <a:pt x="109728" y="1125582"/>
                  </a:lnTo>
                  <a:cubicBezTo>
                    <a:pt x="49149" y="1125582"/>
                    <a:pt x="0" y="1098082"/>
                    <a:pt x="0" y="1064187"/>
                  </a:cubicBezTo>
                  <a:close/>
                </a:path>
              </a:pathLst>
            </a:custGeom>
            <a:solidFill>
              <a:srgbClr val="1E1E1E"/>
            </a:solidFill>
          </p:spPr>
        </p:sp>
      </p:grpSp>
      <p:sp>
        <p:nvSpPr>
          <p:cNvPr name="TextBox 19" id="19"/>
          <p:cNvSpPr txBox="true"/>
          <p:nvPr/>
        </p:nvSpPr>
        <p:spPr>
          <a:xfrm rot="0">
            <a:off x="9121140" y="6998208"/>
            <a:ext cx="8133588" cy="3268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90"/>
              </a:lnSpc>
            </a:pPr>
            <a:r>
              <a:rPr lang="en-US" sz="1950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  <a:t>Result: hello world!</a:t>
            </a:r>
          </a:p>
        </p:txBody>
      </p:sp>
      <p:grpSp>
        <p:nvGrpSpPr>
          <p:cNvPr name="Group 20" id="20"/>
          <p:cNvGrpSpPr/>
          <p:nvPr/>
        </p:nvGrpSpPr>
        <p:grpSpPr>
          <a:xfrm rot="0">
            <a:off x="685800" y="9710928"/>
            <a:ext cx="10972800" cy="411480"/>
            <a:chOff x="0" y="0"/>
            <a:chExt cx="14630400" cy="54864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14630400" cy="548640"/>
            </a:xfrm>
            <a:custGeom>
              <a:avLst/>
              <a:gdLst/>
              <a:ahLst/>
              <a:cxnLst/>
              <a:rect r="r" b="b" t="t" l="l"/>
              <a:pathLst>
                <a:path h="548640" w="14630400">
                  <a:moveTo>
                    <a:pt x="0" y="0"/>
                  </a:moveTo>
                  <a:lnTo>
                    <a:pt x="14630400" y="0"/>
                  </a:lnTo>
                  <a:lnTo>
                    <a:pt x="146304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69601" r="0" b="-469601"/>
              </a:stretch>
            </a:blip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38100"/>
              <a:ext cx="14630400" cy="5867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00"/>
                </a:lnSpc>
              </a:pPr>
              <a:r>
                <a:rPr lang="en-US" sz="1500">
                  <a:solidFill>
                    <a:srgbClr val="6B6B6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517321 Principles of Programming Languages — Rust Tutorial</a:t>
              </a: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16911828" y="9710928"/>
            <a:ext cx="685800" cy="411480"/>
            <a:chOff x="0" y="0"/>
            <a:chExt cx="914400" cy="54864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914400" cy="548640"/>
            </a:xfrm>
            <a:custGeom>
              <a:avLst/>
              <a:gdLst/>
              <a:ahLst/>
              <a:cxnLst/>
              <a:rect r="r" b="b" t="t" l="l"/>
              <a:pathLst>
                <a:path h="548640" w="914400">
                  <a:moveTo>
                    <a:pt x="0" y="0"/>
                  </a:moveTo>
                  <a:lnTo>
                    <a:pt x="914400" y="0"/>
                  </a:lnTo>
                  <a:lnTo>
                    <a:pt x="9144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26982" t="0" r="-26982" b="0"/>
              </a:stretch>
            </a:blipFill>
          </p:spPr>
        </p:sp>
        <p:sp>
          <p:nvSpPr>
            <p:cNvPr name="TextBox 25" id="25"/>
            <p:cNvSpPr txBox="true"/>
            <p:nvPr/>
          </p:nvSpPr>
          <p:spPr>
            <a:xfrm>
              <a:off x="0" y="-38100"/>
              <a:ext cx="914400" cy="5867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800"/>
                </a:lnSpc>
              </a:pPr>
              <a:r>
                <a:rPr lang="en-US" sz="1500">
                  <a:solidFill>
                    <a:srgbClr val="6B6B6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3</a:t>
              </a:r>
            </a:p>
          </p:txBody>
        </p:sp>
      </p:grpSp>
    </p:spTree>
  </p:cSld>
  <p:clrMapOvr>
    <a:masterClrMapping/>
  </p:clrMapOvr>
  <p:transition spd="fast">
    <p:wipe dir="l"/>
  </p:transition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685800" y="617220"/>
            <a:ext cx="4114800" cy="576072"/>
            <a:chOff x="0" y="0"/>
            <a:chExt cx="5486400" cy="76809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5486400" cy="768096"/>
            </a:xfrm>
            <a:custGeom>
              <a:avLst/>
              <a:gdLst/>
              <a:ahLst/>
              <a:cxnLst/>
              <a:rect r="r" b="b" t="t" l="l"/>
              <a:pathLst>
                <a:path h="768096" w="5486400">
                  <a:moveTo>
                    <a:pt x="0" y="146304"/>
                  </a:moveTo>
                  <a:cubicBezTo>
                    <a:pt x="0" y="65532"/>
                    <a:pt x="65532" y="0"/>
                    <a:pt x="146304" y="0"/>
                  </a:cubicBezTo>
                  <a:lnTo>
                    <a:pt x="5340096" y="0"/>
                  </a:lnTo>
                  <a:cubicBezTo>
                    <a:pt x="5420868" y="0"/>
                    <a:pt x="5486400" y="65532"/>
                    <a:pt x="5486400" y="146304"/>
                  </a:cubicBezTo>
                  <a:lnTo>
                    <a:pt x="5486400" y="621792"/>
                  </a:lnTo>
                  <a:cubicBezTo>
                    <a:pt x="5486400" y="702564"/>
                    <a:pt x="5420868" y="768096"/>
                    <a:pt x="5340096" y="768096"/>
                  </a:cubicBezTo>
                  <a:lnTo>
                    <a:pt x="146304" y="768096"/>
                  </a:lnTo>
                  <a:cubicBezTo>
                    <a:pt x="65532" y="768096"/>
                    <a:pt x="0" y="702564"/>
                    <a:pt x="0" y="621792"/>
                  </a:cubicBezTo>
                  <a:close/>
                </a:path>
              </a:pathLst>
            </a:custGeom>
            <a:solidFill>
              <a:srgbClr val="8B2E2E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685800" y="617220"/>
            <a:ext cx="4114800" cy="576072"/>
            <a:chOff x="0" y="0"/>
            <a:chExt cx="5486400" cy="768096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5486400" cy="768096"/>
            </a:xfrm>
            <a:custGeom>
              <a:avLst/>
              <a:gdLst/>
              <a:ahLst/>
              <a:cxnLst/>
              <a:rect r="r" b="b" t="t" l="l"/>
              <a:pathLst>
                <a:path h="768096" w="5486400">
                  <a:moveTo>
                    <a:pt x="0" y="0"/>
                  </a:moveTo>
                  <a:lnTo>
                    <a:pt x="5486400" y="0"/>
                  </a:lnTo>
                  <a:lnTo>
                    <a:pt x="5486400" y="768096"/>
                  </a:lnTo>
                  <a:lnTo>
                    <a:pt x="0" y="76809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9178" r="0" b="-89178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-47625"/>
              <a:ext cx="5486400" cy="81572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340"/>
                </a:lnSpc>
              </a:pPr>
              <a:r>
                <a:rPr lang="en-US" sz="195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PART 1 · MEMBER 1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688086" y="221795"/>
            <a:ext cx="16911828" cy="3303594"/>
            <a:chOff x="0" y="0"/>
            <a:chExt cx="22549104" cy="4404792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2549104" cy="4404792"/>
            </a:xfrm>
            <a:custGeom>
              <a:avLst/>
              <a:gdLst/>
              <a:ahLst/>
              <a:cxnLst/>
              <a:rect r="r" b="b" t="t" l="l"/>
              <a:pathLst>
                <a:path h="4404792" w="22549104">
                  <a:moveTo>
                    <a:pt x="0" y="0"/>
                  </a:moveTo>
                  <a:lnTo>
                    <a:pt x="22549104" y="0"/>
                  </a:lnTo>
                  <a:lnTo>
                    <a:pt x="22549104" y="4404792"/>
                  </a:lnTo>
                  <a:lnTo>
                    <a:pt x="0" y="44047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5216" r="0" b="-14279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>
              <a:off x="0" y="-19050"/>
              <a:ext cx="22549104" cy="442384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400"/>
                </a:lnSpc>
              </a:pPr>
              <a:r>
                <a:rPr lang="en-US" sz="4500" b="true">
                  <a:solidFill>
                    <a:srgbClr val="222222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Option คืออะไร (Concept)</a:t>
              </a:r>
            </a:p>
          </p:txBody>
        </p:sp>
      </p:grpSp>
      <p:sp>
        <p:nvSpPr>
          <p:cNvPr name="TextBox 10" id="10"/>
          <p:cNvSpPr txBox="true"/>
          <p:nvPr/>
        </p:nvSpPr>
        <p:spPr>
          <a:xfrm rot="0">
            <a:off x="685800" y="2423160"/>
            <a:ext cx="7819413" cy="2600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07194" indent="-203597" lvl="1">
              <a:lnSpc>
                <a:spcPts val="3375"/>
              </a:lnSpc>
              <a:buFont typeface="Arial"/>
              <a:buChar char="•"/>
            </a:pPr>
            <a:r>
              <a:rPr lang="en-US" sz="2250">
                <a:solidFill>
                  <a:srgbClr val="222222"/>
                </a:solidFill>
                <a:latin typeface="Calibri (MS)"/>
                <a:ea typeface="Calibri (MS)"/>
                <a:cs typeface="Calibri (MS)"/>
                <a:sym typeface="Calibri (MS)"/>
              </a:rPr>
              <a:t>Option เป็นข้</a:t>
            </a:r>
            <a:r>
              <a:rPr lang="en-US" sz="2250">
                <a:solidFill>
                  <a:srgbClr val="222222"/>
                </a:solidFill>
                <a:latin typeface="Calibri (MS)"/>
                <a:ea typeface="Calibri (MS)"/>
                <a:cs typeface="Calibri (MS)"/>
                <a:sym typeface="Calibri (MS)"/>
              </a:rPr>
              <a:t>อมูลชนิด enum ใช้แทนที่ค่าที่อาจมีหรือไม่มีอยู่ โดยมีSome(T) แทนการมีค่า และ None แทนการไม่มีค่า</a:t>
            </a:r>
          </a:p>
          <a:p>
            <a:pPr algn="l" marL="407194" indent="-203597" lvl="1">
              <a:lnSpc>
                <a:spcPts val="3375"/>
              </a:lnSpc>
              <a:buFont typeface="Arial"/>
              <a:buChar char="•"/>
            </a:pPr>
            <a:r>
              <a:rPr lang="en-US" sz="2250">
                <a:solidFill>
                  <a:srgbClr val="222222"/>
                </a:solidFill>
                <a:latin typeface="Calibri (MS)"/>
                <a:ea typeface="Calibri (MS)"/>
                <a:cs typeface="Calibri (MS)"/>
                <a:sym typeface="Calibri (MS)"/>
              </a:rPr>
              <a:t>Rust ให้ผลลัพธ์ชนิด Option ระบุไว้ชัดเจนว่า มีค่าที่ต้องการหรือไม่มี </a:t>
            </a:r>
          </a:p>
          <a:p>
            <a:pPr algn="l" marL="407194" indent="-203597" lvl="1">
              <a:lnSpc>
                <a:spcPts val="3375"/>
              </a:lnSpc>
              <a:buFont typeface="Arial"/>
              <a:buChar char="•"/>
            </a:pPr>
            <a:r>
              <a:rPr lang="en-US" sz="2250">
                <a:solidFill>
                  <a:srgbClr val="222222"/>
                </a:solidFill>
                <a:latin typeface="Calibri (MS)"/>
                <a:ea typeface="Calibri (MS)"/>
                <a:cs typeface="Calibri (MS)"/>
                <a:sym typeface="Calibri (MS)"/>
              </a:rPr>
              <a:t>ช่วยให้แบ่งแยกการทำงานได้อย่างชัดเจนเมื่อไม่สามารถหาค่าที่ต้องการได้</a:t>
            </a:r>
          </a:p>
          <a:p>
            <a:pPr algn="l" marL="407194" indent="-203597" lvl="1">
              <a:lnSpc>
                <a:spcPts val="3375"/>
              </a:lnSpc>
              <a:buFont typeface="Arial"/>
              <a:buChar char="•"/>
            </a:pPr>
            <a:r>
              <a:rPr lang="en-US" sz="2250">
                <a:solidFill>
                  <a:srgbClr val="222222"/>
                </a:solidFill>
                <a:latin typeface="Calibri (MS)"/>
                <a:ea typeface="Calibri (MS)"/>
                <a:cs typeface="Calibri (MS)"/>
                <a:sym typeface="Calibri (MS)"/>
              </a:rPr>
              <a:t>Option จะใช้ในกรณีที่ ผลลัพธ์ต้องรับมือการไม่มีค่าส่งกลับมา</a:t>
            </a:r>
          </a:p>
        </p:txBody>
      </p:sp>
      <p:grpSp>
        <p:nvGrpSpPr>
          <p:cNvPr name="Group 11" id="11"/>
          <p:cNvGrpSpPr/>
          <p:nvPr/>
        </p:nvGrpSpPr>
        <p:grpSpPr>
          <a:xfrm rot="0">
            <a:off x="9144000" y="1193292"/>
            <a:ext cx="8819388" cy="5473781"/>
            <a:chOff x="0" y="0"/>
            <a:chExt cx="11759184" cy="7298375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1759185" cy="7298375"/>
            </a:xfrm>
            <a:custGeom>
              <a:avLst/>
              <a:gdLst/>
              <a:ahLst/>
              <a:cxnLst/>
              <a:rect r="r" b="b" t="t" l="l"/>
              <a:pathLst>
                <a:path h="7298375" w="11759185">
                  <a:moveTo>
                    <a:pt x="0" y="168424"/>
                  </a:moveTo>
                  <a:cubicBezTo>
                    <a:pt x="0" y="75440"/>
                    <a:pt x="49149" y="0"/>
                    <a:pt x="109728" y="0"/>
                  </a:cubicBezTo>
                  <a:lnTo>
                    <a:pt x="11649456" y="0"/>
                  </a:lnTo>
                  <a:cubicBezTo>
                    <a:pt x="11710036" y="0"/>
                    <a:pt x="11759185" y="75440"/>
                    <a:pt x="11759185" y="168424"/>
                  </a:cubicBezTo>
                  <a:lnTo>
                    <a:pt x="11759185" y="7129951"/>
                  </a:lnTo>
                  <a:cubicBezTo>
                    <a:pt x="11759185" y="7222935"/>
                    <a:pt x="11710036" y="7298375"/>
                    <a:pt x="11649456" y="7298375"/>
                  </a:cubicBezTo>
                  <a:lnTo>
                    <a:pt x="109728" y="7298375"/>
                  </a:lnTo>
                  <a:cubicBezTo>
                    <a:pt x="49149" y="7298375"/>
                    <a:pt x="0" y="7222935"/>
                    <a:pt x="0" y="7129951"/>
                  </a:cubicBezTo>
                  <a:close/>
                </a:path>
              </a:pathLst>
            </a:custGeom>
            <a:solidFill>
              <a:srgbClr val="1E1E1E"/>
            </a:solidFill>
          </p:spPr>
        </p:sp>
      </p:grpSp>
      <p:sp>
        <p:nvSpPr>
          <p:cNvPr name="TextBox 13" id="13"/>
          <p:cNvSpPr txBox="true"/>
          <p:nvPr/>
        </p:nvSpPr>
        <p:spPr>
          <a:xfrm rot="0">
            <a:off x="9486900" y="1402080"/>
            <a:ext cx="8184663" cy="54193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97"/>
              </a:lnSpc>
            </a:pPr>
            <a:r>
              <a:rPr lang="en-US" sz="2100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  <a:t>fn get_user(id: u32) -&gt; Option&lt;String&gt; {</a:t>
            </a:r>
          </a:p>
          <a:p>
            <a:pPr algn="l">
              <a:lnSpc>
                <a:spcPts val="2897"/>
              </a:lnSpc>
            </a:pPr>
            <a:r>
              <a:rPr lang="en-US" sz="2100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  <a:t>  if id == 1 {</a:t>
            </a:r>
          </a:p>
          <a:p>
            <a:pPr algn="l">
              <a:lnSpc>
                <a:spcPts val="2897"/>
              </a:lnSpc>
            </a:pPr>
            <a:r>
              <a:rPr lang="en-US" sz="2100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  <a:t>  return Some("John".to_string());</a:t>
            </a:r>
          </a:p>
          <a:p>
            <a:pPr algn="l">
              <a:lnSpc>
                <a:spcPts val="2897"/>
              </a:lnSpc>
            </a:pPr>
            <a:r>
              <a:rPr lang="en-US" sz="2100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  <a:t>     } else {</a:t>
            </a:r>
          </a:p>
          <a:p>
            <a:pPr algn="l">
              <a:lnSpc>
                <a:spcPts val="2897"/>
              </a:lnSpc>
            </a:pPr>
            <a:r>
              <a:rPr lang="en-US" sz="2100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  <a:t>     return None;</a:t>
            </a:r>
          </a:p>
          <a:p>
            <a:pPr algn="l">
              <a:lnSpc>
                <a:spcPts val="2897"/>
              </a:lnSpc>
            </a:pPr>
            <a:r>
              <a:rPr lang="en-US" sz="2100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  <a:t>  }</a:t>
            </a:r>
          </a:p>
          <a:p>
            <a:pPr algn="l">
              <a:lnSpc>
                <a:spcPts val="2897"/>
              </a:lnSpc>
            </a:pPr>
            <a:r>
              <a:rPr lang="en-US" sz="2100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</a:p>
          <a:p>
            <a:pPr algn="l">
              <a:lnSpc>
                <a:spcPts val="2897"/>
              </a:lnSpc>
            </a:pPr>
          </a:p>
          <a:p>
            <a:pPr algn="l">
              <a:lnSpc>
                <a:spcPts val="2897"/>
              </a:lnSpc>
            </a:pPr>
            <a:r>
              <a:rPr lang="en-US" sz="2100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  <a:t>fn main() {</a:t>
            </a:r>
          </a:p>
          <a:p>
            <a:pPr algn="l">
              <a:lnSpc>
                <a:spcPts val="2897"/>
              </a:lnSpc>
            </a:pPr>
            <a:r>
              <a:rPr lang="en-US" sz="2100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  <a:t>  match get_user(1) {</a:t>
            </a:r>
          </a:p>
          <a:p>
            <a:pPr algn="l">
              <a:lnSpc>
                <a:spcPts val="2897"/>
              </a:lnSpc>
            </a:pPr>
            <a:r>
              <a:rPr lang="en-US" sz="2100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  <a:t>     Some(value) =&gt; println!("{value}"),</a:t>
            </a:r>
          </a:p>
          <a:p>
            <a:pPr algn="l">
              <a:lnSpc>
                <a:spcPts val="2897"/>
              </a:lnSpc>
            </a:pPr>
            <a:r>
              <a:rPr lang="en-US" sz="2100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  <a:t>     None =&gt; println!("{}","Not found!"),</a:t>
            </a:r>
          </a:p>
          <a:p>
            <a:pPr algn="l">
              <a:lnSpc>
                <a:spcPts val="2897"/>
              </a:lnSpc>
            </a:pPr>
            <a:r>
              <a:rPr lang="en-US" sz="2100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  <a:t>  }</a:t>
            </a:r>
          </a:p>
          <a:p>
            <a:pPr algn="l">
              <a:lnSpc>
                <a:spcPts val="2897"/>
              </a:lnSpc>
            </a:pPr>
            <a:r>
              <a:rPr lang="en-US" sz="2100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</a:p>
          <a:p>
            <a:pPr algn="l">
              <a:lnSpc>
                <a:spcPts val="2897"/>
              </a:lnSpc>
            </a:pPr>
          </a:p>
        </p:txBody>
      </p:sp>
      <p:grpSp>
        <p:nvGrpSpPr>
          <p:cNvPr name="Group 14" id="14"/>
          <p:cNvGrpSpPr/>
          <p:nvPr/>
        </p:nvGrpSpPr>
        <p:grpSpPr>
          <a:xfrm rot="0">
            <a:off x="9169537" y="6945609"/>
            <a:ext cx="8819388" cy="411480"/>
            <a:chOff x="0" y="0"/>
            <a:chExt cx="11759184" cy="54864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1759184" cy="548640"/>
            </a:xfrm>
            <a:custGeom>
              <a:avLst/>
              <a:gdLst/>
              <a:ahLst/>
              <a:cxnLst/>
              <a:rect r="r" b="b" t="t" l="l"/>
              <a:pathLst>
                <a:path h="548640" w="11759184">
                  <a:moveTo>
                    <a:pt x="0" y="0"/>
                  </a:moveTo>
                  <a:lnTo>
                    <a:pt x="11759184" y="0"/>
                  </a:lnTo>
                  <a:lnTo>
                    <a:pt x="11759184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67629" r="0" b="-367629"/>
              </a:stretch>
            </a:blip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38100"/>
              <a:ext cx="11759184" cy="5867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 b="true">
                  <a:solidFill>
                    <a:srgbClr val="6B6B6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ผลลัพธ์ที่คาดหวัง (Expected Output)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9169537" y="7425669"/>
            <a:ext cx="8819388" cy="747270"/>
            <a:chOff x="0" y="0"/>
            <a:chExt cx="11759184" cy="996359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1759185" cy="996359"/>
            </a:xfrm>
            <a:custGeom>
              <a:avLst/>
              <a:gdLst/>
              <a:ahLst/>
              <a:cxnLst/>
              <a:rect r="r" b="b" t="t" l="l"/>
              <a:pathLst>
                <a:path h="996359" w="11759185">
                  <a:moveTo>
                    <a:pt x="0" y="54347"/>
                  </a:moveTo>
                  <a:cubicBezTo>
                    <a:pt x="0" y="24343"/>
                    <a:pt x="49149" y="0"/>
                    <a:pt x="109728" y="0"/>
                  </a:cubicBezTo>
                  <a:lnTo>
                    <a:pt x="11649456" y="0"/>
                  </a:lnTo>
                  <a:cubicBezTo>
                    <a:pt x="11710036" y="0"/>
                    <a:pt x="11759185" y="24343"/>
                    <a:pt x="11759185" y="54347"/>
                  </a:cubicBezTo>
                  <a:lnTo>
                    <a:pt x="11759185" y="942012"/>
                  </a:lnTo>
                  <a:cubicBezTo>
                    <a:pt x="11759185" y="972017"/>
                    <a:pt x="11710036" y="996359"/>
                    <a:pt x="11649456" y="996359"/>
                  </a:cubicBezTo>
                  <a:lnTo>
                    <a:pt x="109728" y="996359"/>
                  </a:lnTo>
                  <a:cubicBezTo>
                    <a:pt x="49149" y="996359"/>
                    <a:pt x="0" y="972017"/>
                    <a:pt x="0" y="942012"/>
                  </a:cubicBezTo>
                  <a:close/>
                </a:path>
              </a:pathLst>
            </a:custGeom>
            <a:solidFill>
              <a:srgbClr val="1E1E1E"/>
            </a:solidFill>
          </p:spPr>
        </p:sp>
      </p:grpSp>
      <p:sp>
        <p:nvSpPr>
          <p:cNvPr name="TextBox 19" id="19"/>
          <p:cNvSpPr txBox="true"/>
          <p:nvPr/>
        </p:nvSpPr>
        <p:spPr>
          <a:xfrm rot="0">
            <a:off x="9512437" y="7634457"/>
            <a:ext cx="8133588" cy="3268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90"/>
              </a:lnSpc>
            </a:pPr>
            <a:r>
              <a:rPr lang="en-US" sz="1950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  <a:t>John</a:t>
            </a:r>
          </a:p>
        </p:txBody>
      </p:sp>
      <p:grpSp>
        <p:nvGrpSpPr>
          <p:cNvPr name="Group 20" id="20"/>
          <p:cNvGrpSpPr/>
          <p:nvPr/>
        </p:nvGrpSpPr>
        <p:grpSpPr>
          <a:xfrm rot="0">
            <a:off x="685800" y="9710928"/>
            <a:ext cx="10972800" cy="411480"/>
            <a:chOff x="0" y="0"/>
            <a:chExt cx="14630400" cy="54864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14630400" cy="548640"/>
            </a:xfrm>
            <a:custGeom>
              <a:avLst/>
              <a:gdLst/>
              <a:ahLst/>
              <a:cxnLst/>
              <a:rect r="r" b="b" t="t" l="l"/>
              <a:pathLst>
                <a:path h="548640" w="14630400">
                  <a:moveTo>
                    <a:pt x="0" y="0"/>
                  </a:moveTo>
                  <a:lnTo>
                    <a:pt x="14630400" y="0"/>
                  </a:lnTo>
                  <a:lnTo>
                    <a:pt x="146304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69601" r="0" b="-469601"/>
              </a:stretch>
            </a:blip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38100"/>
              <a:ext cx="14630400" cy="5867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00"/>
                </a:lnSpc>
              </a:pPr>
              <a:r>
                <a:rPr lang="en-US" sz="1500">
                  <a:solidFill>
                    <a:srgbClr val="6B6B6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517321 Principles of Programming Languages — Rust Tutorial</a:t>
              </a: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16911828" y="9710928"/>
            <a:ext cx="685800" cy="411480"/>
            <a:chOff x="0" y="0"/>
            <a:chExt cx="914400" cy="54864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914400" cy="548640"/>
            </a:xfrm>
            <a:custGeom>
              <a:avLst/>
              <a:gdLst/>
              <a:ahLst/>
              <a:cxnLst/>
              <a:rect r="r" b="b" t="t" l="l"/>
              <a:pathLst>
                <a:path h="548640" w="914400">
                  <a:moveTo>
                    <a:pt x="0" y="0"/>
                  </a:moveTo>
                  <a:lnTo>
                    <a:pt x="914400" y="0"/>
                  </a:lnTo>
                  <a:lnTo>
                    <a:pt x="9144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26982" t="0" r="-26982" b="0"/>
              </a:stretch>
            </a:blipFill>
          </p:spPr>
        </p:sp>
        <p:sp>
          <p:nvSpPr>
            <p:cNvPr name="TextBox 25" id="25"/>
            <p:cNvSpPr txBox="true"/>
            <p:nvPr/>
          </p:nvSpPr>
          <p:spPr>
            <a:xfrm>
              <a:off x="0" y="-38100"/>
              <a:ext cx="914400" cy="5867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800"/>
                </a:lnSpc>
              </a:pPr>
              <a:r>
                <a:rPr lang="en-US" sz="1500">
                  <a:solidFill>
                    <a:srgbClr val="6B6B6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3</a:t>
              </a:r>
            </a:p>
          </p:txBody>
        </p:sp>
      </p:grpSp>
    </p:spTree>
  </p:cSld>
  <p:clrMapOvr>
    <a:masterClrMapping/>
  </p:clrMapOvr>
  <p:transition spd="fast">
    <p:wipe dir="l"/>
  </p:transition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685800" y="617220"/>
            <a:ext cx="4114800" cy="576072"/>
            <a:chOff x="0" y="0"/>
            <a:chExt cx="5486400" cy="76809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5486400" cy="768096"/>
            </a:xfrm>
            <a:custGeom>
              <a:avLst/>
              <a:gdLst/>
              <a:ahLst/>
              <a:cxnLst/>
              <a:rect r="r" b="b" t="t" l="l"/>
              <a:pathLst>
                <a:path h="768096" w="5486400">
                  <a:moveTo>
                    <a:pt x="0" y="146304"/>
                  </a:moveTo>
                  <a:cubicBezTo>
                    <a:pt x="0" y="65532"/>
                    <a:pt x="65532" y="0"/>
                    <a:pt x="146304" y="0"/>
                  </a:cubicBezTo>
                  <a:lnTo>
                    <a:pt x="5340096" y="0"/>
                  </a:lnTo>
                  <a:cubicBezTo>
                    <a:pt x="5420868" y="0"/>
                    <a:pt x="5486400" y="65532"/>
                    <a:pt x="5486400" y="146304"/>
                  </a:cubicBezTo>
                  <a:lnTo>
                    <a:pt x="5486400" y="621792"/>
                  </a:lnTo>
                  <a:cubicBezTo>
                    <a:pt x="5486400" y="702564"/>
                    <a:pt x="5420868" y="768096"/>
                    <a:pt x="5340096" y="768096"/>
                  </a:cubicBezTo>
                  <a:lnTo>
                    <a:pt x="146304" y="768096"/>
                  </a:lnTo>
                  <a:cubicBezTo>
                    <a:pt x="65532" y="768096"/>
                    <a:pt x="0" y="702564"/>
                    <a:pt x="0" y="621792"/>
                  </a:cubicBezTo>
                  <a:close/>
                </a:path>
              </a:pathLst>
            </a:custGeom>
            <a:solidFill>
              <a:srgbClr val="8B2E2E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685800" y="617220"/>
            <a:ext cx="4114800" cy="576072"/>
            <a:chOff x="0" y="0"/>
            <a:chExt cx="5486400" cy="768096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5486400" cy="768096"/>
            </a:xfrm>
            <a:custGeom>
              <a:avLst/>
              <a:gdLst/>
              <a:ahLst/>
              <a:cxnLst/>
              <a:rect r="r" b="b" t="t" l="l"/>
              <a:pathLst>
                <a:path h="768096" w="5486400">
                  <a:moveTo>
                    <a:pt x="0" y="0"/>
                  </a:moveTo>
                  <a:lnTo>
                    <a:pt x="5486400" y="0"/>
                  </a:lnTo>
                  <a:lnTo>
                    <a:pt x="5486400" y="768096"/>
                  </a:lnTo>
                  <a:lnTo>
                    <a:pt x="0" y="76809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9178" r="0" b="-89178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-47625"/>
              <a:ext cx="5486400" cy="81572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340"/>
                </a:lnSpc>
              </a:pPr>
              <a:r>
                <a:rPr lang="en-US" sz="195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PART 1 · MEMBER 1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688086" y="221795"/>
            <a:ext cx="16911828" cy="3303594"/>
            <a:chOff x="0" y="0"/>
            <a:chExt cx="22549104" cy="4404792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2549104" cy="4404792"/>
            </a:xfrm>
            <a:custGeom>
              <a:avLst/>
              <a:gdLst/>
              <a:ahLst/>
              <a:cxnLst/>
              <a:rect r="r" b="b" t="t" l="l"/>
              <a:pathLst>
                <a:path h="4404792" w="22549104">
                  <a:moveTo>
                    <a:pt x="0" y="0"/>
                  </a:moveTo>
                  <a:lnTo>
                    <a:pt x="22549104" y="0"/>
                  </a:lnTo>
                  <a:lnTo>
                    <a:pt x="22549104" y="4404792"/>
                  </a:lnTo>
                  <a:lnTo>
                    <a:pt x="0" y="44047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5216" r="0" b="-14279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>
              <a:off x="0" y="-19050"/>
              <a:ext cx="22549104" cy="442384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400"/>
                </a:lnSpc>
              </a:pPr>
              <a:r>
                <a:rPr lang="en-US" sz="4500" b="true">
                  <a:solidFill>
                    <a:srgbClr val="222222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Result คืออะไร (Concept)</a:t>
              </a:r>
            </a:p>
          </p:txBody>
        </p:sp>
      </p:grpSp>
      <p:sp>
        <p:nvSpPr>
          <p:cNvPr name="TextBox 10" id="10"/>
          <p:cNvSpPr txBox="true"/>
          <p:nvPr/>
        </p:nvSpPr>
        <p:spPr>
          <a:xfrm rot="0">
            <a:off x="685800" y="2423160"/>
            <a:ext cx="7680960" cy="3457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07194" indent="-203597" lvl="1">
              <a:lnSpc>
                <a:spcPts val="3375"/>
              </a:lnSpc>
              <a:buFont typeface="Arial"/>
              <a:buChar char="•"/>
            </a:pPr>
            <a:r>
              <a:rPr lang="en-US" sz="2250">
                <a:solidFill>
                  <a:srgbClr val="222222"/>
                </a:solidFill>
                <a:latin typeface="Calibri (MS)"/>
                <a:ea typeface="Calibri (MS)"/>
                <a:cs typeface="Calibri (MS)"/>
                <a:sym typeface="Calibri (MS)"/>
              </a:rPr>
              <a:t>Result เป็นข้</a:t>
            </a:r>
            <a:r>
              <a:rPr lang="en-US" sz="2250">
                <a:solidFill>
                  <a:srgbClr val="222222"/>
                </a:solidFill>
                <a:latin typeface="Calibri (MS)"/>
                <a:ea typeface="Calibri (MS)"/>
                <a:cs typeface="Calibri (MS)"/>
                <a:sym typeface="Calibri (MS)"/>
              </a:rPr>
              <a:t>อมูลชนิด enum ใช้แทนที่ผลลัพธ์จากการทำงานสำเร็จหรือล้มเหลว โดยมี Ok(T) และ Err(E)</a:t>
            </a:r>
          </a:p>
          <a:p>
            <a:pPr algn="l" marL="407194" indent="-203597" lvl="1">
              <a:lnSpc>
                <a:spcPts val="3375"/>
              </a:lnSpc>
              <a:buFont typeface="Arial"/>
              <a:buChar char="•"/>
            </a:pPr>
            <a:r>
              <a:rPr lang="en-US" sz="2250">
                <a:solidFill>
                  <a:srgbClr val="222222"/>
                </a:solidFill>
                <a:latin typeface="Calibri (MS)"/>
                <a:ea typeface="Calibri (MS)"/>
                <a:cs typeface="Calibri (MS)"/>
                <a:sym typeface="Calibri (MS)"/>
              </a:rPr>
              <a:t>ผลลัพธ์ชนิด Result ระบุไว้ชัดเจนว่า ค่าที่ได้มานั้นมาจากการทำงานที่สำเร็จหรือเกิดจากความล้มเหลว </a:t>
            </a:r>
          </a:p>
          <a:p>
            <a:pPr algn="l" marL="407194" indent="-203597" lvl="1">
              <a:lnSpc>
                <a:spcPts val="3375"/>
              </a:lnSpc>
              <a:buFont typeface="Arial"/>
              <a:buChar char="•"/>
            </a:pPr>
            <a:r>
              <a:rPr lang="en-US" sz="2250">
                <a:solidFill>
                  <a:srgbClr val="222222"/>
                </a:solidFill>
                <a:latin typeface="Calibri (MS)"/>
                <a:ea typeface="Calibri (MS)"/>
                <a:cs typeface="Calibri (MS)"/>
                <a:sym typeface="Calibri (MS)"/>
              </a:rPr>
              <a:t>ช่วยให้แบ่งแยกการทำงานได้อย่างชัดเจนเมื่อค่าที่ได้คืนเกิดจาก การทำงานสำเร็จ หรือ การล้มเหลว</a:t>
            </a:r>
          </a:p>
          <a:p>
            <a:pPr algn="l" marL="407194" indent="-203597" lvl="1">
              <a:lnSpc>
                <a:spcPts val="3375"/>
              </a:lnSpc>
              <a:buFont typeface="Arial"/>
              <a:buChar char="•"/>
            </a:pPr>
            <a:r>
              <a:rPr lang="en-US" sz="2250">
                <a:solidFill>
                  <a:srgbClr val="222222"/>
                </a:solidFill>
                <a:latin typeface="Calibri (MS)"/>
                <a:ea typeface="Calibri (MS)"/>
                <a:cs typeface="Calibri (MS)"/>
                <a:sym typeface="Calibri (MS)"/>
              </a:rPr>
              <a:t>Result ใช้ในรับมือกับผลลัพธ์ที่เกิดจากความล้มเหลว เพื่อให้โปรแกรมทำงานต่อไปได้</a:t>
            </a:r>
          </a:p>
        </p:txBody>
      </p:sp>
      <p:grpSp>
        <p:nvGrpSpPr>
          <p:cNvPr name="Group 11" id="11"/>
          <p:cNvGrpSpPr/>
          <p:nvPr/>
        </p:nvGrpSpPr>
        <p:grpSpPr>
          <a:xfrm rot="0">
            <a:off x="8861312" y="1193292"/>
            <a:ext cx="8819388" cy="5451397"/>
            <a:chOff x="0" y="0"/>
            <a:chExt cx="11759184" cy="726853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1759185" cy="7268530"/>
            </a:xfrm>
            <a:custGeom>
              <a:avLst/>
              <a:gdLst/>
              <a:ahLst/>
              <a:cxnLst/>
              <a:rect r="r" b="b" t="t" l="l"/>
              <a:pathLst>
                <a:path h="7268530" w="11759185">
                  <a:moveTo>
                    <a:pt x="0" y="167735"/>
                  </a:moveTo>
                  <a:cubicBezTo>
                    <a:pt x="0" y="75131"/>
                    <a:pt x="49149" y="0"/>
                    <a:pt x="109728" y="0"/>
                  </a:cubicBezTo>
                  <a:lnTo>
                    <a:pt x="11649456" y="0"/>
                  </a:lnTo>
                  <a:cubicBezTo>
                    <a:pt x="11710036" y="0"/>
                    <a:pt x="11759185" y="75131"/>
                    <a:pt x="11759185" y="167735"/>
                  </a:cubicBezTo>
                  <a:lnTo>
                    <a:pt x="11759185" y="7100794"/>
                  </a:lnTo>
                  <a:cubicBezTo>
                    <a:pt x="11759185" y="7193398"/>
                    <a:pt x="11710036" y="7268530"/>
                    <a:pt x="11649456" y="7268530"/>
                  </a:cubicBezTo>
                  <a:lnTo>
                    <a:pt x="109728" y="7268530"/>
                  </a:lnTo>
                  <a:cubicBezTo>
                    <a:pt x="49149" y="7268530"/>
                    <a:pt x="0" y="7193398"/>
                    <a:pt x="0" y="7100794"/>
                  </a:cubicBezTo>
                  <a:close/>
                </a:path>
              </a:pathLst>
            </a:custGeom>
            <a:solidFill>
              <a:srgbClr val="1E1E1E"/>
            </a:solidFill>
          </p:spPr>
        </p:sp>
      </p:grpSp>
      <p:sp>
        <p:nvSpPr>
          <p:cNvPr name="TextBox 13" id="13"/>
          <p:cNvSpPr txBox="true"/>
          <p:nvPr/>
        </p:nvSpPr>
        <p:spPr>
          <a:xfrm rot="0">
            <a:off x="9204212" y="1402080"/>
            <a:ext cx="8138160" cy="54193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97"/>
              </a:lnSpc>
            </a:pPr>
            <a:r>
              <a:rPr lang="en-US" sz="2100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  <a:t>fn divide(a: i32,b: i32) -&gt; Result&lt;i32,String&gt; {</a:t>
            </a:r>
          </a:p>
          <a:p>
            <a:pPr algn="l">
              <a:lnSpc>
                <a:spcPts val="2897"/>
              </a:lnSpc>
            </a:pPr>
            <a:r>
              <a:rPr lang="en-US" sz="2100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  <a:t>  if b == 0 {</a:t>
            </a:r>
          </a:p>
          <a:p>
            <a:pPr algn="l">
              <a:lnSpc>
                <a:spcPts val="2897"/>
              </a:lnSpc>
            </a:pPr>
            <a:r>
              <a:rPr lang="en-US" sz="2100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  <a:t>     return Err("B can’t be zero".to_string())</a:t>
            </a:r>
          </a:p>
          <a:p>
            <a:pPr algn="l">
              <a:lnSpc>
                <a:spcPts val="2897"/>
              </a:lnSpc>
            </a:pPr>
            <a:r>
              <a:rPr lang="en-US" sz="2100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  <a:t>     } else {</a:t>
            </a:r>
          </a:p>
          <a:p>
            <a:pPr algn="l">
              <a:lnSpc>
                <a:spcPts val="2897"/>
              </a:lnSpc>
            </a:pPr>
            <a:r>
              <a:rPr lang="en-US" sz="2100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  <a:t>     return Ok(a / b);</a:t>
            </a:r>
          </a:p>
          <a:p>
            <a:pPr algn="l">
              <a:lnSpc>
                <a:spcPts val="2897"/>
              </a:lnSpc>
            </a:pPr>
            <a:r>
              <a:rPr lang="en-US" sz="2100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  <a:t>  }</a:t>
            </a:r>
          </a:p>
          <a:p>
            <a:pPr algn="l">
              <a:lnSpc>
                <a:spcPts val="2897"/>
              </a:lnSpc>
            </a:pPr>
            <a:r>
              <a:rPr lang="en-US" sz="2100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</a:p>
          <a:p>
            <a:pPr algn="l">
              <a:lnSpc>
                <a:spcPts val="2897"/>
              </a:lnSpc>
            </a:pPr>
          </a:p>
          <a:p>
            <a:pPr algn="l">
              <a:lnSpc>
                <a:spcPts val="2897"/>
              </a:lnSpc>
            </a:pPr>
            <a:r>
              <a:rPr lang="en-US" sz="2100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  <a:t>fn main() {</a:t>
            </a:r>
          </a:p>
          <a:p>
            <a:pPr algn="l">
              <a:lnSpc>
                <a:spcPts val="2897"/>
              </a:lnSpc>
            </a:pPr>
            <a:r>
              <a:rPr lang="en-US" sz="2100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  <a:t>  match divide(10,2) {</a:t>
            </a:r>
          </a:p>
          <a:p>
            <a:pPr algn="l">
              <a:lnSpc>
                <a:spcPts val="2897"/>
              </a:lnSpc>
            </a:pPr>
            <a:r>
              <a:rPr lang="en-US" sz="2100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  <a:t>    Ok(value) =&gt; println!("{value}"),</a:t>
            </a:r>
          </a:p>
          <a:p>
            <a:pPr algn="l">
              <a:lnSpc>
                <a:spcPts val="2897"/>
              </a:lnSpc>
            </a:pPr>
            <a:r>
              <a:rPr lang="en-US" sz="2100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  <a:t>    Err(error) =&gt; println!("{error}"),</a:t>
            </a:r>
          </a:p>
          <a:p>
            <a:pPr algn="l">
              <a:lnSpc>
                <a:spcPts val="2897"/>
              </a:lnSpc>
            </a:pPr>
            <a:r>
              <a:rPr lang="en-US" sz="2100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  <a:t>  }</a:t>
            </a:r>
          </a:p>
          <a:p>
            <a:pPr algn="l">
              <a:lnSpc>
                <a:spcPts val="2897"/>
              </a:lnSpc>
            </a:pPr>
            <a:r>
              <a:rPr lang="en-US" sz="2100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</a:p>
          <a:p>
            <a:pPr algn="l">
              <a:lnSpc>
                <a:spcPts val="2897"/>
              </a:lnSpc>
            </a:pPr>
          </a:p>
        </p:txBody>
      </p:sp>
      <p:grpSp>
        <p:nvGrpSpPr>
          <p:cNvPr name="Group 14" id="14"/>
          <p:cNvGrpSpPr/>
          <p:nvPr/>
        </p:nvGrpSpPr>
        <p:grpSpPr>
          <a:xfrm rot="0">
            <a:off x="8863598" y="6926968"/>
            <a:ext cx="8819388" cy="411480"/>
            <a:chOff x="0" y="0"/>
            <a:chExt cx="11759184" cy="54864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1759184" cy="548640"/>
            </a:xfrm>
            <a:custGeom>
              <a:avLst/>
              <a:gdLst/>
              <a:ahLst/>
              <a:cxnLst/>
              <a:rect r="r" b="b" t="t" l="l"/>
              <a:pathLst>
                <a:path h="548640" w="11759184">
                  <a:moveTo>
                    <a:pt x="0" y="0"/>
                  </a:moveTo>
                  <a:lnTo>
                    <a:pt x="11759184" y="0"/>
                  </a:lnTo>
                  <a:lnTo>
                    <a:pt x="11759184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67629" r="0" b="-367629"/>
              </a:stretch>
            </a:blip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38100"/>
              <a:ext cx="11759184" cy="5867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 b="true">
                  <a:solidFill>
                    <a:srgbClr val="6B6B6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ผลลัพธ์ที่คาดหวัง (Expected Output)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8863598" y="7407028"/>
            <a:ext cx="8819388" cy="802651"/>
            <a:chOff x="0" y="0"/>
            <a:chExt cx="11759184" cy="1070201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1759185" cy="1070201"/>
            </a:xfrm>
            <a:custGeom>
              <a:avLst/>
              <a:gdLst/>
              <a:ahLst/>
              <a:cxnLst/>
              <a:rect r="r" b="b" t="t" l="l"/>
              <a:pathLst>
                <a:path h="1070201" w="11759185">
                  <a:moveTo>
                    <a:pt x="0" y="58375"/>
                  </a:moveTo>
                  <a:cubicBezTo>
                    <a:pt x="0" y="26147"/>
                    <a:pt x="49149" y="0"/>
                    <a:pt x="109728" y="0"/>
                  </a:cubicBezTo>
                  <a:lnTo>
                    <a:pt x="11649456" y="0"/>
                  </a:lnTo>
                  <a:cubicBezTo>
                    <a:pt x="11710036" y="0"/>
                    <a:pt x="11759185" y="26147"/>
                    <a:pt x="11759185" y="58375"/>
                  </a:cubicBezTo>
                  <a:lnTo>
                    <a:pt x="11759185" y="1011826"/>
                  </a:lnTo>
                  <a:cubicBezTo>
                    <a:pt x="11759185" y="1044054"/>
                    <a:pt x="11710036" y="1070201"/>
                    <a:pt x="11649456" y="1070201"/>
                  </a:cubicBezTo>
                  <a:lnTo>
                    <a:pt x="109728" y="1070201"/>
                  </a:lnTo>
                  <a:cubicBezTo>
                    <a:pt x="49149" y="1070201"/>
                    <a:pt x="0" y="1044054"/>
                    <a:pt x="0" y="1011826"/>
                  </a:cubicBezTo>
                  <a:close/>
                </a:path>
              </a:pathLst>
            </a:custGeom>
            <a:solidFill>
              <a:srgbClr val="1E1E1E"/>
            </a:solidFill>
          </p:spPr>
        </p:sp>
      </p:grpSp>
      <p:sp>
        <p:nvSpPr>
          <p:cNvPr name="TextBox 19" id="19"/>
          <p:cNvSpPr txBox="true"/>
          <p:nvPr/>
        </p:nvSpPr>
        <p:spPr>
          <a:xfrm rot="0">
            <a:off x="9206498" y="7615816"/>
            <a:ext cx="8133588" cy="3268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90"/>
              </a:lnSpc>
            </a:pPr>
            <a:r>
              <a:rPr lang="en-US" sz="1950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  <a:t>5</a:t>
            </a:r>
          </a:p>
        </p:txBody>
      </p:sp>
      <p:grpSp>
        <p:nvGrpSpPr>
          <p:cNvPr name="Group 20" id="20"/>
          <p:cNvGrpSpPr/>
          <p:nvPr/>
        </p:nvGrpSpPr>
        <p:grpSpPr>
          <a:xfrm rot="0">
            <a:off x="685800" y="9710928"/>
            <a:ext cx="10972800" cy="411480"/>
            <a:chOff x="0" y="0"/>
            <a:chExt cx="14630400" cy="54864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14630400" cy="548640"/>
            </a:xfrm>
            <a:custGeom>
              <a:avLst/>
              <a:gdLst/>
              <a:ahLst/>
              <a:cxnLst/>
              <a:rect r="r" b="b" t="t" l="l"/>
              <a:pathLst>
                <a:path h="548640" w="14630400">
                  <a:moveTo>
                    <a:pt x="0" y="0"/>
                  </a:moveTo>
                  <a:lnTo>
                    <a:pt x="14630400" y="0"/>
                  </a:lnTo>
                  <a:lnTo>
                    <a:pt x="146304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69601" r="0" b="-469601"/>
              </a:stretch>
            </a:blip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38100"/>
              <a:ext cx="14630400" cy="5867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00"/>
                </a:lnSpc>
              </a:pPr>
              <a:r>
                <a:rPr lang="en-US" sz="1500">
                  <a:solidFill>
                    <a:srgbClr val="6B6B6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517321 Principles of Programming Languages — Rust Tutorial</a:t>
              </a: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16911828" y="9710928"/>
            <a:ext cx="685800" cy="411480"/>
            <a:chOff x="0" y="0"/>
            <a:chExt cx="914400" cy="54864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914400" cy="548640"/>
            </a:xfrm>
            <a:custGeom>
              <a:avLst/>
              <a:gdLst/>
              <a:ahLst/>
              <a:cxnLst/>
              <a:rect r="r" b="b" t="t" l="l"/>
              <a:pathLst>
                <a:path h="548640" w="914400">
                  <a:moveTo>
                    <a:pt x="0" y="0"/>
                  </a:moveTo>
                  <a:lnTo>
                    <a:pt x="914400" y="0"/>
                  </a:lnTo>
                  <a:lnTo>
                    <a:pt x="9144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26982" t="0" r="-26982" b="0"/>
              </a:stretch>
            </a:blipFill>
          </p:spPr>
        </p:sp>
        <p:sp>
          <p:nvSpPr>
            <p:cNvPr name="TextBox 25" id="25"/>
            <p:cNvSpPr txBox="true"/>
            <p:nvPr/>
          </p:nvSpPr>
          <p:spPr>
            <a:xfrm>
              <a:off x="0" y="-38100"/>
              <a:ext cx="914400" cy="5867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800"/>
                </a:lnSpc>
              </a:pPr>
              <a:r>
                <a:rPr lang="en-US" sz="1500">
                  <a:solidFill>
                    <a:srgbClr val="6B6B6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3</a:t>
              </a:r>
            </a:p>
          </p:txBody>
        </p:sp>
      </p:grpSp>
    </p:spTree>
  </p:cSld>
  <p:clrMapOvr>
    <a:masterClrMapping/>
  </p:clrMapOvr>
  <p:transition spd="fast">
    <p:wipe dir="l"/>
  </p:transition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685800" y="617220"/>
            <a:ext cx="4114800" cy="576072"/>
            <a:chOff x="0" y="0"/>
            <a:chExt cx="5486400" cy="76809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5486400" cy="768096"/>
            </a:xfrm>
            <a:custGeom>
              <a:avLst/>
              <a:gdLst/>
              <a:ahLst/>
              <a:cxnLst/>
              <a:rect r="r" b="b" t="t" l="l"/>
              <a:pathLst>
                <a:path h="768096" w="5486400">
                  <a:moveTo>
                    <a:pt x="0" y="146304"/>
                  </a:moveTo>
                  <a:cubicBezTo>
                    <a:pt x="0" y="65532"/>
                    <a:pt x="65532" y="0"/>
                    <a:pt x="146304" y="0"/>
                  </a:cubicBezTo>
                  <a:lnTo>
                    <a:pt x="5340096" y="0"/>
                  </a:lnTo>
                  <a:cubicBezTo>
                    <a:pt x="5420868" y="0"/>
                    <a:pt x="5486400" y="65532"/>
                    <a:pt x="5486400" y="146304"/>
                  </a:cubicBezTo>
                  <a:lnTo>
                    <a:pt x="5486400" y="621792"/>
                  </a:lnTo>
                  <a:cubicBezTo>
                    <a:pt x="5486400" y="702564"/>
                    <a:pt x="5420868" y="768096"/>
                    <a:pt x="5340096" y="768096"/>
                  </a:cubicBezTo>
                  <a:lnTo>
                    <a:pt x="146304" y="768096"/>
                  </a:lnTo>
                  <a:cubicBezTo>
                    <a:pt x="65532" y="768096"/>
                    <a:pt x="0" y="702564"/>
                    <a:pt x="0" y="621792"/>
                  </a:cubicBezTo>
                  <a:close/>
                </a:path>
              </a:pathLst>
            </a:custGeom>
            <a:solidFill>
              <a:srgbClr val="8B2E2E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685800" y="617220"/>
            <a:ext cx="4114800" cy="576072"/>
            <a:chOff x="0" y="0"/>
            <a:chExt cx="5486400" cy="768096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5486400" cy="768096"/>
            </a:xfrm>
            <a:custGeom>
              <a:avLst/>
              <a:gdLst/>
              <a:ahLst/>
              <a:cxnLst/>
              <a:rect r="r" b="b" t="t" l="l"/>
              <a:pathLst>
                <a:path h="768096" w="5486400">
                  <a:moveTo>
                    <a:pt x="0" y="0"/>
                  </a:moveTo>
                  <a:lnTo>
                    <a:pt x="5486400" y="0"/>
                  </a:lnTo>
                  <a:lnTo>
                    <a:pt x="5486400" y="768096"/>
                  </a:lnTo>
                  <a:lnTo>
                    <a:pt x="0" y="76809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9178" r="0" b="-89178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-47625"/>
              <a:ext cx="5486400" cy="81572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340"/>
                </a:lnSpc>
              </a:pPr>
              <a:r>
                <a:rPr lang="en-US" sz="195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PART 1 · MEMBER 1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685800" y="9710928"/>
            <a:ext cx="10972800" cy="411480"/>
            <a:chOff x="0" y="0"/>
            <a:chExt cx="14630400" cy="54864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4630400" cy="548640"/>
            </a:xfrm>
            <a:custGeom>
              <a:avLst/>
              <a:gdLst/>
              <a:ahLst/>
              <a:cxnLst/>
              <a:rect r="r" b="b" t="t" l="l"/>
              <a:pathLst>
                <a:path h="548640" w="14630400">
                  <a:moveTo>
                    <a:pt x="0" y="0"/>
                  </a:moveTo>
                  <a:lnTo>
                    <a:pt x="14630400" y="0"/>
                  </a:lnTo>
                  <a:lnTo>
                    <a:pt x="146304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69601" r="0" b="-469601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>
              <a:off x="0" y="-38100"/>
              <a:ext cx="14630400" cy="5867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00"/>
                </a:lnSpc>
              </a:pPr>
              <a:r>
                <a:rPr lang="en-US" sz="1500">
                  <a:solidFill>
                    <a:srgbClr val="6B6B6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517321 Principles of Programming Languages — Rust Tutorial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16911828" y="9710928"/>
            <a:ext cx="685800" cy="411480"/>
            <a:chOff x="0" y="0"/>
            <a:chExt cx="914400" cy="54864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914400" cy="548640"/>
            </a:xfrm>
            <a:custGeom>
              <a:avLst/>
              <a:gdLst/>
              <a:ahLst/>
              <a:cxnLst/>
              <a:rect r="r" b="b" t="t" l="l"/>
              <a:pathLst>
                <a:path h="548640" w="914400">
                  <a:moveTo>
                    <a:pt x="0" y="0"/>
                  </a:moveTo>
                  <a:lnTo>
                    <a:pt x="914400" y="0"/>
                  </a:lnTo>
                  <a:lnTo>
                    <a:pt x="9144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26982" t="0" r="-26982" b="0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38100"/>
              <a:ext cx="914400" cy="5867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800"/>
                </a:lnSpc>
              </a:pPr>
              <a:r>
                <a:rPr lang="en-US" sz="1500">
                  <a:solidFill>
                    <a:srgbClr val="6B6B6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3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4468313" y="3327654"/>
            <a:ext cx="9706786" cy="3702438"/>
            <a:chOff x="0" y="0"/>
            <a:chExt cx="11759184" cy="448528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1759185" cy="4485280"/>
            </a:xfrm>
            <a:custGeom>
              <a:avLst/>
              <a:gdLst/>
              <a:ahLst/>
              <a:cxnLst/>
              <a:rect r="r" b="b" t="t" l="l"/>
              <a:pathLst>
                <a:path h="4485280" w="11759185">
                  <a:moveTo>
                    <a:pt x="0" y="244652"/>
                  </a:moveTo>
                  <a:cubicBezTo>
                    <a:pt x="0" y="109584"/>
                    <a:pt x="49149" y="0"/>
                    <a:pt x="109728" y="0"/>
                  </a:cubicBezTo>
                  <a:lnTo>
                    <a:pt x="11649456" y="0"/>
                  </a:lnTo>
                  <a:cubicBezTo>
                    <a:pt x="11710036" y="0"/>
                    <a:pt x="11759185" y="109584"/>
                    <a:pt x="11759185" y="244652"/>
                  </a:cubicBezTo>
                  <a:lnTo>
                    <a:pt x="11759185" y="4240628"/>
                  </a:lnTo>
                  <a:cubicBezTo>
                    <a:pt x="11759185" y="4375696"/>
                    <a:pt x="11710036" y="4485280"/>
                    <a:pt x="11649456" y="4485280"/>
                  </a:cubicBezTo>
                  <a:lnTo>
                    <a:pt x="109728" y="4485280"/>
                  </a:lnTo>
                  <a:cubicBezTo>
                    <a:pt x="49149" y="4485280"/>
                    <a:pt x="0" y="4375696"/>
                    <a:pt x="0" y="4240628"/>
                  </a:cubicBezTo>
                  <a:close/>
                </a:path>
              </a:pathLst>
            </a:custGeom>
            <a:solidFill>
              <a:srgbClr val="1E1E1E"/>
            </a:solidFill>
          </p:spPr>
        </p:sp>
      </p:grpSp>
      <p:sp>
        <p:nvSpPr>
          <p:cNvPr name="TextBox 15" id="15"/>
          <p:cNvSpPr txBox="true"/>
          <p:nvPr/>
        </p:nvSpPr>
        <p:spPr>
          <a:xfrm rot="0">
            <a:off x="4915634" y="3807997"/>
            <a:ext cx="9845796" cy="32220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57"/>
              </a:lnSpc>
            </a:pPr>
            <a:r>
              <a:rPr lang="en-US" sz="2360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  <a:t>fn divide(a: i32,b: i32) -&gt; Result&lt;i32,String&gt; {</a:t>
            </a:r>
          </a:p>
          <a:p>
            <a:pPr algn="l">
              <a:lnSpc>
                <a:spcPts val="3257"/>
              </a:lnSpc>
            </a:pPr>
            <a:r>
              <a:rPr lang="en-US" sz="2360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  <a:t>  if b == 0 {</a:t>
            </a:r>
          </a:p>
          <a:p>
            <a:pPr algn="l">
              <a:lnSpc>
                <a:spcPts val="3257"/>
              </a:lnSpc>
            </a:pPr>
            <a:r>
              <a:rPr lang="en-US" sz="2360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  <a:t>     return Err("B </a:t>
            </a:r>
            <a:r>
              <a:rPr lang="en-US" sz="2360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  <a:t>can’t be zero".to_string())</a:t>
            </a:r>
          </a:p>
          <a:p>
            <a:pPr algn="l">
              <a:lnSpc>
                <a:spcPts val="3257"/>
              </a:lnSpc>
            </a:pPr>
            <a:r>
              <a:rPr lang="en-US" sz="2360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  <a:t>     } else {</a:t>
            </a:r>
          </a:p>
          <a:p>
            <a:pPr algn="l">
              <a:lnSpc>
                <a:spcPts val="3257"/>
              </a:lnSpc>
            </a:pPr>
            <a:r>
              <a:rPr lang="en-US" sz="2360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  <a:t>     return Ok(a / b);</a:t>
            </a:r>
          </a:p>
          <a:p>
            <a:pPr algn="l">
              <a:lnSpc>
                <a:spcPts val="3257"/>
              </a:lnSpc>
            </a:pPr>
            <a:r>
              <a:rPr lang="en-US" sz="2360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  <a:t>  }</a:t>
            </a:r>
          </a:p>
          <a:p>
            <a:pPr algn="l">
              <a:lnSpc>
                <a:spcPts val="3257"/>
              </a:lnSpc>
            </a:pPr>
            <a:r>
              <a:rPr lang="en-US" sz="2360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</a:p>
          <a:p>
            <a:pPr algn="l">
              <a:lnSpc>
                <a:spcPts val="3257"/>
              </a:lnSpc>
            </a:pPr>
          </a:p>
        </p:txBody>
      </p:sp>
      <p:sp>
        <p:nvSpPr>
          <p:cNvPr name="TextBox 16" id="16"/>
          <p:cNvSpPr txBox="true"/>
          <p:nvPr/>
        </p:nvSpPr>
        <p:spPr>
          <a:xfrm rot="0">
            <a:off x="11423230" y="7093944"/>
            <a:ext cx="12295285" cy="4826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25"/>
              </a:lnSpc>
            </a:pPr>
            <a:r>
              <a:rPr lang="en-US" sz="2416">
                <a:solidFill>
                  <a:srgbClr val="222222"/>
                </a:solidFill>
                <a:latin typeface="Calibri (MS)"/>
                <a:ea typeface="Calibri (MS)"/>
                <a:cs typeface="Calibri (MS)"/>
                <a:sym typeface="Calibri (MS)"/>
              </a:rPr>
              <a:t>ฟังก์ชันใช้ในหน้าต่อไป</a:t>
            </a:r>
          </a:p>
        </p:txBody>
      </p:sp>
    </p:spTree>
  </p:cSld>
  <p:clrMapOvr>
    <a:masterClrMapping/>
  </p:clrMapOvr>
  <p:transition spd="fast">
    <p:wipe dir="l"/>
  </p:transition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685800" y="617220"/>
            <a:ext cx="4114800" cy="576072"/>
            <a:chOff x="0" y="0"/>
            <a:chExt cx="5486400" cy="76809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5486400" cy="768096"/>
            </a:xfrm>
            <a:custGeom>
              <a:avLst/>
              <a:gdLst/>
              <a:ahLst/>
              <a:cxnLst/>
              <a:rect r="r" b="b" t="t" l="l"/>
              <a:pathLst>
                <a:path h="768096" w="5486400">
                  <a:moveTo>
                    <a:pt x="0" y="146304"/>
                  </a:moveTo>
                  <a:cubicBezTo>
                    <a:pt x="0" y="65532"/>
                    <a:pt x="65532" y="0"/>
                    <a:pt x="146304" y="0"/>
                  </a:cubicBezTo>
                  <a:lnTo>
                    <a:pt x="5340096" y="0"/>
                  </a:lnTo>
                  <a:cubicBezTo>
                    <a:pt x="5420868" y="0"/>
                    <a:pt x="5486400" y="65532"/>
                    <a:pt x="5486400" y="146304"/>
                  </a:cubicBezTo>
                  <a:lnTo>
                    <a:pt x="5486400" y="621792"/>
                  </a:lnTo>
                  <a:cubicBezTo>
                    <a:pt x="5486400" y="702564"/>
                    <a:pt x="5420868" y="768096"/>
                    <a:pt x="5340096" y="768096"/>
                  </a:cubicBezTo>
                  <a:lnTo>
                    <a:pt x="146304" y="768096"/>
                  </a:lnTo>
                  <a:cubicBezTo>
                    <a:pt x="65532" y="768096"/>
                    <a:pt x="0" y="702564"/>
                    <a:pt x="0" y="621792"/>
                  </a:cubicBezTo>
                  <a:close/>
                </a:path>
              </a:pathLst>
            </a:custGeom>
            <a:solidFill>
              <a:srgbClr val="8B2E2E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685800" y="617220"/>
            <a:ext cx="4114800" cy="576072"/>
            <a:chOff x="0" y="0"/>
            <a:chExt cx="5486400" cy="768096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5486400" cy="768096"/>
            </a:xfrm>
            <a:custGeom>
              <a:avLst/>
              <a:gdLst/>
              <a:ahLst/>
              <a:cxnLst/>
              <a:rect r="r" b="b" t="t" l="l"/>
              <a:pathLst>
                <a:path h="768096" w="5486400">
                  <a:moveTo>
                    <a:pt x="0" y="0"/>
                  </a:moveTo>
                  <a:lnTo>
                    <a:pt x="5486400" y="0"/>
                  </a:lnTo>
                  <a:lnTo>
                    <a:pt x="5486400" y="768096"/>
                  </a:lnTo>
                  <a:lnTo>
                    <a:pt x="0" y="76809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9178" r="0" b="-89178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-47625"/>
              <a:ext cx="5486400" cy="81572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340"/>
                </a:lnSpc>
              </a:pPr>
              <a:r>
                <a:rPr lang="en-US" sz="195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PART 1 · MEMBER 1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688086" y="221795"/>
            <a:ext cx="16911828" cy="3303594"/>
            <a:chOff x="0" y="0"/>
            <a:chExt cx="22549104" cy="4404792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2549104" cy="4404792"/>
            </a:xfrm>
            <a:custGeom>
              <a:avLst/>
              <a:gdLst/>
              <a:ahLst/>
              <a:cxnLst/>
              <a:rect r="r" b="b" t="t" l="l"/>
              <a:pathLst>
                <a:path h="4404792" w="22549104">
                  <a:moveTo>
                    <a:pt x="0" y="0"/>
                  </a:moveTo>
                  <a:lnTo>
                    <a:pt x="22549104" y="0"/>
                  </a:lnTo>
                  <a:lnTo>
                    <a:pt x="22549104" y="4404792"/>
                  </a:lnTo>
                  <a:lnTo>
                    <a:pt x="0" y="44047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5216" r="0" b="-14279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>
              <a:off x="0" y="-19050"/>
              <a:ext cx="22549104" cy="442384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400"/>
                </a:lnSpc>
              </a:pPr>
              <a:r>
                <a:rPr lang="en-US" sz="4500" b="true">
                  <a:solidFill>
                    <a:srgbClr val="222222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Propagation คืออะไร (Concept)</a:t>
              </a:r>
            </a:p>
          </p:txBody>
        </p:sp>
      </p:grpSp>
      <p:sp>
        <p:nvSpPr>
          <p:cNvPr name="TextBox 10" id="10"/>
          <p:cNvSpPr txBox="true"/>
          <p:nvPr/>
        </p:nvSpPr>
        <p:spPr>
          <a:xfrm rot="0">
            <a:off x="685800" y="2423160"/>
            <a:ext cx="7680960" cy="4314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07194" indent="-203597" lvl="1">
              <a:lnSpc>
                <a:spcPts val="3375"/>
              </a:lnSpc>
              <a:buFont typeface="Arial"/>
              <a:buChar char="•"/>
            </a:pPr>
            <a:r>
              <a:rPr lang="en-US" sz="2250">
                <a:solidFill>
                  <a:srgbClr val="222222"/>
                </a:solidFill>
                <a:latin typeface="Calibri (MS)"/>
                <a:ea typeface="Calibri (MS)"/>
                <a:cs typeface="Calibri (MS)"/>
                <a:sym typeface="Calibri (MS)"/>
              </a:rPr>
              <a:t>เมื่อได้รับผลลัพธ์กลับมา ทำการส่งต่อผลนั้นให้ฟังก์ชันก่อนหน้าในการตัดสินใจการทำงานอย่างไรต่อไป</a:t>
            </a:r>
          </a:p>
          <a:p>
            <a:pPr algn="l" marL="407194" indent="-203597" lvl="1">
              <a:lnSpc>
                <a:spcPts val="3375"/>
              </a:lnSpc>
              <a:buFont typeface="Arial"/>
              <a:buChar char="•"/>
            </a:pPr>
            <a:r>
              <a:rPr lang="en-US" sz="2250">
                <a:solidFill>
                  <a:srgbClr val="222222"/>
                </a:solidFill>
                <a:latin typeface="Calibri (MS)"/>
                <a:ea typeface="Calibri (MS)"/>
                <a:cs typeface="Calibri (MS)"/>
                <a:sym typeface="Calibri (MS)"/>
              </a:rPr>
              <a:t>แทนที่รับมือกับผลลัพธ์ที่มีโอกาสล้มเหลวเอง ทำการส่งผลความล้มเหลวกลับขึ้นฟังก์ชันก่อนหน้าที่มีข้อมูลที่เหมาะต่อการตัดสินใจการทำงานมากกว่า</a:t>
            </a:r>
          </a:p>
          <a:p>
            <a:pPr algn="l" marL="407194" indent="-203597" lvl="1">
              <a:lnSpc>
                <a:spcPts val="3375"/>
              </a:lnSpc>
              <a:buFont typeface="Arial"/>
              <a:buChar char="•"/>
            </a:pPr>
            <a:r>
              <a:rPr lang="en-US" sz="2250">
                <a:solidFill>
                  <a:srgbClr val="222222"/>
                </a:solidFill>
                <a:latin typeface="Calibri (MS)"/>
                <a:ea typeface="Calibri (MS)"/>
                <a:cs typeface="Calibri (MS)"/>
                <a:sym typeface="Calibri (MS)"/>
              </a:rPr>
              <a:t>แก้ไขปัญหากฟังก์ชันปัจจุบันไม่รู้บริบทมากพอที่จะตัดสินใจด้วยตัวเอง</a:t>
            </a:r>
          </a:p>
          <a:p>
            <a:pPr algn="l" marL="407194" indent="-203597" lvl="1">
              <a:lnSpc>
                <a:spcPts val="3375"/>
              </a:lnSpc>
              <a:buFont typeface="Arial"/>
              <a:buChar char="•"/>
            </a:pPr>
            <a:r>
              <a:rPr lang="en-US" sz="2250">
                <a:solidFill>
                  <a:srgbClr val="222222"/>
                </a:solidFill>
                <a:latin typeface="Calibri (MS)"/>
                <a:ea typeface="Calibri (MS)"/>
                <a:cs typeface="Calibri (MS)"/>
                <a:sym typeface="Calibri (MS)"/>
              </a:rPr>
              <a:t>หากไม่สามารถแก้ไขปัญหาได้ ควรส่งปัญหากลับขึ้นและใช้ข้อมูลที่มีมาตัดสินใจการทำงาน</a:t>
            </a:r>
          </a:p>
          <a:p>
            <a:pPr algn="l">
              <a:lnSpc>
                <a:spcPts val="3375"/>
              </a:lnSpc>
            </a:pPr>
          </a:p>
        </p:txBody>
      </p:sp>
      <p:grpSp>
        <p:nvGrpSpPr>
          <p:cNvPr name="Group 11" id="11"/>
          <p:cNvGrpSpPr/>
          <p:nvPr/>
        </p:nvGrpSpPr>
        <p:grpSpPr>
          <a:xfrm rot="0">
            <a:off x="8944383" y="1193292"/>
            <a:ext cx="8819388" cy="6547776"/>
            <a:chOff x="0" y="0"/>
            <a:chExt cx="11759184" cy="8730369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1759185" cy="8730369"/>
            </a:xfrm>
            <a:custGeom>
              <a:avLst/>
              <a:gdLst/>
              <a:ahLst/>
              <a:cxnLst/>
              <a:rect r="r" b="b" t="t" l="l"/>
              <a:pathLst>
                <a:path h="8730369" w="11759185">
                  <a:moveTo>
                    <a:pt x="0" y="201470"/>
                  </a:moveTo>
                  <a:cubicBezTo>
                    <a:pt x="0" y="90242"/>
                    <a:pt x="49149" y="0"/>
                    <a:pt x="109728" y="0"/>
                  </a:cubicBezTo>
                  <a:lnTo>
                    <a:pt x="11649456" y="0"/>
                  </a:lnTo>
                  <a:cubicBezTo>
                    <a:pt x="11710036" y="0"/>
                    <a:pt x="11759185" y="90242"/>
                    <a:pt x="11759185" y="201470"/>
                  </a:cubicBezTo>
                  <a:lnTo>
                    <a:pt x="11759185" y="8528899"/>
                  </a:lnTo>
                  <a:cubicBezTo>
                    <a:pt x="11759185" y="8640127"/>
                    <a:pt x="11710036" y="8730369"/>
                    <a:pt x="11649456" y="8730369"/>
                  </a:cubicBezTo>
                  <a:lnTo>
                    <a:pt x="109728" y="8730369"/>
                  </a:lnTo>
                  <a:cubicBezTo>
                    <a:pt x="49149" y="8730369"/>
                    <a:pt x="0" y="8640127"/>
                    <a:pt x="0" y="8528899"/>
                  </a:cubicBezTo>
                  <a:close/>
                </a:path>
              </a:pathLst>
            </a:custGeom>
            <a:solidFill>
              <a:srgbClr val="1E1E1E"/>
            </a:solidFill>
          </p:spPr>
        </p:sp>
      </p:grpSp>
      <p:sp>
        <p:nvSpPr>
          <p:cNvPr name="TextBox 13" id="13"/>
          <p:cNvSpPr txBox="true"/>
          <p:nvPr/>
        </p:nvSpPr>
        <p:spPr>
          <a:xfrm rot="0">
            <a:off x="9287283" y="1402080"/>
            <a:ext cx="8133588" cy="61432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97"/>
              </a:lnSpc>
            </a:pPr>
            <a:r>
              <a:rPr lang="en-US" sz="2100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  <a:t>fn calculate() -&gt; Result&lt;i32, String&gt; {</a:t>
            </a:r>
          </a:p>
          <a:p>
            <a:pPr algn="l">
              <a:lnSpc>
                <a:spcPts val="2897"/>
              </a:lnSpc>
            </a:pPr>
            <a:r>
              <a:rPr lang="en-US" sz="2100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  <a:t>  match divide(10,0) {</a:t>
            </a:r>
          </a:p>
          <a:p>
            <a:pPr algn="l">
              <a:lnSpc>
                <a:spcPts val="2897"/>
              </a:lnSpc>
            </a:pPr>
            <a:r>
              <a:rPr lang="en-US" sz="2100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  <a:t>     Ok(value) =&gt; {</a:t>
            </a:r>
          </a:p>
          <a:p>
            <a:pPr algn="l">
              <a:lnSpc>
                <a:spcPts val="2897"/>
              </a:lnSpc>
            </a:pPr>
            <a:r>
              <a:rPr lang="en-US" sz="2100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  <a:t>     println!("success!!");</a:t>
            </a:r>
          </a:p>
          <a:p>
            <a:pPr algn="l">
              <a:lnSpc>
                <a:spcPts val="2897"/>
              </a:lnSpc>
            </a:pPr>
            <a:r>
              <a:rPr lang="en-US" sz="2100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  <a:t>     return Ok(value);</a:t>
            </a:r>
          </a:p>
          <a:p>
            <a:pPr algn="l">
              <a:lnSpc>
                <a:spcPts val="2897"/>
              </a:lnSpc>
            </a:pPr>
            <a:r>
              <a:rPr lang="en-US" sz="2100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  <a:t>     },</a:t>
            </a:r>
          </a:p>
          <a:p>
            <a:pPr algn="l">
              <a:lnSpc>
                <a:spcPts val="2897"/>
              </a:lnSpc>
            </a:pPr>
            <a:r>
              <a:rPr lang="en-US" sz="2100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  <a:t>     Err(error) =&gt; return Err(error),</a:t>
            </a:r>
          </a:p>
          <a:p>
            <a:pPr algn="l">
              <a:lnSpc>
                <a:spcPts val="2897"/>
              </a:lnSpc>
            </a:pPr>
            <a:r>
              <a:rPr lang="en-US" sz="2100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  <a:t>  }</a:t>
            </a:r>
          </a:p>
          <a:p>
            <a:pPr algn="l">
              <a:lnSpc>
                <a:spcPts val="2897"/>
              </a:lnSpc>
            </a:pPr>
            <a:r>
              <a:rPr lang="en-US" sz="2100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</a:p>
          <a:p>
            <a:pPr algn="l">
              <a:lnSpc>
                <a:spcPts val="2897"/>
              </a:lnSpc>
            </a:pPr>
          </a:p>
          <a:p>
            <a:pPr algn="l">
              <a:lnSpc>
                <a:spcPts val="2897"/>
              </a:lnSpc>
            </a:pPr>
            <a:r>
              <a:rPr lang="en-US" sz="2100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  <a:t>fn main() {</a:t>
            </a:r>
          </a:p>
          <a:p>
            <a:pPr algn="l">
              <a:lnSpc>
                <a:spcPts val="2897"/>
              </a:lnSpc>
            </a:pPr>
            <a:r>
              <a:rPr lang="en-US" sz="2100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  <a:t>  match calculate() {</a:t>
            </a:r>
          </a:p>
          <a:p>
            <a:pPr algn="l">
              <a:lnSpc>
                <a:spcPts val="2897"/>
              </a:lnSpc>
            </a:pPr>
            <a:r>
              <a:rPr lang="en-US" sz="2100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  <a:t>     Ok(value) =&gt; println!("Result:{value}"),</a:t>
            </a:r>
          </a:p>
          <a:p>
            <a:pPr algn="l">
              <a:lnSpc>
                <a:spcPts val="2897"/>
              </a:lnSpc>
            </a:pPr>
            <a:r>
              <a:rPr lang="en-US" sz="2100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  <a:t>     Err(error) =&gt; println!("Error:{error}"),</a:t>
            </a:r>
          </a:p>
          <a:p>
            <a:pPr algn="l">
              <a:lnSpc>
                <a:spcPts val="2897"/>
              </a:lnSpc>
            </a:pPr>
            <a:r>
              <a:rPr lang="en-US" sz="2100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  <a:t>  }</a:t>
            </a:r>
          </a:p>
          <a:p>
            <a:pPr algn="l">
              <a:lnSpc>
                <a:spcPts val="2897"/>
              </a:lnSpc>
            </a:pPr>
            <a:r>
              <a:rPr lang="en-US" sz="2100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</a:p>
          <a:p>
            <a:pPr algn="l">
              <a:lnSpc>
                <a:spcPts val="2897"/>
              </a:lnSpc>
            </a:pPr>
          </a:p>
        </p:txBody>
      </p:sp>
      <p:grpSp>
        <p:nvGrpSpPr>
          <p:cNvPr name="Group 14" id="14"/>
          <p:cNvGrpSpPr/>
          <p:nvPr/>
        </p:nvGrpSpPr>
        <p:grpSpPr>
          <a:xfrm rot="0">
            <a:off x="8944383" y="7907274"/>
            <a:ext cx="8819388" cy="411480"/>
            <a:chOff x="0" y="0"/>
            <a:chExt cx="11759184" cy="54864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1759184" cy="548640"/>
            </a:xfrm>
            <a:custGeom>
              <a:avLst/>
              <a:gdLst/>
              <a:ahLst/>
              <a:cxnLst/>
              <a:rect r="r" b="b" t="t" l="l"/>
              <a:pathLst>
                <a:path h="548640" w="11759184">
                  <a:moveTo>
                    <a:pt x="0" y="0"/>
                  </a:moveTo>
                  <a:lnTo>
                    <a:pt x="11759184" y="0"/>
                  </a:lnTo>
                  <a:lnTo>
                    <a:pt x="11759184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67629" r="0" b="-367629"/>
              </a:stretch>
            </a:blip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38100"/>
              <a:ext cx="11759184" cy="5867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 b="true">
                  <a:solidFill>
                    <a:srgbClr val="6B6B6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ผลลัพธ์ที่คาดหวัง (Expected Output)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8944383" y="8387334"/>
            <a:ext cx="8819388" cy="788805"/>
            <a:chOff x="0" y="0"/>
            <a:chExt cx="11759184" cy="1051741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1759185" cy="1051741"/>
            </a:xfrm>
            <a:custGeom>
              <a:avLst/>
              <a:gdLst/>
              <a:ahLst/>
              <a:cxnLst/>
              <a:rect r="r" b="b" t="t" l="l"/>
              <a:pathLst>
                <a:path h="1051741" w="11759185">
                  <a:moveTo>
                    <a:pt x="0" y="57368"/>
                  </a:moveTo>
                  <a:cubicBezTo>
                    <a:pt x="0" y="25696"/>
                    <a:pt x="49149" y="0"/>
                    <a:pt x="109728" y="0"/>
                  </a:cubicBezTo>
                  <a:lnTo>
                    <a:pt x="11649456" y="0"/>
                  </a:lnTo>
                  <a:cubicBezTo>
                    <a:pt x="11710036" y="0"/>
                    <a:pt x="11759185" y="25696"/>
                    <a:pt x="11759185" y="57368"/>
                  </a:cubicBezTo>
                  <a:lnTo>
                    <a:pt x="11759185" y="994373"/>
                  </a:lnTo>
                  <a:cubicBezTo>
                    <a:pt x="11759185" y="1026045"/>
                    <a:pt x="11710036" y="1051741"/>
                    <a:pt x="11649456" y="1051741"/>
                  </a:cubicBezTo>
                  <a:lnTo>
                    <a:pt x="109728" y="1051741"/>
                  </a:lnTo>
                  <a:cubicBezTo>
                    <a:pt x="49149" y="1051741"/>
                    <a:pt x="0" y="1026045"/>
                    <a:pt x="0" y="994373"/>
                  </a:cubicBezTo>
                  <a:close/>
                </a:path>
              </a:pathLst>
            </a:custGeom>
            <a:solidFill>
              <a:srgbClr val="1E1E1E"/>
            </a:solidFill>
          </p:spPr>
        </p:sp>
      </p:grpSp>
      <p:sp>
        <p:nvSpPr>
          <p:cNvPr name="TextBox 19" id="19"/>
          <p:cNvSpPr txBox="true"/>
          <p:nvPr/>
        </p:nvSpPr>
        <p:spPr>
          <a:xfrm rot="0">
            <a:off x="9287283" y="8596122"/>
            <a:ext cx="8133588" cy="3268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90"/>
              </a:lnSpc>
            </a:pPr>
            <a:r>
              <a:rPr lang="en-US" sz="1950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  <a:t>Error:B can’t be zero</a:t>
            </a:r>
          </a:p>
        </p:txBody>
      </p:sp>
      <p:grpSp>
        <p:nvGrpSpPr>
          <p:cNvPr name="Group 20" id="20"/>
          <p:cNvGrpSpPr/>
          <p:nvPr/>
        </p:nvGrpSpPr>
        <p:grpSpPr>
          <a:xfrm rot="0">
            <a:off x="685800" y="9710928"/>
            <a:ext cx="10972800" cy="411480"/>
            <a:chOff x="0" y="0"/>
            <a:chExt cx="14630400" cy="54864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14630400" cy="548640"/>
            </a:xfrm>
            <a:custGeom>
              <a:avLst/>
              <a:gdLst/>
              <a:ahLst/>
              <a:cxnLst/>
              <a:rect r="r" b="b" t="t" l="l"/>
              <a:pathLst>
                <a:path h="548640" w="14630400">
                  <a:moveTo>
                    <a:pt x="0" y="0"/>
                  </a:moveTo>
                  <a:lnTo>
                    <a:pt x="14630400" y="0"/>
                  </a:lnTo>
                  <a:lnTo>
                    <a:pt x="146304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69601" r="0" b="-469601"/>
              </a:stretch>
            </a:blip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38100"/>
              <a:ext cx="14630400" cy="5867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00"/>
                </a:lnSpc>
              </a:pPr>
              <a:r>
                <a:rPr lang="en-US" sz="1500">
                  <a:solidFill>
                    <a:srgbClr val="6B6B6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517321 Principles of Programming Languages — Rust Tutorial</a:t>
              </a: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16911828" y="9710928"/>
            <a:ext cx="685800" cy="411480"/>
            <a:chOff x="0" y="0"/>
            <a:chExt cx="914400" cy="54864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914400" cy="548640"/>
            </a:xfrm>
            <a:custGeom>
              <a:avLst/>
              <a:gdLst/>
              <a:ahLst/>
              <a:cxnLst/>
              <a:rect r="r" b="b" t="t" l="l"/>
              <a:pathLst>
                <a:path h="548640" w="914400">
                  <a:moveTo>
                    <a:pt x="0" y="0"/>
                  </a:moveTo>
                  <a:lnTo>
                    <a:pt x="914400" y="0"/>
                  </a:lnTo>
                  <a:lnTo>
                    <a:pt x="9144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26982" t="0" r="-26982" b="0"/>
              </a:stretch>
            </a:blipFill>
          </p:spPr>
        </p:sp>
        <p:sp>
          <p:nvSpPr>
            <p:cNvPr name="TextBox 25" id="25"/>
            <p:cNvSpPr txBox="true"/>
            <p:nvPr/>
          </p:nvSpPr>
          <p:spPr>
            <a:xfrm>
              <a:off x="0" y="-38100"/>
              <a:ext cx="914400" cy="5867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800"/>
                </a:lnSpc>
              </a:pPr>
              <a:r>
                <a:rPr lang="en-US" sz="1500">
                  <a:solidFill>
                    <a:srgbClr val="6B6B6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3</a:t>
              </a:r>
            </a:p>
          </p:txBody>
        </p:sp>
      </p:grpSp>
    </p:spTree>
  </p:cSld>
  <p:clrMapOvr>
    <a:masterClrMapping/>
  </p:clrMapOvr>
  <p:transition spd="fast">
    <p:wipe dir="l"/>
  </p:transition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685800" y="617220"/>
            <a:ext cx="4114800" cy="576072"/>
            <a:chOff x="0" y="0"/>
            <a:chExt cx="5486400" cy="76809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5486400" cy="768096"/>
            </a:xfrm>
            <a:custGeom>
              <a:avLst/>
              <a:gdLst/>
              <a:ahLst/>
              <a:cxnLst/>
              <a:rect r="r" b="b" t="t" l="l"/>
              <a:pathLst>
                <a:path h="768096" w="5486400">
                  <a:moveTo>
                    <a:pt x="0" y="146304"/>
                  </a:moveTo>
                  <a:cubicBezTo>
                    <a:pt x="0" y="65532"/>
                    <a:pt x="65532" y="0"/>
                    <a:pt x="146304" y="0"/>
                  </a:cubicBezTo>
                  <a:lnTo>
                    <a:pt x="5340096" y="0"/>
                  </a:lnTo>
                  <a:cubicBezTo>
                    <a:pt x="5420868" y="0"/>
                    <a:pt x="5486400" y="65532"/>
                    <a:pt x="5486400" y="146304"/>
                  </a:cubicBezTo>
                  <a:lnTo>
                    <a:pt x="5486400" y="621792"/>
                  </a:lnTo>
                  <a:cubicBezTo>
                    <a:pt x="5486400" y="702564"/>
                    <a:pt x="5420868" y="768096"/>
                    <a:pt x="5340096" y="768096"/>
                  </a:cubicBezTo>
                  <a:lnTo>
                    <a:pt x="146304" y="768096"/>
                  </a:lnTo>
                  <a:cubicBezTo>
                    <a:pt x="65532" y="768096"/>
                    <a:pt x="0" y="702564"/>
                    <a:pt x="0" y="621792"/>
                  </a:cubicBezTo>
                  <a:close/>
                </a:path>
              </a:pathLst>
            </a:custGeom>
            <a:solidFill>
              <a:srgbClr val="8B2E2E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685800" y="617220"/>
            <a:ext cx="4114800" cy="576072"/>
            <a:chOff x="0" y="0"/>
            <a:chExt cx="5486400" cy="768096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5486400" cy="768096"/>
            </a:xfrm>
            <a:custGeom>
              <a:avLst/>
              <a:gdLst/>
              <a:ahLst/>
              <a:cxnLst/>
              <a:rect r="r" b="b" t="t" l="l"/>
              <a:pathLst>
                <a:path h="768096" w="5486400">
                  <a:moveTo>
                    <a:pt x="0" y="0"/>
                  </a:moveTo>
                  <a:lnTo>
                    <a:pt x="5486400" y="0"/>
                  </a:lnTo>
                  <a:lnTo>
                    <a:pt x="5486400" y="768096"/>
                  </a:lnTo>
                  <a:lnTo>
                    <a:pt x="0" y="76809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9178" r="0" b="-89178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-47625"/>
              <a:ext cx="5486400" cy="81572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340"/>
                </a:lnSpc>
              </a:pPr>
              <a:r>
                <a:rPr lang="en-US" sz="195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PART 1 · MEMBER 1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688086" y="221795"/>
            <a:ext cx="16911828" cy="3303594"/>
            <a:chOff x="0" y="0"/>
            <a:chExt cx="22549104" cy="4404792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2549104" cy="4404792"/>
            </a:xfrm>
            <a:custGeom>
              <a:avLst/>
              <a:gdLst/>
              <a:ahLst/>
              <a:cxnLst/>
              <a:rect r="r" b="b" t="t" l="l"/>
              <a:pathLst>
                <a:path h="4404792" w="22549104">
                  <a:moveTo>
                    <a:pt x="0" y="0"/>
                  </a:moveTo>
                  <a:lnTo>
                    <a:pt x="22549104" y="0"/>
                  </a:lnTo>
                  <a:lnTo>
                    <a:pt x="22549104" y="4404792"/>
                  </a:lnTo>
                  <a:lnTo>
                    <a:pt x="0" y="44047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5216" r="0" b="-14279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>
              <a:off x="0" y="-19050"/>
              <a:ext cx="22549104" cy="442384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400"/>
                </a:lnSpc>
              </a:pPr>
              <a:r>
                <a:rPr lang="en-US" sz="4500" b="true">
                  <a:solidFill>
                    <a:srgbClr val="222222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? Operater คืออะไร (Concept)</a:t>
              </a:r>
            </a:p>
          </p:txBody>
        </p:sp>
      </p:grpSp>
      <p:sp>
        <p:nvSpPr>
          <p:cNvPr name="TextBox 10" id="10"/>
          <p:cNvSpPr txBox="true"/>
          <p:nvPr/>
        </p:nvSpPr>
        <p:spPr>
          <a:xfrm rot="0">
            <a:off x="685800" y="2423160"/>
            <a:ext cx="7796116" cy="3457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07194" indent="-203597" lvl="1">
              <a:lnSpc>
                <a:spcPts val="3375"/>
              </a:lnSpc>
              <a:buFont typeface="Arial"/>
              <a:buChar char="•"/>
            </a:pPr>
            <a:r>
              <a:rPr lang="en-US" sz="2250">
                <a:solidFill>
                  <a:srgbClr val="222222"/>
                </a:solidFill>
                <a:latin typeface="Calibri (MS)"/>
                <a:ea typeface="Calibri (MS)"/>
                <a:cs typeface="Calibri (MS)"/>
                <a:sym typeface="Calibri (MS)"/>
              </a:rPr>
              <a:t>? ใช้ร่วมกับฟังก์ชันที่ return เป็น Result หรื</a:t>
            </a:r>
            <a:r>
              <a:rPr lang="en-US" sz="2250">
                <a:solidFill>
                  <a:srgbClr val="222222"/>
                </a:solidFill>
                <a:latin typeface="Calibri (MS)"/>
                <a:ea typeface="Calibri (MS)"/>
                <a:cs typeface="Calibri (MS)"/>
                <a:sym typeface="Calibri (MS)"/>
              </a:rPr>
              <a:t>อ Option ในการ propagates error ด้วยตัวอักษรเดียว </a:t>
            </a:r>
          </a:p>
          <a:p>
            <a:pPr algn="l" marL="407194" indent="-203597" lvl="1">
              <a:lnSpc>
                <a:spcPts val="3375"/>
              </a:lnSpc>
              <a:buFont typeface="Arial"/>
              <a:buChar char="•"/>
            </a:pPr>
            <a:r>
              <a:rPr lang="en-US" sz="2250">
                <a:solidFill>
                  <a:srgbClr val="222222"/>
                </a:solidFill>
                <a:latin typeface="Calibri (MS)"/>
                <a:ea typeface="Calibri (MS)"/>
                <a:cs typeface="Calibri (MS)"/>
                <a:sym typeface="Calibri (MS)"/>
              </a:rPr>
              <a:t>ทำให้การพบเจอ error สามารถเขียนการส่งผลลัพธ์ที่ error นั้นได้ง่ายขึ้น แทนที่จะเป็นการเขียน match blocks เยอะ </a:t>
            </a:r>
          </a:p>
          <a:p>
            <a:pPr algn="l" marL="407194" indent="-203597" lvl="1">
              <a:lnSpc>
                <a:spcPts val="3375"/>
              </a:lnSpc>
              <a:buFont typeface="Arial"/>
              <a:buChar char="•"/>
            </a:pPr>
            <a:r>
              <a:rPr lang="en-US" sz="2250">
                <a:solidFill>
                  <a:srgbClr val="222222"/>
                </a:solidFill>
                <a:latin typeface="Calibri (MS)"/>
                <a:ea typeface="Calibri (MS)"/>
                <a:cs typeface="Calibri (MS)"/>
                <a:sym typeface="Calibri (MS)"/>
              </a:rPr>
              <a:t>ลดการเขียน match block ในกรณีที่ต้องส่งผลลัพธ์ทันทีที่เป็น error </a:t>
            </a:r>
          </a:p>
          <a:p>
            <a:pPr algn="l" marL="407194" indent="-203597" lvl="1">
              <a:lnSpc>
                <a:spcPts val="3375"/>
              </a:lnSpc>
              <a:buFont typeface="Arial"/>
              <a:buChar char="•"/>
            </a:pPr>
            <a:r>
              <a:rPr lang="en-US" sz="2250">
                <a:solidFill>
                  <a:srgbClr val="222222"/>
                </a:solidFill>
                <a:latin typeface="Calibri (MS)"/>
                <a:ea typeface="Calibri (MS)"/>
                <a:cs typeface="Calibri (MS)"/>
                <a:sym typeface="Calibri (MS)"/>
              </a:rPr>
              <a:t>หากผลเป็นสำเร็จจะใช้ค่าในผลลัพธ์มาทำงานต่อ แต่หากเป็นผลล้มเหลว ฟังก์ชันปัจจุบันจะไม่ทำงานต่อและ return ผลลัพธ์กลับทันที</a:t>
            </a:r>
          </a:p>
        </p:txBody>
      </p:sp>
      <p:grpSp>
        <p:nvGrpSpPr>
          <p:cNvPr name="Group 11" id="11"/>
          <p:cNvGrpSpPr/>
          <p:nvPr/>
        </p:nvGrpSpPr>
        <p:grpSpPr>
          <a:xfrm rot="0">
            <a:off x="8778240" y="1028700"/>
            <a:ext cx="8819388" cy="6384043"/>
            <a:chOff x="0" y="0"/>
            <a:chExt cx="11759184" cy="8512057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1759185" cy="8512058"/>
            </a:xfrm>
            <a:custGeom>
              <a:avLst/>
              <a:gdLst/>
              <a:ahLst/>
              <a:cxnLst/>
              <a:rect r="r" b="b" t="t" l="l"/>
              <a:pathLst>
                <a:path h="8512058" w="11759185">
                  <a:moveTo>
                    <a:pt x="0" y="196432"/>
                  </a:moveTo>
                  <a:cubicBezTo>
                    <a:pt x="0" y="87985"/>
                    <a:pt x="49149" y="0"/>
                    <a:pt x="109728" y="0"/>
                  </a:cubicBezTo>
                  <a:lnTo>
                    <a:pt x="11649456" y="0"/>
                  </a:lnTo>
                  <a:cubicBezTo>
                    <a:pt x="11710036" y="0"/>
                    <a:pt x="11759185" y="87985"/>
                    <a:pt x="11759185" y="196432"/>
                  </a:cubicBezTo>
                  <a:lnTo>
                    <a:pt x="11759185" y="8315626"/>
                  </a:lnTo>
                  <a:cubicBezTo>
                    <a:pt x="11759185" y="8424072"/>
                    <a:pt x="11710036" y="8512058"/>
                    <a:pt x="11649456" y="8512058"/>
                  </a:cubicBezTo>
                  <a:lnTo>
                    <a:pt x="109728" y="8512058"/>
                  </a:lnTo>
                  <a:cubicBezTo>
                    <a:pt x="49149" y="8512058"/>
                    <a:pt x="0" y="8424072"/>
                    <a:pt x="0" y="8315626"/>
                  </a:cubicBezTo>
                  <a:close/>
                </a:path>
              </a:pathLst>
            </a:custGeom>
            <a:solidFill>
              <a:srgbClr val="1E1E1E"/>
            </a:solidFill>
          </p:spPr>
        </p:sp>
      </p:grpSp>
      <p:sp>
        <p:nvSpPr>
          <p:cNvPr name="TextBox 13" id="13"/>
          <p:cNvSpPr txBox="true"/>
          <p:nvPr/>
        </p:nvSpPr>
        <p:spPr>
          <a:xfrm rot="0">
            <a:off x="9121140" y="1237488"/>
            <a:ext cx="8476488" cy="57812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97"/>
              </a:lnSpc>
            </a:pPr>
            <a:r>
              <a:rPr lang="en-US" sz="2100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  <a:t>fn calculator() -&gt; Result&lt;i32,String&gt; {</a:t>
            </a:r>
          </a:p>
          <a:p>
            <a:pPr algn="l">
              <a:lnSpc>
                <a:spcPts val="2897"/>
              </a:lnSpc>
            </a:pPr>
            <a:r>
              <a:rPr lang="en-US" sz="2100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  <a:t>  let value = divide(10,2)? ;</a:t>
            </a:r>
          </a:p>
          <a:p>
            <a:pPr algn="l">
              <a:lnSpc>
                <a:spcPts val="2897"/>
              </a:lnSpc>
            </a:pPr>
          </a:p>
          <a:p>
            <a:pPr algn="l">
              <a:lnSpc>
                <a:spcPts val="2897"/>
              </a:lnSpc>
            </a:pPr>
            <a:r>
              <a:rPr lang="en-US" sz="2100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  <a:t>  println!("Result is Ok, and continue this path");</a:t>
            </a:r>
          </a:p>
          <a:p>
            <a:pPr algn="l">
              <a:lnSpc>
                <a:spcPts val="2897"/>
              </a:lnSpc>
            </a:pPr>
            <a:r>
              <a:rPr lang="en-US" sz="2100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  <a:t>  println!("value: {}", value);</a:t>
            </a:r>
          </a:p>
          <a:p>
            <a:pPr algn="l">
              <a:lnSpc>
                <a:spcPts val="2897"/>
              </a:lnSpc>
            </a:pPr>
          </a:p>
          <a:p>
            <a:pPr algn="l">
              <a:lnSpc>
                <a:spcPts val="2897"/>
              </a:lnSpc>
            </a:pPr>
            <a:r>
              <a:rPr lang="en-US" sz="2100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  <a:t>  return Ok(value + 100)</a:t>
            </a:r>
          </a:p>
          <a:p>
            <a:pPr algn="l">
              <a:lnSpc>
                <a:spcPts val="2897"/>
              </a:lnSpc>
            </a:pPr>
            <a:r>
              <a:rPr lang="en-US" sz="2100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</a:p>
          <a:p>
            <a:pPr algn="l">
              <a:lnSpc>
                <a:spcPts val="2897"/>
              </a:lnSpc>
            </a:pPr>
          </a:p>
          <a:p>
            <a:pPr algn="l">
              <a:lnSpc>
                <a:spcPts val="2897"/>
              </a:lnSpc>
            </a:pPr>
            <a:r>
              <a:rPr lang="en-US" sz="2100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  <a:t>fn main() {</a:t>
            </a:r>
          </a:p>
          <a:p>
            <a:pPr algn="l">
              <a:lnSpc>
                <a:spcPts val="2897"/>
              </a:lnSpc>
            </a:pPr>
            <a:r>
              <a:rPr lang="en-US" sz="2100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  <a:t>  match calculator() {</a:t>
            </a:r>
          </a:p>
          <a:p>
            <a:pPr algn="l">
              <a:lnSpc>
                <a:spcPts val="2897"/>
              </a:lnSpc>
            </a:pPr>
            <a:r>
              <a:rPr lang="en-US" sz="2100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  <a:t>     Ok(value) =&gt; println!("{value}"),</a:t>
            </a:r>
          </a:p>
          <a:p>
            <a:pPr algn="l">
              <a:lnSpc>
                <a:spcPts val="2897"/>
              </a:lnSpc>
            </a:pPr>
            <a:r>
              <a:rPr lang="en-US" sz="2100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  <a:t>     Err(error) =&gt; println!("{error}"),</a:t>
            </a:r>
          </a:p>
          <a:p>
            <a:pPr algn="l">
              <a:lnSpc>
                <a:spcPts val="2897"/>
              </a:lnSpc>
            </a:pPr>
            <a:r>
              <a:rPr lang="en-US" sz="2100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  <a:t>  }</a:t>
            </a:r>
          </a:p>
          <a:p>
            <a:pPr algn="l">
              <a:lnSpc>
                <a:spcPts val="2897"/>
              </a:lnSpc>
            </a:pPr>
            <a:r>
              <a:rPr lang="en-US" sz="2100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</a:p>
          <a:p>
            <a:pPr algn="l">
              <a:lnSpc>
                <a:spcPts val="2897"/>
              </a:lnSpc>
            </a:pPr>
          </a:p>
        </p:txBody>
      </p:sp>
      <p:grpSp>
        <p:nvGrpSpPr>
          <p:cNvPr name="Group 14" id="14"/>
          <p:cNvGrpSpPr/>
          <p:nvPr/>
        </p:nvGrpSpPr>
        <p:grpSpPr>
          <a:xfrm rot="0">
            <a:off x="8780526" y="7479418"/>
            <a:ext cx="8819388" cy="411480"/>
            <a:chOff x="0" y="0"/>
            <a:chExt cx="11759184" cy="54864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1759184" cy="548640"/>
            </a:xfrm>
            <a:custGeom>
              <a:avLst/>
              <a:gdLst/>
              <a:ahLst/>
              <a:cxnLst/>
              <a:rect r="r" b="b" t="t" l="l"/>
              <a:pathLst>
                <a:path h="548640" w="11759184">
                  <a:moveTo>
                    <a:pt x="0" y="0"/>
                  </a:moveTo>
                  <a:lnTo>
                    <a:pt x="11759184" y="0"/>
                  </a:lnTo>
                  <a:lnTo>
                    <a:pt x="11759184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67629" r="0" b="-367629"/>
              </a:stretch>
            </a:blip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38100"/>
              <a:ext cx="11759184" cy="5867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 b="true">
                  <a:solidFill>
                    <a:srgbClr val="6B6B6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ผลลัพธ์ที่คาดหวัง (Expected Output)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8780526" y="7959478"/>
            <a:ext cx="8819388" cy="844187"/>
            <a:chOff x="0" y="0"/>
            <a:chExt cx="11759184" cy="1125582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1759185" cy="1125582"/>
            </a:xfrm>
            <a:custGeom>
              <a:avLst/>
              <a:gdLst/>
              <a:ahLst/>
              <a:cxnLst/>
              <a:rect r="r" b="b" t="t" l="l"/>
              <a:pathLst>
                <a:path h="1125582" w="11759185">
                  <a:moveTo>
                    <a:pt x="0" y="61395"/>
                  </a:moveTo>
                  <a:cubicBezTo>
                    <a:pt x="0" y="27500"/>
                    <a:pt x="49149" y="0"/>
                    <a:pt x="109728" y="0"/>
                  </a:cubicBezTo>
                  <a:lnTo>
                    <a:pt x="11649456" y="0"/>
                  </a:lnTo>
                  <a:cubicBezTo>
                    <a:pt x="11710036" y="0"/>
                    <a:pt x="11759185" y="27500"/>
                    <a:pt x="11759185" y="61395"/>
                  </a:cubicBezTo>
                  <a:lnTo>
                    <a:pt x="11759185" y="1064187"/>
                  </a:lnTo>
                  <a:cubicBezTo>
                    <a:pt x="11759185" y="1098082"/>
                    <a:pt x="11710036" y="1125582"/>
                    <a:pt x="11649456" y="1125582"/>
                  </a:cubicBezTo>
                  <a:lnTo>
                    <a:pt x="109728" y="1125582"/>
                  </a:lnTo>
                  <a:cubicBezTo>
                    <a:pt x="49149" y="1125582"/>
                    <a:pt x="0" y="1098082"/>
                    <a:pt x="0" y="1064187"/>
                  </a:cubicBezTo>
                  <a:close/>
                </a:path>
              </a:pathLst>
            </a:custGeom>
            <a:solidFill>
              <a:srgbClr val="1E1E1E"/>
            </a:solidFill>
          </p:spPr>
        </p:sp>
      </p:grpSp>
      <p:sp>
        <p:nvSpPr>
          <p:cNvPr name="TextBox 19" id="19"/>
          <p:cNvSpPr txBox="true"/>
          <p:nvPr/>
        </p:nvSpPr>
        <p:spPr>
          <a:xfrm rot="0">
            <a:off x="9123426" y="8168266"/>
            <a:ext cx="8133588" cy="3268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90"/>
              </a:lnSpc>
            </a:pPr>
            <a:r>
              <a:rPr lang="en-US" sz="1950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  <a:t>Error:B </a:t>
            </a:r>
            <a:r>
              <a:rPr lang="en-US" sz="1950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  <a:t>can’t be zero</a:t>
            </a:r>
          </a:p>
        </p:txBody>
      </p:sp>
      <p:grpSp>
        <p:nvGrpSpPr>
          <p:cNvPr name="Group 20" id="20"/>
          <p:cNvGrpSpPr/>
          <p:nvPr/>
        </p:nvGrpSpPr>
        <p:grpSpPr>
          <a:xfrm rot="0">
            <a:off x="685800" y="9710928"/>
            <a:ext cx="10972800" cy="411480"/>
            <a:chOff x="0" y="0"/>
            <a:chExt cx="14630400" cy="54864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14630400" cy="548640"/>
            </a:xfrm>
            <a:custGeom>
              <a:avLst/>
              <a:gdLst/>
              <a:ahLst/>
              <a:cxnLst/>
              <a:rect r="r" b="b" t="t" l="l"/>
              <a:pathLst>
                <a:path h="548640" w="14630400">
                  <a:moveTo>
                    <a:pt x="0" y="0"/>
                  </a:moveTo>
                  <a:lnTo>
                    <a:pt x="14630400" y="0"/>
                  </a:lnTo>
                  <a:lnTo>
                    <a:pt x="146304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69601" r="0" b="-469601"/>
              </a:stretch>
            </a:blip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38100"/>
              <a:ext cx="14630400" cy="5867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00"/>
                </a:lnSpc>
              </a:pPr>
              <a:r>
                <a:rPr lang="en-US" sz="1500">
                  <a:solidFill>
                    <a:srgbClr val="6B6B6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517321 Principles of Programming Languages — Rust Tutorial</a:t>
              </a: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16911828" y="9710928"/>
            <a:ext cx="685800" cy="411480"/>
            <a:chOff x="0" y="0"/>
            <a:chExt cx="914400" cy="54864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914400" cy="548640"/>
            </a:xfrm>
            <a:custGeom>
              <a:avLst/>
              <a:gdLst/>
              <a:ahLst/>
              <a:cxnLst/>
              <a:rect r="r" b="b" t="t" l="l"/>
              <a:pathLst>
                <a:path h="548640" w="914400">
                  <a:moveTo>
                    <a:pt x="0" y="0"/>
                  </a:moveTo>
                  <a:lnTo>
                    <a:pt x="914400" y="0"/>
                  </a:lnTo>
                  <a:lnTo>
                    <a:pt x="9144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26982" t="0" r="-26982" b="0"/>
              </a:stretch>
            </a:blipFill>
          </p:spPr>
        </p:sp>
        <p:sp>
          <p:nvSpPr>
            <p:cNvPr name="TextBox 25" id="25"/>
            <p:cNvSpPr txBox="true"/>
            <p:nvPr/>
          </p:nvSpPr>
          <p:spPr>
            <a:xfrm>
              <a:off x="0" y="-38100"/>
              <a:ext cx="914400" cy="5867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800"/>
                </a:lnSpc>
              </a:pPr>
              <a:r>
                <a:rPr lang="en-US" sz="1500">
                  <a:solidFill>
                    <a:srgbClr val="6B6B6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3</a:t>
              </a:r>
            </a:p>
          </p:txBody>
        </p:sp>
      </p:grpSp>
    </p:spTree>
  </p:cSld>
  <p:clrMapOvr>
    <a:masterClrMapping/>
  </p:clrMapOvr>
  <p:transition spd="fast">
    <p:wipe dir="l"/>
  </p:transition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685800" y="617220"/>
            <a:ext cx="4114800" cy="576072"/>
            <a:chOff x="0" y="0"/>
            <a:chExt cx="5486400" cy="76809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5486400" cy="768096"/>
            </a:xfrm>
            <a:custGeom>
              <a:avLst/>
              <a:gdLst/>
              <a:ahLst/>
              <a:cxnLst/>
              <a:rect r="r" b="b" t="t" l="l"/>
              <a:pathLst>
                <a:path h="768096" w="5486400">
                  <a:moveTo>
                    <a:pt x="0" y="146304"/>
                  </a:moveTo>
                  <a:cubicBezTo>
                    <a:pt x="0" y="65532"/>
                    <a:pt x="65532" y="0"/>
                    <a:pt x="146304" y="0"/>
                  </a:cubicBezTo>
                  <a:lnTo>
                    <a:pt x="5340096" y="0"/>
                  </a:lnTo>
                  <a:cubicBezTo>
                    <a:pt x="5420868" y="0"/>
                    <a:pt x="5486400" y="65532"/>
                    <a:pt x="5486400" y="146304"/>
                  </a:cubicBezTo>
                  <a:lnTo>
                    <a:pt x="5486400" y="621792"/>
                  </a:lnTo>
                  <a:cubicBezTo>
                    <a:pt x="5486400" y="702564"/>
                    <a:pt x="5420868" y="768096"/>
                    <a:pt x="5340096" y="768096"/>
                  </a:cubicBezTo>
                  <a:lnTo>
                    <a:pt x="146304" y="768096"/>
                  </a:lnTo>
                  <a:cubicBezTo>
                    <a:pt x="65532" y="768096"/>
                    <a:pt x="0" y="702564"/>
                    <a:pt x="0" y="621792"/>
                  </a:cubicBezTo>
                  <a:close/>
                </a:path>
              </a:pathLst>
            </a:custGeom>
            <a:solidFill>
              <a:srgbClr val="8B2E2E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685800" y="617220"/>
            <a:ext cx="4114800" cy="576072"/>
            <a:chOff x="0" y="0"/>
            <a:chExt cx="5486400" cy="768096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5486400" cy="768096"/>
            </a:xfrm>
            <a:custGeom>
              <a:avLst/>
              <a:gdLst/>
              <a:ahLst/>
              <a:cxnLst/>
              <a:rect r="r" b="b" t="t" l="l"/>
              <a:pathLst>
                <a:path h="768096" w="5486400">
                  <a:moveTo>
                    <a:pt x="0" y="0"/>
                  </a:moveTo>
                  <a:lnTo>
                    <a:pt x="5486400" y="0"/>
                  </a:lnTo>
                  <a:lnTo>
                    <a:pt x="5486400" y="768096"/>
                  </a:lnTo>
                  <a:lnTo>
                    <a:pt x="0" y="76809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9178" r="0" b="-89178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-47625"/>
              <a:ext cx="5486400" cy="81572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340"/>
                </a:lnSpc>
              </a:pPr>
              <a:r>
                <a:rPr lang="en-US" sz="195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PART 2 · MEMBER 2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685800" y="1440180"/>
            <a:ext cx="16911828" cy="960120"/>
            <a:chOff x="0" y="0"/>
            <a:chExt cx="22549104" cy="128016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2549104" cy="1280160"/>
            </a:xfrm>
            <a:custGeom>
              <a:avLst/>
              <a:gdLst/>
              <a:ahLst/>
              <a:cxnLst/>
              <a:rect r="r" b="b" t="t" l="l"/>
              <a:pathLst>
                <a:path h="1280160" w="22549104">
                  <a:moveTo>
                    <a:pt x="0" y="0"/>
                  </a:moveTo>
                  <a:lnTo>
                    <a:pt x="22549104" y="0"/>
                  </a:lnTo>
                  <a:lnTo>
                    <a:pt x="22549104" y="1280160"/>
                  </a:lnTo>
                  <a:lnTo>
                    <a:pt x="0" y="12801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93215" r="0" b="-293215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>
              <a:off x="0" y="-19050"/>
              <a:ext cx="22549104" cy="129921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400"/>
                </a:lnSpc>
              </a:pPr>
              <a:r>
                <a:rPr lang="en-US" sz="4500" b="true">
                  <a:solidFill>
                    <a:srgbClr val="222222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Detailed Code + Live Demo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685800" y="2537460"/>
            <a:ext cx="9738360" cy="7173468"/>
            <a:chOff x="0" y="0"/>
            <a:chExt cx="12984480" cy="9564624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2984480" cy="9564625"/>
            </a:xfrm>
            <a:custGeom>
              <a:avLst/>
              <a:gdLst/>
              <a:ahLst/>
              <a:cxnLst/>
              <a:rect r="r" b="b" t="t" l="l"/>
              <a:pathLst>
                <a:path h="9564625" w="12984480">
                  <a:moveTo>
                    <a:pt x="0" y="147148"/>
                  </a:moveTo>
                  <a:cubicBezTo>
                    <a:pt x="0" y="65910"/>
                    <a:pt x="49149" y="0"/>
                    <a:pt x="109728" y="0"/>
                  </a:cubicBezTo>
                  <a:lnTo>
                    <a:pt x="12874752" y="0"/>
                  </a:lnTo>
                  <a:cubicBezTo>
                    <a:pt x="12935331" y="0"/>
                    <a:pt x="12984480" y="65910"/>
                    <a:pt x="12984480" y="147148"/>
                  </a:cubicBezTo>
                  <a:lnTo>
                    <a:pt x="12984480" y="9417476"/>
                  </a:lnTo>
                  <a:cubicBezTo>
                    <a:pt x="12984480" y="9498715"/>
                    <a:pt x="12935331" y="9564625"/>
                    <a:pt x="12874752" y="9564625"/>
                  </a:cubicBezTo>
                  <a:lnTo>
                    <a:pt x="109728" y="9564625"/>
                  </a:lnTo>
                  <a:cubicBezTo>
                    <a:pt x="49149" y="9564625"/>
                    <a:pt x="0" y="9498715"/>
                    <a:pt x="0" y="9417476"/>
                  </a:cubicBezTo>
                  <a:close/>
                </a:path>
              </a:pathLst>
            </a:custGeom>
            <a:solidFill>
              <a:srgbClr val="1E1E1E"/>
            </a:solidFill>
          </p:spPr>
        </p:sp>
      </p:grpSp>
      <p:sp>
        <p:nvSpPr>
          <p:cNvPr name="TextBox 12" id="12"/>
          <p:cNvSpPr txBox="true"/>
          <p:nvPr/>
        </p:nvSpPr>
        <p:spPr>
          <a:xfrm rot="0">
            <a:off x="1016420" y="3028550"/>
            <a:ext cx="9052560" cy="43334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97"/>
              </a:lnSpc>
            </a:pPr>
            <a:r>
              <a:rPr lang="en-US" sz="2100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  <a:t>fn main() {</a:t>
            </a:r>
          </a:p>
          <a:p>
            <a:pPr algn="l">
              <a:lnSpc>
                <a:spcPts val="2897"/>
              </a:lnSpc>
            </a:pPr>
            <a:r>
              <a:rPr lang="en-US" sz="2100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  <a:t>   </a:t>
            </a:r>
          </a:p>
          <a:p>
            <a:pPr algn="l">
              <a:lnSpc>
                <a:spcPts val="2897"/>
              </a:lnSpc>
            </a:pPr>
            <a:r>
              <a:rPr lang="en-US" sz="2100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  <a:t>    cause_panic(5); </a:t>
            </a:r>
          </a:p>
          <a:p>
            <a:pPr algn="l">
              <a:lnSpc>
                <a:spcPts val="2897"/>
              </a:lnSpc>
            </a:pPr>
            <a:r>
              <a:rPr lang="en-US" sz="2100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  <a:t>    </a:t>
            </a:r>
          </a:p>
          <a:p>
            <a:pPr algn="l">
              <a:lnSpc>
                <a:spcPts val="2897"/>
              </a:lnSpc>
            </a:pPr>
            <a:r>
              <a:rPr lang="en-US" sz="2100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  <a:t>    //Option</a:t>
            </a:r>
          </a:p>
          <a:p>
            <a:pPr algn="l">
              <a:lnSpc>
                <a:spcPts val="2897"/>
              </a:lnSpc>
            </a:pPr>
            <a:r>
              <a:rPr lang="en-US" sz="2100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  <a:t>    match find_first_a("Hello World!"){</a:t>
            </a:r>
          </a:p>
          <a:p>
            <a:pPr algn="l">
              <a:lnSpc>
                <a:spcPts val="2897"/>
              </a:lnSpc>
            </a:pPr>
            <a:r>
              <a:rPr lang="en-US" sz="2100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  <a:t>        Some(index) =&gt; println!("The first 'a' is at index {}", index),</a:t>
            </a:r>
          </a:p>
          <a:p>
            <a:pPr algn="l">
              <a:lnSpc>
                <a:spcPts val="2897"/>
              </a:lnSpc>
            </a:pPr>
            <a:r>
              <a:rPr lang="en-US" sz="2100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  <a:t>        None =&gt; println!("No 'a' found in the text."),</a:t>
            </a:r>
          </a:p>
          <a:p>
            <a:pPr algn="l">
              <a:lnSpc>
                <a:spcPts val="2897"/>
              </a:lnSpc>
            </a:pPr>
            <a:r>
              <a:rPr lang="en-US" sz="2100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  <a:t>    }</a:t>
            </a:r>
          </a:p>
          <a:p>
            <a:pPr algn="l">
              <a:lnSpc>
                <a:spcPts val="2897"/>
              </a:lnSpc>
            </a:pPr>
          </a:p>
          <a:p>
            <a:pPr algn="l">
              <a:lnSpc>
                <a:spcPts val="2897"/>
              </a:lnSpc>
            </a:pPr>
            <a:r>
              <a:rPr lang="en-US" sz="2100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</a:p>
        </p:txBody>
      </p:sp>
      <p:grpSp>
        <p:nvGrpSpPr>
          <p:cNvPr name="Group 13" id="13"/>
          <p:cNvGrpSpPr/>
          <p:nvPr/>
        </p:nvGrpSpPr>
        <p:grpSpPr>
          <a:xfrm rot="0">
            <a:off x="685800" y="9710928"/>
            <a:ext cx="10972800" cy="411480"/>
            <a:chOff x="0" y="0"/>
            <a:chExt cx="14630400" cy="54864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4630400" cy="548640"/>
            </a:xfrm>
            <a:custGeom>
              <a:avLst/>
              <a:gdLst/>
              <a:ahLst/>
              <a:cxnLst/>
              <a:rect r="r" b="b" t="t" l="l"/>
              <a:pathLst>
                <a:path h="548640" w="14630400">
                  <a:moveTo>
                    <a:pt x="0" y="0"/>
                  </a:moveTo>
                  <a:lnTo>
                    <a:pt x="14630400" y="0"/>
                  </a:lnTo>
                  <a:lnTo>
                    <a:pt x="146304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69601" r="0" b="-469601"/>
              </a:stretch>
            </a:blip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38100"/>
              <a:ext cx="14630400" cy="5867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00"/>
                </a:lnSpc>
              </a:pPr>
              <a:r>
                <a:rPr lang="en-US" sz="1500">
                  <a:solidFill>
                    <a:srgbClr val="6B6B6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517321 Principles of Programming Languages — Rust Tutorial</a:t>
              </a: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16911828" y="9710928"/>
            <a:ext cx="685800" cy="411480"/>
            <a:chOff x="0" y="0"/>
            <a:chExt cx="914400" cy="54864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914400" cy="548640"/>
            </a:xfrm>
            <a:custGeom>
              <a:avLst/>
              <a:gdLst/>
              <a:ahLst/>
              <a:cxnLst/>
              <a:rect r="r" b="b" t="t" l="l"/>
              <a:pathLst>
                <a:path h="548640" w="914400">
                  <a:moveTo>
                    <a:pt x="0" y="0"/>
                  </a:moveTo>
                  <a:lnTo>
                    <a:pt x="914400" y="0"/>
                  </a:lnTo>
                  <a:lnTo>
                    <a:pt x="9144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26982" t="0" r="-26982" b="0"/>
              </a:stretch>
            </a:blipFill>
          </p:spPr>
        </p:sp>
        <p:sp>
          <p:nvSpPr>
            <p:cNvPr name="TextBox 18" id="18"/>
            <p:cNvSpPr txBox="true"/>
            <p:nvPr/>
          </p:nvSpPr>
          <p:spPr>
            <a:xfrm>
              <a:off x="0" y="-38100"/>
              <a:ext cx="914400" cy="5867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800"/>
                </a:lnSpc>
              </a:pPr>
              <a:r>
                <a:rPr lang="en-US" sz="1500">
                  <a:solidFill>
                    <a:srgbClr val="6B6B6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4</a:t>
              </a: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10800854" y="2537460"/>
            <a:ext cx="6796774" cy="7173468"/>
            <a:chOff x="0" y="0"/>
            <a:chExt cx="9062365" cy="9564624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9062365" cy="9564625"/>
            </a:xfrm>
            <a:custGeom>
              <a:avLst/>
              <a:gdLst/>
              <a:ahLst/>
              <a:cxnLst/>
              <a:rect r="r" b="b" t="t" l="l"/>
              <a:pathLst>
                <a:path h="9564625" w="9062365">
                  <a:moveTo>
                    <a:pt x="0" y="147148"/>
                  </a:moveTo>
                  <a:cubicBezTo>
                    <a:pt x="0" y="65910"/>
                    <a:pt x="34303" y="0"/>
                    <a:pt x="76583" y="0"/>
                  </a:cubicBezTo>
                  <a:lnTo>
                    <a:pt x="8985782" y="0"/>
                  </a:lnTo>
                  <a:cubicBezTo>
                    <a:pt x="9028063" y="0"/>
                    <a:pt x="9062365" y="65910"/>
                    <a:pt x="9062365" y="147148"/>
                  </a:cubicBezTo>
                  <a:lnTo>
                    <a:pt x="9062365" y="9417476"/>
                  </a:lnTo>
                  <a:cubicBezTo>
                    <a:pt x="9062365" y="9498715"/>
                    <a:pt x="9028063" y="9564625"/>
                    <a:pt x="8985782" y="9564625"/>
                  </a:cubicBezTo>
                  <a:lnTo>
                    <a:pt x="76583" y="9564625"/>
                  </a:lnTo>
                  <a:cubicBezTo>
                    <a:pt x="34303" y="9564625"/>
                    <a:pt x="0" y="9498715"/>
                    <a:pt x="0" y="9417476"/>
                  </a:cubicBezTo>
                  <a:close/>
                </a:path>
              </a:pathLst>
            </a:custGeom>
            <a:solidFill>
              <a:srgbClr val="1E1E1E"/>
            </a:solidFill>
          </p:spPr>
        </p:sp>
      </p:grpSp>
      <p:sp>
        <p:nvSpPr>
          <p:cNvPr name="TextBox 21" id="21"/>
          <p:cNvSpPr txBox="true"/>
          <p:nvPr/>
        </p:nvSpPr>
        <p:spPr>
          <a:xfrm rot="0">
            <a:off x="11049153" y="3326892"/>
            <a:ext cx="6300176" cy="54193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97"/>
              </a:lnSpc>
            </a:pPr>
            <a:r>
              <a:rPr lang="en-US" sz="2100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  <a:t>//Panic</a:t>
            </a:r>
          </a:p>
          <a:p>
            <a:pPr algn="l">
              <a:lnSpc>
                <a:spcPts val="2897"/>
              </a:lnSpc>
            </a:pPr>
            <a:r>
              <a:rPr lang="en-US" sz="2100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  <a:t>fn</a:t>
            </a:r>
            <a:r>
              <a:rPr lang="en-US" sz="2100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  <a:t> cause_panic(value: i32){</a:t>
            </a:r>
          </a:p>
          <a:p>
            <a:pPr algn="l">
              <a:lnSpc>
                <a:spcPts val="2897"/>
              </a:lnSpc>
            </a:pPr>
            <a:r>
              <a:rPr lang="en-US" sz="2100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  <a:t>    if value == 0{</a:t>
            </a:r>
          </a:p>
          <a:p>
            <a:pPr algn="l">
              <a:lnSpc>
                <a:spcPts val="2897"/>
              </a:lnSpc>
            </a:pPr>
            <a:r>
              <a:rPr lang="en-US" sz="2100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lang="en-US" sz="2100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  <a:t>    panic!("Panic!</a:t>
            </a:r>
            <a:r>
              <a:rPr lang="en-US" sz="2100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  <a:t> The value was zero, which is not allowed here");</a:t>
            </a:r>
          </a:p>
          <a:p>
            <a:pPr algn="l">
              <a:lnSpc>
                <a:spcPts val="2897"/>
              </a:lnSpc>
            </a:pPr>
            <a:r>
              <a:rPr lang="en-US" sz="2100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  <a:t>    }</a:t>
            </a:r>
          </a:p>
          <a:p>
            <a:pPr algn="l">
              <a:lnSpc>
                <a:spcPts val="2897"/>
              </a:lnSpc>
            </a:pPr>
            <a:r>
              <a:rPr lang="en-US" sz="2100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  <a:t>    println!("Value{} is fine.",value);</a:t>
            </a:r>
          </a:p>
          <a:p>
            <a:pPr algn="l">
              <a:lnSpc>
                <a:spcPts val="2897"/>
              </a:lnSpc>
            </a:pPr>
            <a:r>
              <a:rPr lang="en-US" sz="2100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</a:p>
          <a:p>
            <a:pPr algn="l">
              <a:lnSpc>
                <a:spcPts val="2897"/>
              </a:lnSpc>
            </a:pPr>
          </a:p>
          <a:p>
            <a:pPr algn="l">
              <a:lnSpc>
                <a:spcPts val="2897"/>
              </a:lnSpc>
            </a:pPr>
            <a:r>
              <a:rPr lang="en-US" sz="2100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  <a:t>//O</a:t>
            </a:r>
            <a:r>
              <a:rPr lang="en-US" sz="2100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  <a:t>ption</a:t>
            </a:r>
          </a:p>
          <a:p>
            <a:pPr algn="l">
              <a:lnSpc>
                <a:spcPts val="2897"/>
              </a:lnSpc>
            </a:pPr>
            <a:r>
              <a:rPr lang="en-US" sz="2100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  <a:t>fn find_first_a(text: &amp;str) -&gt; Option&lt;usize&gt;{</a:t>
            </a:r>
          </a:p>
          <a:p>
            <a:pPr algn="l">
              <a:lnSpc>
                <a:spcPts val="2897"/>
              </a:lnSpc>
            </a:pPr>
            <a:r>
              <a:rPr lang="en-US" sz="2100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  <a:t>    text.find('a')</a:t>
            </a:r>
            <a:r>
              <a:rPr lang="en-US" sz="2100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</a:p>
          <a:p>
            <a:pPr algn="l">
              <a:lnSpc>
                <a:spcPts val="2897"/>
              </a:lnSpc>
            </a:pPr>
            <a:r>
              <a:rPr lang="en-US" sz="2100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</a:p>
          <a:p>
            <a:pPr algn="l">
              <a:lnSpc>
                <a:spcPts val="2897"/>
              </a:lnSpc>
            </a:pPr>
          </a:p>
        </p:txBody>
      </p:sp>
    </p:spTree>
  </p:cSld>
  <p:clrMapOvr>
    <a:masterClrMapping/>
  </p:clrMapOvr>
  <p:transition spd="fast">
    <p:wipe dir="l"/>
  </p:transition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685800" y="617220"/>
            <a:ext cx="4114800" cy="576072"/>
            <a:chOff x="0" y="0"/>
            <a:chExt cx="5486400" cy="76809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5486400" cy="768096"/>
            </a:xfrm>
            <a:custGeom>
              <a:avLst/>
              <a:gdLst/>
              <a:ahLst/>
              <a:cxnLst/>
              <a:rect r="r" b="b" t="t" l="l"/>
              <a:pathLst>
                <a:path h="768096" w="5486400">
                  <a:moveTo>
                    <a:pt x="0" y="146304"/>
                  </a:moveTo>
                  <a:cubicBezTo>
                    <a:pt x="0" y="65532"/>
                    <a:pt x="65532" y="0"/>
                    <a:pt x="146304" y="0"/>
                  </a:cubicBezTo>
                  <a:lnTo>
                    <a:pt x="5340096" y="0"/>
                  </a:lnTo>
                  <a:cubicBezTo>
                    <a:pt x="5420868" y="0"/>
                    <a:pt x="5486400" y="65532"/>
                    <a:pt x="5486400" y="146304"/>
                  </a:cubicBezTo>
                  <a:lnTo>
                    <a:pt x="5486400" y="621792"/>
                  </a:lnTo>
                  <a:cubicBezTo>
                    <a:pt x="5486400" y="702564"/>
                    <a:pt x="5420868" y="768096"/>
                    <a:pt x="5340096" y="768096"/>
                  </a:cubicBezTo>
                  <a:lnTo>
                    <a:pt x="146304" y="768096"/>
                  </a:lnTo>
                  <a:cubicBezTo>
                    <a:pt x="65532" y="768096"/>
                    <a:pt x="0" y="702564"/>
                    <a:pt x="0" y="621792"/>
                  </a:cubicBezTo>
                  <a:close/>
                </a:path>
              </a:pathLst>
            </a:custGeom>
            <a:solidFill>
              <a:srgbClr val="8B2E2E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685800" y="617220"/>
            <a:ext cx="4114800" cy="576072"/>
            <a:chOff x="0" y="0"/>
            <a:chExt cx="5486400" cy="768096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5486400" cy="768096"/>
            </a:xfrm>
            <a:custGeom>
              <a:avLst/>
              <a:gdLst/>
              <a:ahLst/>
              <a:cxnLst/>
              <a:rect r="r" b="b" t="t" l="l"/>
              <a:pathLst>
                <a:path h="768096" w="5486400">
                  <a:moveTo>
                    <a:pt x="0" y="0"/>
                  </a:moveTo>
                  <a:lnTo>
                    <a:pt x="5486400" y="0"/>
                  </a:lnTo>
                  <a:lnTo>
                    <a:pt x="5486400" y="768096"/>
                  </a:lnTo>
                  <a:lnTo>
                    <a:pt x="0" y="76809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9178" r="0" b="-89178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-47625"/>
              <a:ext cx="5486400" cy="81572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340"/>
                </a:lnSpc>
              </a:pPr>
              <a:r>
                <a:rPr lang="en-US" sz="195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PART 2 · MEMBER 2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845421" y="1577340"/>
            <a:ext cx="16911828" cy="960120"/>
            <a:chOff x="0" y="0"/>
            <a:chExt cx="22549104" cy="128016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2549104" cy="1280160"/>
            </a:xfrm>
            <a:custGeom>
              <a:avLst/>
              <a:gdLst/>
              <a:ahLst/>
              <a:cxnLst/>
              <a:rect r="r" b="b" t="t" l="l"/>
              <a:pathLst>
                <a:path h="1280160" w="22549104">
                  <a:moveTo>
                    <a:pt x="0" y="0"/>
                  </a:moveTo>
                  <a:lnTo>
                    <a:pt x="22549104" y="0"/>
                  </a:lnTo>
                  <a:lnTo>
                    <a:pt x="22549104" y="1280160"/>
                  </a:lnTo>
                  <a:lnTo>
                    <a:pt x="0" y="12801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93215" r="0" b="-293215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>
              <a:off x="0" y="-19050"/>
              <a:ext cx="22549104" cy="129921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400"/>
                </a:lnSpc>
              </a:pPr>
              <a:r>
                <a:rPr lang="en-US" sz="4500" b="true">
                  <a:solidFill>
                    <a:srgbClr val="222222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Detailed Code + Live Demo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685800" y="2537460"/>
            <a:ext cx="7652307" cy="3406503"/>
            <a:chOff x="0" y="0"/>
            <a:chExt cx="10203075" cy="4542004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0203076" cy="4542005"/>
            </a:xfrm>
            <a:custGeom>
              <a:avLst/>
              <a:gdLst/>
              <a:ahLst/>
              <a:cxnLst/>
              <a:rect r="r" b="b" t="t" l="l"/>
              <a:pathLst>
                <a:path h="4542005" w="10203076">
                  <a:moveTo>
                    <a:pt x="0" y="69877"/>
                  </a:moveTo>
                  <a:cubicBezTo>
                    <a:pt x="0" y="31299"/>
                    <a:pt x="38621" y="0"/>
                    <a:pt x="86223" y="0"/>
                  </a:cubicBezTo>
                  <a:lnTo>
                    <a:pt x="10116852" y="0"/>
                  </a:lnTo>
                  <a:cubicBezTo>
                    <a:pt x="10164455" y="0"/>
                    <a:pt x="10203076" y="31299"/>
                    <a:pt x="10203076" y="69877"/>
                  </a:cubicBezTo>
                  <a:lnTo>
                    <a:pt x="10203076" y="4472127"/>
                  </a:lnTo>
                  <a:cubicBezTo>
                    <a:pt x="10203076" y="4510706"/>
                    <a:pt x="10164455" y="4542005"/>
                    <a:pt x="10116852" y="4542005"/>
                  </a:cubicBezTo>
                  <a:lnTo>
                    <a:pt x="86223" y="4542005"/>
                  </a:lnTo>
                  <a:cubicBezTo>
                    <a:pt x="38621" y="4542005"/>
                    <a:pt x="0" y="4510706"/>
                    <a:pt x="0" y="4472127"/>
                  </a:cubicBezTo>
                  <a:close/>
                </a:path>
              </a:pathLst>
            </a:custGeom>
            <a:solidFill>
              <a:srgbClr val="1E1E1E"/>
            </a:solidFill>
          </p:spPr>
        </p:sp>
      </p:grpSp>
      <p:sp>
        <p:nvSpPr>
          <p:cNvPr name="TextBox 12" id="12"/>
          <p:cNvSpPr txBox="true"/>
          <p:nvPr/>
        </p:nvSpPr>
        <p:spPr>
          <a:xfrm rot="0">
            <a:off x="1028700" y="3343656"/>
            <a:ext cx="9052560" cy="17998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97"/>
              </a:lnSpc>
            </a:pPr>
            <a:r>
              <a:rPr lang="en-US" sz="2100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  <a:t>fn main(){</a:t>
            </a:r>
          </a:p>
          <a:p>
            <a:pPr algn="l">
              <a:lnSpc>
                <a:spcPts val="2897"/>
              </a:lnSpc>
            </a:pPr>
            <a:r>
              <a:rPr lang="en-US" sz="2100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  <a:t>    println!("{:?}",divide(5.0,2.0));</a:t>
            </a:r>
          </a:p>
          <a:p>
            <a:pPr algn="l">
              <a:lnSpc>
                <a:spcPts val="2897"/>
              </a:lnSpc>
            </a:pPr>
            <a:r>
              <a:rPr lang="en-US" sz="2100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  <a:t>    println!("{:?}",divide(5.0,0.0));</a:t>
            </a:r>
          </a:p>
          <a:p>
            <a:pPr algn="l">
              <a:lnSpc>
                <a:spcPts val="2897"/>
              </a:lnSpc>
            </a:pPr>
          </a:p>
          <a:p>
            <a:pPr algn="l">
              <a:lnSpc>
                <a:spcPts val="2897"/>
              </a:lnSpc>
            </a:pPr>
            <a:r>
              <a:rPr lang="en-US" sz="2100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  <a:t>} </a:t>
            </a:r>
          </a:p>
        </p:txBody>
      </p:sp>
      <p:grpSp>
        <p:nvGrpSpPr>
          <p:cNvPr name="Group 13" id="13"/>
          <p:cNvGrpSpPr/>
          <p:nvPr/>
        </p:nvGrpSpPr>
        <p:grpSpPr>
          <a:xfrm rot="0">
            <a:off x="685800" y="9710928"/>
            <a:ext cx="10972800" cy="411480"/>
            <a:chOff x="0" y="0"/>
            <a:chExt cx="14630400" cy="54864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4630400" cy="548640"/>
            </a:xfrm>
            <a:custGeom>
              <a:avLst/>
              <a:gdLst/>
              <a:ahLst/>
              <a:cxnLst/>
              <a:rect r="r" b="b" t="t" l="l"/>
              <a:pathLst>
                <a:path h="548640" w="14630400">
                  <a:moveTo>
                    <a:pt x="0" y="0"/>
                  </a:moveTo>
                  <a:lnTo>
                    <a:pt x="14630400" y="0"/>
                  </a:lnTo>
                  <a:lnTo>
                    <a:pt x="146304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69601" r="0" b="-469601"/>
              </a:stretch>
            </a:blip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38100"/>
              <a:ext cx="14630400" cy="5867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00"/>
                </a:lnSpc>
              </a:pPr>
              <a:r>
                <a:rPr lang="en-US" sz="1500">
                  <a:solidFill>
                    <a:srgbClr val="6B6B6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517321 Principles of Programming Languages — Rust Tutorial</a:t>
              </a: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16911828" y="9710928"/>
            <a:ext cx="685800" cy="411480"/>
            <a:chOff x="0" y="0"/>
            <a:chExt cx="914400" cy="54864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914400" cy="548640"/>
            </a:xfrm>
            <a:custGeom>
              <a:avLst/>
              <a:gdLst/>
              <a:ahLst/>
              <a:cxnLst/>
              <a:rect r="r" b="b" t="t" l="l"/>
              <a:pathLst>
                <a:path h="548640" w="914400">
                  <a:moveTo>
                    <a:pt x="0" y="0"/>
                  </a:moveTo>
                  <a:lnTo>
                    <a:pt x="914400" y="0"/>
                  </a:lnTo>
                  <a:lnTo>
                    <a:pt x="9144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26982" t="0" r="-26982" b="0"/>
              </a:stretch>
            </a:blipFill>
          </p:spPr>
        </p:sp>
        <p:sp>
          <p:nvSpPr>
            <p:cNvPr name="TextBox 18" id="18"/>
            <p:cNvSpPr txBox="true"/>
            <p:nvPr/>
          </p:nvSpPr>
          <p:spPr>
            <a:xfrm>
              <a:off x="0" y="-38100"/>
              <a:ext cx="914400" cy="5867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800"/>
                </a:lnSpc>
              </a:pPr>
              <a:r>
                <a:rPr lang="en-US" sz="1500">
                  <a:solidFill>
                    <a:srgbClr val="6B6B6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4</a:t>
              </a: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8548681" y="2537460"/>
            <a:ext cx="9048947" cy="6557799"/>
            <a:chOff x="0" y="0"/>
            <a:chExt cx="12065263" cy="8743731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12065263" cy="8743732"/>
            </a:xfrm>
            <a:custGeom>
              <a:avLst/>
              <a:gdLst/>
              <a:ahLst/>
              <a:cxnLst/>
              <a:rect r="r" b="b" t="t" l="l"/>
              <a:pathLst>
                <a:path h="8743732" w="12065263">
                  <a:moveTo>
                    <a:pt x="0" y="134519"/>
                  </a:moveTo>
                  <a:cubicBezTo>
                    <a:pt x="0" y="60253"/>
                    <a:pt x="45670" y="0"/>
                    <a:pt x="101960" y="0"/>
                  </a:cubicBezTo>
                  <a:lnTo>
                    <a:pt x="11963303" y="0"/>
                  </a:lnTo>
                  <a:cubicBezTo>
                    <a:pt x="12019593" y="0"/>
                    <a:pt x="12065263" y="60253"/>
                    <a:pt x="12065263" y="134519"/>
                  </a:cubicBezTo>
                  <a:lnTo>
                    <a:pt x="12065263" y="8609212"/>
                  </a:lnTo>
                  <a:cubicBezTo>
                    <a:pt x="12065263" y="8683478"/>
                    <a:pt x="12019593" y="8743732"/>
                    <a:pt x="11963303" y="8743732"/>
                  </a:cubicBezTo>
                  <a:lnTo>
                    <a:pt x="101960" y="8743732"/>
                  </a:lnTo>
                  <a:cubicBezTo>
                    <a:pt x="45670" y="8743732"/>
                    <a:pt x="0" y="8683478"/>
                    <a:pt x="0" y="8609212"/>
                  </a:cubicBezTo>
                  <a:close/>
                </a:path>
              </a:pathLst>
            </a:custGeom>
            <a:solidFill>
              <a:srgbClr val="1E1E1E"/>
            </a:solidFill>
          </p:spPr>
        </p:sp>
      </p:grpSp>
      <p:sp>
        <p:nvSpPr>
          <p:cNvPr name="TextBox 21" id="21"/>
          <p:cNvSpPr txBox="true"/>
          <p:nvPr/>
        </p:nvSpPr>
        <p:spPr>
          <a:xfrm rot="0">
            <a:off x="8968835" y="2725687"/>
            <a:ext cx="7942993" cy="57812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97"/>
              </a:lnSpc>
            </a:pPr>
            <a:r>
              <a:rPr lang="en-US" sz="2100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  <a:t>//Result</a:t>
            </a:r>
          </a:p>
          <a:p>
            <a:pPr algn="l">
              <a:lnSpc>
                <a:spcPts val="2897"/>
              </a:lnSpc>
            </a:pPr>
            <a:r>
              <a:rPr lang="en-US" sz="2100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  <a:t>#[derive(Debug)]</a:t>
            </a:r>
          </a:p>
          <a:p>
            <a:pPr algn="l">
              <a:lnSpc>
                <a:spcPts val="2897"/>
              </a:lnSpc>
            </a:pPr>
            <a:r>
              <a:rPr lang="en-US" sz="2100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  <a:t>struct Divisio</a:t>
            </a:r>
            <a:r>
              <a:rPr lang="en-US" sz="2100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  <a:t>nError{</a:t>
            </a:r>
          </a:p>
          <a:p>
            <a:pPr algn="l">
              <a:lnSpc>
                <a:spcPts val="2897"/>
              </a:lnSpc>
            </a:pPr>
            <a:r>
              <a:rPr lang="en-US" sz="2100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  <a:t>    message: String,</a:t>
            </a:r>
          </a:p>
          <a:p>
            <a:pPr algn="l">
              <a:lnSpc>
                <a:spcPts val="2897"/>
              </a:lnSpc>
            </a:pPr>
            <a:r>
              <a:rPr lang="en-US" sz="2100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</a:p>
          <a:p>
            <a:pPr algn="l">
              <a:lnSpc>
                <a:spcPts val="2897"/>
              </a:lnSpc>
            </a:pPr>
            <a:r>
              <a:rPr lang="en-US" sz="2100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  <a:t>fn divide(numerator: f64, denominator: f64) -&gt; Result&lt;f64, DivisionError&gt;{</a:t>
            </a:r>
          </a:p>
          <a:p>
            <a:pPr algn="l">
              <a:lnSpc>
                <a:spcPts val="2897"/>
              </a:lnSpc>
            </a:pPr>
            <a:r>
              <a:rPr lang="en-US" sz="2100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  <a:t>    if denominator == 0.0 {</a:t>
            </a:r>
          </a:p>
          <a:p>
            <a:pPr algn="l">
              <a:lnSpc>
                <a:spcPts val="2897"/>
              </a:lnSpc>
            </a:pPr>
            <a:r>
              <a:rPr lang="en-US" sz="2100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  <a:t>        Err(DivisionError{</a:t>
            </a:r>
          </a:p>
          <a:p>
            <a:pPr algn="l">
              <a:lnSpc>
                <a:spcPts val="2897"/>
              </a:lnSpc>
            </a:pPr>
            <a:r>
              <a:rPr lang="en-US" sz="2100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  <a:t>            message: "Cannot divide by Zero ".to_string(),</a:t>
            </a:r>
          </a:p>
          <a:p>
            <a:pPr algn="l">
              <a:lnSpc>
                <a:spcPts val="2897"/>
              </a:lnSpc>
            </a:pPr>
            <a:r>
              <a:rPr lang="en-US" sz="2100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  <a:t>        })</a:t>
            </a:r>
          </a:p>
          <a:p>
            <a:pPr algn="l">
              <a:lnSpc>
                <a:spcPts val="2897"/>
              </a:lnSpc>
            </a:pPr>
            <a:r>
              <a:rPr lang="en-US" sz="2100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  <a:t>    }else {</a:t>
            </a:r>
          </a:p>
          <a:p>
            <a:pPr algn="l">
              <a:lnSpc>
                <a:spcPts val="2897"/>
              </a:lnSpc>
            </a:pPr>
            <a:r>
              <a:rPr lang="en-US" sz="2100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  <a:t>        Ok(numerator / denominator)</a:t>
            </a:r>
          </a:p>
          <a:p>
            <a:pPr algn="l">
              <a:lnSpc>
                <a:spcPts val="2897"/>
              </a:lnSpc>
            </a:pPr>
            <a:r>
              <a:rPr lang="en-US" sz="2100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  <a:t>    }</a:t>
            </a:r>
          </a:p>
          <a:p>
            <a:pPr algn="l">
              <a:lnSpc>
                <a:spcPts val="2897"/>
              </a:lnSpc>
            </a:pPr>
            <a:r>
              <a:rPr lang="en-US" sz="2100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</a:p>
        </p:txBody>
      </p:sp>
    </p:spTree>
  </p:cSld>
  <p:clrMapOvr>
    <a:masterClrMapping/>
  </p:clrMapOvr>
  <p:transition spd="fast">
    <p:wipe dir="l"/>
  </p:transition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685800" y="617220"/>
            <a:ext cx="4114800" cy="576072"/>
            <a:chOff x="0" y="0"/>
            <a:chExt cx="5486400" cy="76809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5486400" cy="768096"/>
            </a:xfrm>
            <a:custGeom>
              <a:avLst/>
              <a:gdLst/>
              <a:ahLst/>
              <a:cxnLst/>
              <a:rect r="r" b="b" t="t" l="l"/>
              <a:pathLst>
                <a:path h="768096" w="5486400">
                  <a:moveTo>
                    <a:pt x="0" y="146304"/>
                  </a:moveTo>
                  <a:cubicBezTo>
                    <a:pt x="0" y="65532"/>
                    <a:pt x="65532" y="0"/>
                    <a:pt x="146304" y="0"/>
                  </a:cubicBezTo>
                  <a:lnTo>
                    <a:pt x="5340096" y="0"/>
                  </a:lnTo>
                  <a:cubicBezTo>
                    <a:pt x="5420868" y="0"/>
                    <a:pt x="5486400" y="65532"/>
                    <a:pt x="5486400" y="146304"/>
                  </a:cubicBezTo>
                  <a:lnTo>
                    <a:pt x="5486400" y="621792"/>
                  </a:lnTo>
                  <a:cubicBezTo>
                    <a:pt x="5486400" y="702564"/>
                    <a:pt x="5420868" y="768096"/>
                    <a:pt x="5340096" y="768096"/>
                  </a:cubicBezTo>
                  <a:lnTo>
                    <a:pt x="146304" y="768096"/>
                  </a:lnTo>
                  <a:cubicBezTo>
                    <a:pt x="65532" y="768096"/>
                    <a:pt x="0" y="702564"/>
                    <a:pt x="0" y="621792"/>
                  </a:cubicBezTo>
                  <a:close/>
                </a:path>
              </a:pathLst>
            </a:custGeom>
            <a:solidFill>
              <a:srgbClr val="8B2E2E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685800" y="617220"/>
            <a:ext cx="4114800" cy="576072"/>
            <a:chOff x="0" y="0"/>
            <a:chExt cx="5486400" cy="768096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5486400" cy="768096"/>
            </a:xfrm>
            <a:custGeom>
              <a:avLst/>
              <a:gdLst/>
              <a:ahLst/>
              <a:cxnLst/>
              <a:rect r="r" b="b" t="t" l="l"/>
              <a:pathLst>
                <a:path h="768096" w="5486400">
                  <a:moveTo>
                    <a:pt x="0" y="0"/>
                  </a:moveTo>
                  <a:lnTo>
                    <a:pt x="5486400" y="0"/>
                  </a:lnTo>
                  <a:lnTo>
                    <a:pt x="5486400" y="768096"/>
                  </a:lnTo>
                  <a:lnTo>
                    <a:pt x="0" y="76809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9178" r="0" b="-89178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-47625"/>
              <a:ext cx="5486400" cy="81572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340"/>
                </a:lnSpc>
              </a:pPr>
              <a:r>
                <a:rPr lang="en-US" sz="195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PART 2 · MEMBER 2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845421" y="1577340"/>
            <a:ext cx="16911828" cy="960120"/>
            <a:chOff x="0" y="0"/>
            <a:chExt cx="22549104" cy="128016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2549104" cy="1280160"/>
            </a:xfrm>
            <a:custGeom>
              <a:avLst/>
              <a:gdLst/>
              <a:ahLst/>
              <a:cxnLst/>
              <a:rect r="r" b="b" t="t" l="l"/>
              <a:pathLst>
                <a:path h="1280160" w="22549104">
                  <a:moveTo>
                    <a:pt x="0" y="0"/>
                  </a:moveTo>
                  <a:lnTo>
                    <a:pt x="22549104" y="0"/>
                  </a:lnTo>
                  <a:lnTo>
                    <a:pt x="22549104" y="1280160"/>
                  </a:lnTo>
                  <a:lnTo>
                    <a:pt x="0" y="12801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93215" r="0" b="-293215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>
              <a:off x="0" y="-19050"/>
              <a:ext cx="22549104" cy="129921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400"/>
                </a:lnSpc>
              </a:pPr>
              <a:r>
                <a:rPr lang="en-US" sz="4500" b="true">
                  <a:solidFill>
                    <a:srgbClr val="222222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Detailed Code + Live Demo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685800" y="2692299"/>
            <a:ext cx="11425781" cy="1725350"/>
            <a:chOff x="0" y="0"/>
            <a:chExt cx="15234375" cy="2300467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5234376" cy="2300467"/>
            </a:xfrm>
            <a:custGeom>
              <a:avLst/>
              <a:gdLst/>
              <a:ahLst/>
              <a:cxnLst/>
              <a:rect r="r" b="b" t="t" l="l"/>
              <a:pathLst>
                <a:path h="2300467" w="15234376">
                  <a:moveTo>
                    <a:pt x="0" y="35392"/>
                  </a:moveTo>
                  <a:cubicBezTo>
                    <a:pt x="0" y="15853"/>
                    <a:pt x="57665" y="0"/>
                    <a:pt x="128741" y="0"/>
                  </a:cubicBezTo>
                  <a:lnTo>
                    <a:pt x="15105635" y="0"/>
                  </a:lnTo>
                  <a:cubicBezTo>
                    <a:pt x="15176711" y="0"/>
                    <a:pt x="15234376" y="15853"/>
                    <a:pt x="15234376" y="35392"/>
                  </a:cubicBezTo>
                  <a:lnTo>
                    <a:pt x="15234376" y="2265075"/>
                  </a:lnTo>
                  <a:cubicBezTo>
                    <a:pt x="15234376" y="2284615"/>
                    <a:pt x="15176711" y="2300467"/>
                    <a:pt x="15105635" y="2300467"/>
                  </a:cubicBezTo>
                  <a:lnTo>
                    <a:pt x="128741" y="2300467"/>
                  </a:lnTo>
                  <a:cubicBezTo>
                    <a:pt x="57665" y="2300467"/>
                    <a:pt x="0" y="2284615"/>
                    <a:pt x="0" y="2265075"/>
                  </a:cubicBezTo>
                  <a:close/>
                </a:path>
              </a:pathLst>
            </a:custGeom>
            <a:solidFill>
              <a:srgbClr val="1E1E1E"/>
            </a:solidFill>
          </p:spPr>
        </p:sp>
      </p:grpSp>
      <p:sp>
        <p:nvSpPr>
          <p:cNvPr name="TextBox 12" id="12"/>
          <p:cNvSpPr txBox="true"/>
          <p:nvPr/>
        </p:nvSpPr>
        <p:spPr>
          <a:xfrm rot="0">
            <a:off x="1028700" y="2772742"/>
            <a:ext cx="10629900" cy="14378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97"/>
              </a:lnSpc>
            </a:pPr>
            <a:r>
              <a:rPr lang="en-US" sz="2100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  <a:t>use std::fs::File;</a:t>
            </a:r>
          </a:p>
          <a:p>
            <a:pPr algn="l">
              <a:lnSpc>
                <a:spcPts val="2897"/>
              </a:lnSpc>
            </a:pPr>
            <a:r>
              <a:rPr lang="en-US" sz="2100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  <a:t>fn main(){</a:t>
            </a:r>
          </a:p>
          <a:p>
            <a:pPr algn="l">
              <a:lnSpc>
                <a:spcPts val="2897"/>
              </a:lnSpc>
            </a:pPr>
            <a:r>
              <a:rPr lang="en-US" sz="2100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  <a:t>    let f = File::open("hello.txt").unwrap(); </a:t>
            </a:r>
          </a:p>
          <a:p>
            <a:pPr algn="l">
              <a:lnSpc>
                <a:spcPts val="2897"/>
              </a:lnSpc>
            </a:pPr>
            <a:r>
              <a:rPr lang="en-US" sz="2100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  <a:t>} </a:t>
            </a:r>
          </a:p>
        </p:txBody>
      </p:sp>
      <p:grpSp>
        <p:nvGrpSpPr>
          <p:cNvPr name="Group 13" id="13"/>
          <p:cNvGrpSpPr/>
          <p:nvPr/>
        </p:nvGrpSpPr>
        <p:grpSpPr>
          <a:xfrm rot="0">
            <a:off x="685800" y="9710928"/>
            <a:ext cx="10972800" cy="411480"/>
            <a:chOff x="0" y="0"/>
            <a:chExt cx="14630400" cy="54864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4630400" cy="548640"/>
            </a:xfrm>
            <a:custGeom>
              <a:avLst/>
              <a:gdLst/>
              <a:ahLst/>
              <a:cxnLst/>
              <a:rect r="r" b="b" t="t" l="l"/>
              <a:pathLst>
                <a:path h="548640" w="14630400">
                  <a:moveTo>
                    <a:pt x="0" y="0"/>
                  </a:moveTo>
                  <a:lnTo>
                    <a:pt x="14630400" y="0"/>
                  </a:lnTo>
                  <a:lnTo>
                    <a:pt x="146304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69601" r="0" b="-469601"/>
              </a:stretch>
            </a:blip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38100"/>
              <a:ext cx="14630400" cy="5867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00"/>
                </a:lnSpc>
              </a:pPr>
              <a:r>
                <a:rPr lang="en-US" sz="1500">
                  <a:solidFill>
                    <a:srgbClr val="6B6B6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517321 Principles of Programming Languages — Rust Tutorial</a:t>
              </a: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16911828" y="9710928"/>
            <a:ext cx="685800" cy="411480"/>
            <a:chOff x="0" y="0"/>
            <a:chExt cx="914400" cy="54864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914400" cy="548640"/>
            </a:xfrm>
            <a:custGeom>
              <a:avLst/>
              <a:gdLst/>
              <a:ahLst/>
              <a:cxnLst/>
              <a:rect r="r" b="b" t="t" l="l"/>
              <a:pathLst>
                <a:path h="548640" w="914400">
                  <a:moveTo>
                    <a:pt x="0" y="0"/>
                  </a:moveTo>
                  <a:lnTo>
                    <a:pt x="914400" y="0"/>
                  </a:lnTo>
                  <a:lnTo>
                    <a:pt x="9144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26982" t="0" r="-26982" b="0"/>
              </a:stretch>
            </a:blipFill>
          </p:spPr>
        </p:sp>
        <p:sp>
          <p:nvSpPr>
            <p:cNvPr name="TextBox 18" id="18"/>
            <p:cNvSpPr txBox="true"/>
            <p:nvPr/>
          </p:nvSpPr>
          <p:spPr>
            <a:xfrm>
              <a:off x="0" y="-38100"/>
              <a:ext cx="914400" cy="5867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800"/>
                </a:lnSpc>
              </a:pPr>
              <a:r>
                <a:rPr lang="en-US" sz="1500">
                  <a:solidFill>
                    <a:srgbClr val="6B6B6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4</a:t>
              </a: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685800" y="4500180"/>
            <a:ext cx="11425781" cy="2202427"/>
            <a:chOff x="0" y="0"/>
            <a:chExt cx="15234375" cy="2936569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15234376" cy="2936570"/>
            </a:xfrm>
            <a:custGeom>
              <a:avLst/>
              <a:gdLst/>
              <a:ahLst/>
              <a:cxnLst/>
              <a:rect r="r" b="b" t="t" l="l"/>
              <a:pathLst>
                <a:path h="2936570" w="15234376">
                  <a:moveTo>
                    <a:pt x="0" y="45178"/>
                  </a:moveTo>
                  <a:cubicBezTo>
                    <a:pt x="0" y="20236"/>
                    <a:pt x="57665" y="0"/>
                    <a:pt x="128741" y="0"/>
                  </a:cubicBezTo>
                  <a:lnTo>
                    <a:pt x="15105635" y="0"/>
                  </a:lnTo>
                  <a:cubicBezTo>
                    <a:pt x="15176711" y="0"/>
                    <a:pt x="15234376" y="20236"/>
                    <a:pt x="15234376" y="45178"/>
                  </a:cubicBezTo>
                  <a:lnTo>
                    <a:pt x="15234376" y="2891392"/>
                  </a:lnTo>
                  <a:cubicBezTo>
                    <a:pt x="15234376" y="2916334"/>
                    <a:pt x="15176711" y="2936570"/>
                    <a:pt x="15105635" y="2936570"/>
                  </a:cubicBezTo>
                  <a:lnTo>
                    <a:pt x="128741" y="2936570"/>
                  </a:lnTo>
                  <a:cubicBezTo>
                    <a:pt x="57665" y="2936570"/>
                    <a:pt x="0" y="2916334"/>
                    <a:pt x="0" y="2891392"/>
                  </a:cubicBezTo>
                  <a:close/>
                </a:path>
              </a:pathLst>
            </a:custGeom>
            <a:solidFill>
              <a:srgbClr val="1E1E1E"/>
            </a:solidFill>
          </p:spPr>
        </p:sp>
      </p:grpSp>
      <p:sp>
        <p:nvSpPr>
          <p:cNvPr name="TextBox 21" id="21"/>
          <p:cNvSpPr txBox="true"/>
          <p:nvPr/>
        </p:nvSpPr>
        <p:spPr>
          <a:xfrm rot="0">
            <a:off x="1028700" y="4682422"/>
            <a:ext cx="10629900" cy="17998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97"/>
              </a:lnSpc>
            </a:pPr>
            <a:r>
              <a:rPr lang="en-US" sz="2100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  <a:t>use std::fs::File;</a:t>
            </a:r>
          </a:p>
          <a:p>
            <a:pPr algn="l">
              <a:lnSpc>
                <a:spcPts val="2897"/>
              </a:lnSpc>
            </a:pPr>
            <a:r>
              <a:rPr lang="en-US" sz="2100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  <a:t>fn main(){</a:t>
            </a:r>
          </a:p>
          <a:p>
            <a:pPr algn="l">
              <a:lnSpc>
                <a:spcPts val="2897"/>
              </a:lnSpc>
            </a:pPr>
            <a:r>
              <a:rPr lang="en-US" sz="2100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  <a:t>   let f = File::open("hello.txt").expect("Failed to open it ");</a:t>
            </a:r>
          </a:p>
          <a:p>
            <a:pPr algn="l">
              <a:lnSpc>
                <a:spcPts val="2897"/>
              </a:lnSpc>
            </a:pPr>
          </a:p>
          <a:p>
            <a:pPr algn="l">
              <a:lnSpc>
                <a:spcPts val="2897"/>
              </a:lnSpc>
            </a:pPr>
            <a:r>
              <a:rPr lang="en-US" sz="2100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  <a:t>} </a:t>
            </a:r>
          </a:p>
        </p:txBody>
      </p:sp>
    </p:spTree>
  </p:cSld>
  <p:clrMapOvr>
    <a:masterClrMapping/>
  </p:clrMapOvr>
  <p:transition spd="fast">
    <p:wipe dir="l"/>
  </p:transition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685800" y="617220"/>
            <a:ext cx="4114800" cy="576072"/>
            <a:chOff x="0" y="0"/>
            <a:chExt cx="5486400" cy="76809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5486400" cy="768096"/>
            </a:xfrm>
            <a:custGeom>
              <a:avLst/>
              <a:gdLst/>
              <a:ahLst/>
              <a:cxnLst/>
              <a:rect r="r" b="b" t="t" l="l"/>
              <a:pathLst>
                <a:path h="768096" w="5486400">
                  <a:moveTo>
                    <a:pt x="0" y="146304"/>
                  </a:moveTo>
                  <a:cubicBezTo>
                    <a:pt x="0" y="65532"/>
                    <a:pt x="65532" y="0"/>
                    <a:pt x="146304" y="0"/>
                  </a:cubicBezTo>
                  <a:lnTo>
                    <a:pt x="5340096" y="0"/>
                  </a:lnTo>
                  <a:cubicBezTo>
                    <a:pt x="5420868" y="0"/>
                    <a:pt x="5486400" y="65532"/>
                    <a:pt x="5486400" y="146304"/>
                  </a:cubicBezTo>
                  <a:lnTo>
                    <a:pt x="5486400" y="621792"/>
                  </a:lnTo>
                  <a:cubicBezTo>
                    <a:pt x="5486400" y="702564"/>
                    <a:pt x="5420868" y="768096"/>
                    <a:pt x="5340096" y="768096"/>
                  </a:cubicBezTo>
                  <a:lnTo>
                    <a:pt x="146304" y="768096"/>
                  </a:lnTo>
                  <a:cubicBezTo>
                    <a:pt x="65532" y="768096"/>
                    <a:pt x="0" y="702564"/>
                    <a:pt x="0" y="621792"/>
                  </a:cubicBezTo>
                  <a:close/>
                </a:path>
              </a:pathLst>
            </a:custGeom>
            <a:solidFill>
              <a:srgbClr val="8B2E2E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685800" y="617220"/>
            <a:ext cx="4114800" cy="576072"/>
            <a:chOff x="0" y="0"/>
            <a:chExt cx="5486400" cy="768096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5486400" cy="768096"/>
            </a:xfrm>
            <a:custGeom>
              <a:avLst/>
              <a:gdLst/>
              <a:ahLst/>
              <a:cxnLst/>
              <a:rect r="r" b="b" t="t" l="l"/>
              <a:pathLst>
                <a:path h="768096" w="5486400">
                  <a:moveTo>
                    <a:pt x="0" y="0"/>
                  </a:moveTo>
                  <a:lnTo>
                    <a:pt x="5486400" y="0"/>
                  </a:lnTo>
                  <a:lnTo>
                    <a:pt x="5486400" y="768096"/>
                  </a:lnTo>
                  <a:lnTo>
                    <a:pt x="0" y="76809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9178" r="0" b="-89178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-47625"/>
              <a:ext cx="5486400" cy="81572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340"/>
                </a:lnSpc>
              </a:pPr>
              <a:r>
                <a:rPr lang="en-US" sz="195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PART 2 · MEMBER 2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939739" y="1729740"/>
            <a:ext cx="16911828" cy="960120"/>
            <a:chOff x="0" y="0"/>
            <a:chExt cx="22549104" cy="128016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2549104" cy="1280160"/>
            </a:xfrm>
            <a:custGeom>
              <a:avLst/>
              <a:gdLst/>
              <a:ahLst/>
              <a:cxnLst/>
              <a:rect r="r" b="b" t="t" l="l"/>
              <a:pathLst>
                <a:path h="1280160" w="22549104">
                  <a:moveTo>
                    <a:pt x="0" y="0"/>
                  </a:moveTo>
                  <a:lnTo>
                    <a:pt x="22549104" y="0"/>
                  </a:lnTo>
                  <a:lnTo>
                    <a:pt x="22549104" y="1280160"/>
                  </a:lnTo>
                  <a:lnTo>
                    <a:pt x="0" y="12801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93215" r="0" b="-293215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>
              <a:off x="0" y="-19050"/>
              <a:ext cx="22549104" cy="129921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400"/>
                </a:lnSpc>
              </a:pPr>
              <a:r>
                <a:rPr lang="en-US" sz="4500" b="true">
                  <a:solidFill>
                    <a:srgbClr val="222222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Detailed Code + Live Demo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685800" y="2629715"/>
            <a:ext cx="10587400" cy="2339234"/>
            <a:chOff x="0" y="0"/>
            <a:chExt cx="14116533" cy="3118978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4116534" cy="3118979"/>
            </a:xfrm>
            <a:custGeom>
              <a:avLst/>
              <a:gdLst/>
              <a:ahLst/>
              <a:cxnLst/>
              <a:rect r="r" b="b" t="t" l="l"/>
              <a:pathLst>
                <a:path h="3118979" w="14116534">
                  <a:moveTo>
                    <a:pt x="0" y="47984"/>
                  </a:moveTo>
                  <a:cubicBezTo>
                    <a:pt x="0" y="21493"/>
                    <a:pt x="53434" y="0"/>
                    <a:pt x="119295" y="0"/>
                  </a:cubicBezTo>
                  <a:lnTo>
                    <a:pt x="13997239" y="0"/>
                  </a:lnTo>
                  <a:cubicBezTo>
                    <a:pt x="14063100" y="0"/>
                    <a:pt x="14116534" y="21493"/>
                    <a:pt x="14116534" y="47984"/>
                  </a:cubicBezTo>
                  <a:lnTo>
                    <a:pt x="14116534" y="3070994"/>
                  </a:lnTo>
                  <a:cubicBezTo>
                    <a:pt x="14116534" y="3097485"/>
                    <a:pt x="14063100" y="3118979"/>
                    <a:pt x="13997239" y="3118979"/>
                  </a:cubicBezTo>
                  <a:lnTo>
                    <a:pt x="119295" y="3118979"/>
                  </a:lnTo>
                  <a:cubicBezTo>
                    <a:pt x="53434" y="3118979"/>
                    <a:pt x="0" y="3097485"/>
                    <a:pt x="0" y="3070994"/>
                  </a:cubicBezTo>
                  <a:close/>
                </a:path>
              </a:pathLst>
            </a:custGeom>
            <a:solidFill>
              <a:srgbClr val="1E1E1E"/>
            </a:solidFill>
          </p:spPr>
        </p:sp>
      </p:grpSp>
      <p:sp>
        <p:nvSpPr>
          <p:cNvPr name="TextBox 12" id="12"/>
          <p:cNvSpPr txBox="true"/>
          <p:nvPr/>
        </p:nvSpPr>
        <p:spPr>
          <a:xfrm rot="0">
            <a:off x="939739" y="2880360"/>
            <a:ext cx="10333461" cy="17998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97"/>
              </a:lnSpc>
            </a:pPr>
            <a:r>
              <a:rPr lang="en-US" sz="2100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  <a:t>fn main(){</a:t>
            </a:r>
          </a:p>
          <a:p>
            <a:pPr algn="l">
              <a:lnSpc>
                <a:spcPts val="2897"/>
              </a:lnSpc>
            </a:pPr>
            <a:r>
              <a:rPr lang="en-US" sz="2100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  <a:t> // ? operator + Error Propagation </a:t>
            </a:r>
          </a:p>
          <a:p>
            <a:pPr algn="l">
              <a:lnSpc>
                <a:spcPts val="2897"/>
              </a:lnSpc>
            </a:pPr>
            <a:r>
              <a:rPr lang="en-US" sz="2100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  <a:t>    println!("{:?}", calculate_division_then_add_one(5.0,2.0));</a:t>
            </a:r>
          </a:p>
          <a:p>
            <a:pPr algn="l">
              <a:lnSpc>
                <a:spcPts val="2897"/>
              </a:lnSpc>
            </a:pPr>
            <a:r>
              <a:rPr lang="en-US" sz="2100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  <a:t>    println!("{:?}", calculate_division_then_add_one(5.0,0.0));</a:t>
            </a:r>
          </a:p>
          <a:p>
            <a:pPr algn="l">
              <a:lnSpc>
                <a:spcPts val="2897"/>
              </a:lnSpc>
            </a:pPr>
            <a:r>
              <a:rPr lang="en-US" sz="2100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</a:p>
        </p:txBody>
      </p:sp>
      <p:grpSp>
        <p:nvGrpSpPr>
          <p:cNvPr name="Group 13" id="13"/>
          <p:cNvGrpSpPr/>
          <p:nvPr/>
        </p:nvGrpSpPr>
        <p:grpSpPr>
          <a:xfrm rot="0">
            <a:off x="685800" y="9710928"/>
            <a:ext cx="10972800" cy="411480"/>
            <a:chOff x="0" y="0"/>
            <a:chExt cx="14630400" cy="54864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4630400" cy="548640"/>
            </a:xfrm>
            <a:custGeom>
              <a:avLst/>
              <a:gdLst/>
              <a:ahLst/>
              <a:cxnLst/>
              <a:rect r="r" b="b" t="t" l="l"/>
              <a:pathLst>
                <a:path h="548640" w="14630400">
                  <a:moveTo>
                    <a:pt x="0" y="0"/>
                  </a:moveTo>
                  <a:lnTo>
                    <a:pt x="14630400" y="0"/>
                  </a:lnTo>
                  <a:lnTo>
                    <a:pt x="146304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69601" r="0" b="-469601"/>
              </a:stretch>
            </a:blip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38100"/>
              <a:ext cx="14630400" cy="5867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00"/>
                </a:lnSpc>
              </a:pPr>
              <a:r>
                <a:rPr lang="en-US" sz="1500">
                  <a:solidFill>
                    <a:srgbClr val="6B6B6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517321 Principles of Programming Languages — Rust Tutorial</a:t>
              </a: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16911828" y="9710928"/>
            <a:ext cx="685800" cy="411480"/>
            <a:chOff x="0" y="0"/>
            <a:chExt cx="914400" cy="54864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914400" cy="548640"/>
            </a:xfrm>
            <a:custGeom>
              <a:avLst/>
              <a:gdLst/>
              <a:ahLst/>
              <a:cxnLst/>
              <a:rect r="r" b="b" t="t" l="l"/>
              <a:pathLst>
                <a:path h="548640" w="914400">
                  <a:moveTo>
                    <a:pt x="0" y="0"/>
                  </a:moveTo>
                  <a:lnTo>
                    <a:pt x="914400" y="0"/>
                  </a:lnTo>
                  <a:lnTo>
                    <a:pt x="9144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26982" t="0" r="-26982" b="0"/>
              </a:stretch>
            </a:blipFill>
          </p:spPr>
        </p:sp>
        <p:sp>
          <p:nvSpPr>
            <p:cNvPr name="TextBox 18" id="18"/>
            <p:cNvSpPr txBox="true"/>
            <p:nvPr/>
          </p:nvSpPr>
          <p:spPr>
            <a:xfrm>
              <a:off x="0" y="-38100"/>
              <a:ext cx="914400" cy="5867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800"/>
                </a:lnSpc>
              </a:pPr>
              <a:r>
                <a:rPr lang="en-US" sz="1500">
                  <a:solidFill>
                    <a:srgbClr val="6B6B6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4</a:t>
              </a: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685800" y="5109461"/>
            <a:ext cx="10587400" cy="2248022"/>
            <a:chOff x="0" y="0"/>
            <a:chExt cx="14116533" cy="2997362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14116534" cy="2997363"/>
            </a:xfrm>
            <a:custGeom>
              <a:avLst/>
              <a:gdLst/>
              <a:ahLst/>
              <a:cxnLst/>
              <a:rect r="r" b="b" t="t" l="l"/>
              <a:pathLst>
                <a:path h="2997363" w="14116534">
                  <a:moveTo>
                    <a:pt x="0" y="46113"/>
                  </a:moveTo>
                  <a:cubicBezTo>
                    <a:pt x="0" y="20655"/>
                    <a:pt x="53434" y="0"/>
                    <a:pt x="119295" y="0"/>
                  </a:cubicBezTo>
                  <a:lnTo>
                    <a:pt x="13997239" y="0"/>
                  </a:lnTo>
                  <a:cubicBezTo>
                    <a:pt x="14063100" y="0"/>
                    <a:pt x="14116534" y="20655"/>
                    <a:pt x="14116534" y="46113"/>
                  </a:cubicBezTo>
                  <a:lnTo>
                    <a:pt x="14116534" y="2951249"/>
                  </a:lnTo>
                  <a:cubicBezTo>
                    <a:pt x="14116534" y="2976707"/>
                    <a:pt x="14063100" y="2997363"/>
                    <a:pt x="13997239" y="2997363"/>
                  </a:cubicBezTo>
                  <a:lnTo>
                    <a:pt x="119295" y="2997363"/>
                  </a:lnTo>
                  <a:cubicBezTo>
                    <a:pt x="53434" y="2997363"/>
                    <a:pt x="0" y="2976707"/>
                    <a:pt x="0" y="2951249"/>
                  </a:cubicBezTo>
                  <a:close/>
                </a:path>
              </a:pathLst>
            </a:custGeom>
            <a:solidFill>
              <a:srgbClr val="1E1E1E"/>
            </a:solidFill>
          </p:spPr>
        </p:sp>
      </p:grpSp>
      <p:sp>
        <p:nvSpPr>
          <p:cNvPr name="TextBox 21" id="21"/>
          <p:cNvSpPr txBox="true"/>
          <p:nvPr/>
        </p:nvSpPr>
        <p:spPr>
          <a:xfrm rot="0">
            <a:off x="939739" y="5219594"/>
            <a:ext cx="10173620" cy="17998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97"/>
              </a:lnSpc>
            </a:pPr>
            <a:r>
              <a:rPr lang="en-US" sz="2100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  <a:t>fn calculate_divisio</a:t>
            </a:r>
            <a:r>
              <a:rPr lang="en-US" sz="2100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  <a:t>n_then_add_one(num: f64, den: f64)-&gt;Result&lt;f64,DivisionError&gt;{</a:t>
            </a:r>
          </a:p>
          <a:p>
            <a:pPr algn="l">
              <a:lnSpc>
                <a:spcPts val="2897"/>
              </a:lnSpc>
            </a:pPr>
            <a:r>
              <a:rPr lang="en-US" sz="2100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  <a:t>    let result = divide(num, den)?;</a:t>
            </a:r>
          </a:p>
          <a:p>
            <a:pPr algn="l">
              <a:lnSpc>
                <a:spcPts val="2897"/>
              </a:lnSpc>
            </a:pPr>
            <a:r>
              <a:rPr lang="en-US" sz="2100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  <a:t>    Ok(result +1.0)</a:t>
            </a:r>
          </a:p>
          <a:p>
            <a:pPr algn="l">
              <a:lnSpc>
                <a:spcPts val="2897"/>
              </a:lnSpc>
            </a:pPr>
            <a:r>
              <a:rPr lang="en-US" sz="2100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</a:p>
        </p:txBody>
      </p:sp>
      <p:grpSp>
        <p:nvGrpSpPr>
          <p:cNvPr name="Group 22" id="22"/>
          <p:cNvGrpSpPr/>
          <p:nvPr/>
        </p:nvGrpSpPr>
        <p:grpSpPr>
          <a:xfrm rot="0">
            <a:off x="11450295" y="2537460"/>
            <a:ext cx="6401272" cy="6557799"/>
            <a:chOff x="0" y="0"/>
            <a:chExt cx="8535030" cy="8743731"/>
          </a:xfrm>
        </p:grpSpPr>
        <p:grpSp>
          <p:nvGrpSpPr>
            <p:cNvPr name="Group 23" id="23"/>
            <p:cNvGrpSpPr/>
            <p:nvPr/>
          </p:nvGrpSpPr>
          <p:grpSpPr>
            <a:xfrm rot="0">
              <a:off x="0" y="0"/>
              <a:ext cx="8535030" cy="8743731"/>
              <a:chOff x="0" y="0"/>
              <a:chExt cx="8535030" cy="8743731"/>
            </a:xfrm>
          </p:grpSpPr>
          <p:sp>
            <p:nvSpPr>
              <p:cNvPr name="Freeform 24" id="24"/>
              <p:cNvSpPr/>
              <p:nvPr/>
            </p:nvSpPr>
            <p:spPr>
              <a:xfrm flipH="false" flipV="false" rot="0">
                <a:off x="0" y="0"/>
                <a:ext cx="8535030" cy="8743732"/>
              </a:xfrm>
              <a:custGeom>
                <a:avLst/>
                <a:gdLst/>
                <a:ahLst/>
                <a:cxnLst/>
                <a:rect r="r" b="b" t="t" l="l"/>
                <a:pathLst>
                  <a:path h="8743732" w="8535030">
                    <a:moveTo>
                      <a:pt x="0" y="134519"/>
                    </a:moveTo>
                    <a:cubicBezTo>
                      <a:pt x="0" y="60253"/>
                      <a:pt x="32307" y="0"/>
                      <a:pt x="72127" y="0"/>
                    </a:cubicBezTo>
                    <a:lnTo>
                      <a:pt x="8462903" y="0"/>
                    </a:lnTo>
                    <a:cubicBezTo>
                      <a:pt x="8502723" y="0"/>
                      <a:pt x="8535030" y="60253"/>
                      <a:pt x="8535030" y="134519"/>
                    </a:cubicBezTo>
                    <a:lnTo>
                      <a:pt x="8535030" y="8609212"/>
                    </a:lnTo>
                    <a:cubicBezTo>
                      <a:pt x="8535030" y="8683478"/>
                      <a:pt x="8502723" y="8743732"/>
                      <a:pt x="8462903" y="8743732"/>
                    </a:cubicBezTo>
                    <a:lnTo>
                      <a:pt x="72127" y="8743732"/>
                    </a:lnTo>
                    <a:cubicBezTo>
                      <a:pt x="32307" y="8743732"/>
                      <a:pt x="0" y="8683478"/>
                      <a:pt x="0" y="8609212"/>
                    </a:cubicBezTo>
                    <a:close/>
                  </a:path>
                </a:pathLst>
              </a:custGeom>
              <a:solidFill>
                <a:srgbClr val="1E1E1E"/>
              </a:solidFill>
            </p:spPr>
          </p:sp>
        </p:grpSp>
        <p:sp>
          <p:nvSpPr>
            <p:cNvPr name="TextBox 25" id="25"/>
            <p:cNvSpPr txBox="true"/>
            <p:nvPr/>
          </p:nvSpPr>
          <p:spPr>
            <a:xfrm rot="0">
              <a:off x="599320" y="263670"/>
              <a:ext cx="7506554" cy="817829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897"/>
                </a:lnSpc>
              </a:pPr>
            </a:p>
            <a:p>
              <a:pPr algn="l">
                <a:lnSpc>
                  <a:spcPts val="2897"/>
                </a:lnSpc>
              </a:pPr>
              <a:r>
                <a:rPr lang="en-US" sz="2100">
                  <a:solidFill>
                    <a:srgbClr val="D4D4D4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#[derive(Debug)]</a:t>
              </a:r>
            </a:p>
            <a:p>
              <a:pPr algn="l">
                <a:lnSpc>
                  <a:spcPts val="2897"/>
                </a:lnSpc>
              </a:pPr>
              <a:r>
                <a:rPr lang="en-US" sz="2100">
                  <a:solidFill>
                    <a:srgbClr val="D4D4D4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struct Divisio</a:t>
              </a:r>
              <a:r>
                <a:rPr lang="en-US" sz="2100">
                  <a:solidFill>
                    <a:srgbClr val="D4D4D4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nError{</a:t>
              </a:r>
            </a:p>
            <a:p>
              <a:pPr algn="l">
                <a:lnSpc>
                  <a:spcPts val="2897"/>
                </a:lnSpc>
              </a:pPr>
              <a:r>
                <a:rPr lang="en-US" sz="2100">
                  <a:solidFill>
                    <a:srgbClr val="D4D4D4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    message: String,</a:t>
              </a:r>
            </a:p>
            <a:p>
              <a:pPr algn="l">
                <a:lnSpc>
                  <a:spcPts val="2897"/>
                </a:lnSpc>
              </a:pPr>
              <a:r>
                <a:rPr lang="en-US" sz="2100">
                  <a:solidFill>
                    <a:srgbClr val="D4D4D4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}</a:t>
              </a:r>
            </a:p>
            <a:p>
              <a:pPr algn="l">
                <a:lnSpc>
                  <a:spcPts val="2897"/>
                </a:lnSpc>
              </a:pPr>
              <a:r>
                <a:rPr lang="en-US" sz="2100">
                  <a:solidFill>
                    <a:srgbClr val="D4D4D4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fn divide(numerator: f64, denominator: f64) -&gt; Result&lt;f64, DivisionError&gt;{</a:t>
              </a:r>
            </a:p>
            <a:p>
              <a:pPr algn="l">
                <a:lnSpc>
                  <a:spcPts val="2897"/>
                </a:lnSpc>
              </a:pPr>
              <a:r>
                <a:rPr lang="en-US" sz="2100">
                  <a:solidFill>
                    <a:srgbClr val="D4D4D4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    if denominator == 0.0 {</a:t>
              </a:r>
            </a:p>
            <a:p>
              <a:pPr algn="l">
                <a:lnSpc>
                  <a:spcPts val="2897"/>
                </a:lnSpc>
              </a:pPr>
              <a:r>
                <a:rPr lang="en-US" sz="2100">
                  <a:solidFill>
                    <a:srgbClr val="D4D4D4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        Err(DivisionError{</a:t>
              </a:r>
            </a:p>
            <a:p>
              <a:pPr algn="l">
                <a:lnSpc>
                  <a:spcPts val="2897"/>
                </a:lnSpc>
              </a:pPr>
              <a:r>
                <a:rPr lang="en-US" sz="2100">
                  <a:solidFill>
                    <a:srgbClr val="D4D4D4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            message: "Cannot divide by Zero ".to_string(),</a:t>
              </a:r>
            </a:p>
            <a:p>
              <a:pPr algn="l">
                <a:lnSpc>
                  <a:spcPts val="2897"/>
                </a:lnSpc>
              </a:pPr>
              <a:r>
                <a:rPr lang="en-US" sz="2100">
                  <a:solidFill>
                    <a:srgbClr val="D4D4D4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        })</a:t>
              </a:r>
            </a:p>
            <a:p>
              <a:pPr algn="l">
                <a:lnSpc>
                  <a:spcPts val="2897"/>
                </a:lnSpc>
              </a:pPr>
              <a:r>
                <a:rPr lang="en-US" sz="2100">
                  <a:solidFill>
                    <a:srgbClr val="D4D4D4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    }else {</a:t>
              </a:r>
            </a:p>
            <a:p>
              <a:pPr algn="l">
                <a:lnSpc>
                  <a:spcPts val="2897"/>
                </a:lnSpc>
              </a:pPr>
              <a:r>
                <a:rPr lang="en-US" sz="2100">
                  <a:solidFill>
                    <a:srgbClr val="D4D4D4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        Ok(numerator / denominator)</a:t>
              </a:r>
            </a:p>
            <a:p>
              <a:pPr algn="l">
                <a:lnSpc>
                  <a:spcPts val="2897"/>
                </a:lnSpc>
              </a:pPr>
              <a:r>
                <a:rPr lang="en-US" sz="2100">
                  <a:solidFill>
                    <a:srgbClr val="D4D4D4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    }</a:t>
              </a:r>
            </a:p>
            <a:p>
              <a:pPr algn="l">
                <a:lnSpc>
                  <a:spcPts val="2897"/>
                </a:lnSpc>
              </a:pPr>
              <a:r>
                <a:rPr lang="en-US" sz="2100">
                  <a:solidFill>
                    <a:srgbClr val="D4D4D4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}</a:t>
              </a:r>
            </a:p>
          </p:txBody>
        </p:sp>
      </p:grpSp>
    </p:spTree>
  </p:cSld>
  <p:clrMapOvr>
    <a:masterClrMapping/>
  </p:clrMapOvr>
  <p:transition spd="fast">
    <p:wipe dir="l"/>
  </p:transition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685800" y="617220"/>
            <a:ext cx="4114800" cy="576072"/>
            <a:chOff x="0" y="0"/>
            <a:chExt cx="5486400" cy="76809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5486400" cy="768096"/>
            </a:xfrm>
            <a:custGeom>
              <a:avLst/>
              <a:gdLst/>
              <a:ahLst/>
              <a:cxnLst/>
              <a:rect r="r" b="b" t="t" l="l"/>
              <a:pathLst>
                <a:path h="768096" w="5486400">
                  <a:moveTo>
                    <a:pt x="0" y="146304"/>
                  </a:moveTo>
                  <a:cubicBezTo>
                    <a:pt x="0" y="65532"/>
                    <a:pt x="65532" y="0"/>
                    <a:pt x="146304" y="0"/>
                  </a:cubicBezTo>
                  <a:lnTo>
                    <a:pt x="5340096" y="0"/>
                  </a:lnTo>
                  <a:cubicBezTo>
                    <a:pt x="5420868" y="0"/>
                    <a:pt x="5486400" y="65532"/>
                    <a:pt x="5486400" y="146304"/>
                  </a:cubicBezTo>
                  <a:lnTo>
                    <a:pt x="5486400" y="621792"/>
                  </a:lnTo>
                  <a:cubicBezTo>
                    <a:pt x="5486400" y="702564"/>
                    <a:pt x="5420868" y="768096"/>
                    <a:pt x="5340096" y="768096"/>
                  </a:cubicBezTo>
                  <a:lnTo>
                    <a:pt x="146304" y="768096"/>
                  </a:lnTo>
                  <a:cubicBezTo>
                    <a:pt x="65532" y="768096"/>
                    <a:pt x="0" y="702564"/>
                    <a:pt x="0" y="621792"/>
                  </a:cubicBezTo>
                  <a:close/>
                </a:path>
              </a:pathLst>
            </a:custGeom>
            <a:solidFill>
              <a:srgbClr val="8B2E2E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685800" y="617220"/>
            <a:ext cx="4114800" cy="576072"/>
            <a:chOff x="0" y="0"/>
            <a:chExt cx="5486400" cy="768096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5486400" cy="768096"/>
            </a:xfrm>
            <a:custGeom>
              <a:avLst/>
              <a:gdLst/>
              <a:ahLst/>
              <a:cxnLst/>
              <a:rect r="r" b="b" t="t" l="l"/>
              <a:pathLst>
                <a:path h="768096" w="5486400">
                  <a:moveTo>
                    <a:pt x="0" y="0"/>
                  </a:moveTo>
                  <a:lnTo>
                    <a:pt x="5486400" y="0"/>
                  </a:lnTo>
                  <a:lnTo>
                    <a:pt x="5486400" y="768096"/>
                  </a:lnTo>
                  <a:lnTo>
                    <a:pt x="0" y="76809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9178" r="0" b="-89178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-47625"/>
              <a:ext cx="5486400" cy="81572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340"/>
                </a:lnSpc>
              </a:pPr>
              <a:r>
                <a:rPr lang="en-US" sz="195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PART 3 · MEMBER 3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685800" y="227387"/>
            <a:ext cx="16911828" cy="3303594"/>
            <a:chOff x="0" y="0"/>
            <a:chExt cx="22549104" cy="4404792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2549104" cy="4404792"/>
            </a:xfrm>
            <a:custGeom>
              <a:avLst/>
              <a:gdLst/>
              <a:ahLst/>
              <a:cxnLst/>
              <a:rect r="r" b="b" t="t" l="l"/>
              <a:pathLst>
                <a:path h="4404792" w="22549104">
                  <a:moveTo>
                    <a:pt x="0" y="0"/>
                  </a:moveTo>
                  <a:lnTo>
                    <a:pt x="22549104" y="0"/>
                  </a:lnTo>
                  <a:lnTo>
                    <a:pt x="22549104" y="4404792"/>
                  </a:lnTo>
                  <a:lnTo>
                    <a:pt x="0" y="44047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5216" r="0" b="-14279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>
              <a:off x="0" y="-19050"/>
              <a:ext cx="22549104" cy="442384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400"/>
                </a:lnSpc>
              </a:pPr>
              <a:r>
                <a:rPr lang="en-US" sz="4500" b="true">
                  <a:solidFill>
                    <a:srgbClr val="222222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Rust vs Java, Python and Swift</a:t>
              </a:r>
            </a:p>
          </p:txBody>
        </p:sp>
      </p:grpSp>
      <p:graphicFrame>
        <p:nvGraphicFramePr>
          <p:cNvPr name="Table 10" id="10"/>
          <p:cNvGraphicFramePr>
            <a:graphicFrameLocks noGrp="true"/>
          </p:cNvGraphicFramePr>
          <p:nvPr/>
        </p:nvGraphicFramePr>
        <p:xfrm>
          <a:off x="685800" y="2537460"/>
          <a:ext cx="16911828" cy="6944783"/>
        </p:xfrm>
        <a:graphic>
          <a:graphicData uri="http://schemas.openxmlformats.org/drawingml/2006/table">
            <a:tbl>
              <a:tblPr/>
              <a:tblGrid>
                <a:gridCol w="1184756"/>
                <a:gridCol w="3953138"/>
                <a:gridCol w="3666582"/>
                <a:gridCol w="4007399"/>
                <a:gridCol w="4099953"/>
              </a:tblGrid>
              <a:tr h="742191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340"/>
                        </a:lnSpc>
                        <a:defRPr/>
                      </a:pPr>
                      <a:r>
                        <a:rPr lang="en-US" sz="1950" b="true">
                          <a:solidFill>
                            <a:srgbClr val="FFFFFF"/>
                          </a:solidFill>
                          <a:latin typeface="Sarabun Bold"/>
                          <a:ea typeface="Sarabun Bold"/>
                          <a:cs typeface="Sarabun Bold"/>
                          <a:sym typeface="Sarabun Bold"/>
                        </a:rPr>
                        <a:t>Aspect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12700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B2E2E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340"/>
                        </a:lnSpc>
                        <a:defRPr/>
                      </a:pPr>
                      <a:r>
                        <a:rPr lang="en-US" sz="1950" b="true">
                          <a:solidFill>
                            <a:srgbClr val="FFFFFF"/>
                          </a:solidFill>
                          <a:latin typeface="Sarabun Bold"/>
                          <a:ea typeface="Sarabun Bold"/>
                          <a:cs typeface="Sarabun Bold"/>
                          <a:sym typeface="Sarabun Bold"/>
                        </a:rPr>
                        <a:t>Rust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12700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B2E2E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340"/>
                        </a:lnSpc>
                        <a:defRPr/>
                      </a:pPr>
                      <a:r>
                        <a:rPr lang="en-US" sz="1950" b="true">
                          <a:solidFill>
                            <a:srgbClr val="FFFFFF"/>
                          </a:solidFill>
                          <a:latin typeface="Sarabun Bold"/>
                          <a:ea typeface="Sarabun Bold"/>
                          <a:cs typeface="Sarabun Bold"/>
                          <a:sym typeface="Sarabun Bold"/>
                        </a:rPr>
                        <a:t>Java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12700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B2E2E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340"/>
                        </a:lnSpc>
                        <a:defRPr/>
                      </a:pPr>
                      <a:r>
                        <a:rPr lang="en-US" sz="1950" b="true">
                          <a:solidFill>
                            <a:srgbClr val="FFFFFF"/>
                          </a:solidFill>
                          <a:latin typeface="Sarabun Bold"/>
                          <a:ea typeface="Sarabun Bold"/>
                          <a:cs typeface="Sarabun Bold"/>
                          <a:sym typeface="Sarabun Bold"/>
                        </a:rPr>
                        <a:t>Swift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12700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B2E2E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340"/>
                        </a:lnSpc>
                        <a:defRPr/>
                      </a:pPr>
                      <a:r>
                        <a:rPr lang="en-US" sz="1950" b="true">
                          <a:solidFill>
                            <a:srgbClr val="FFFFFF"/>
                          </a:solidFill>
                          <a:latin typeface="Sarabun Bold"/>
                          <a:ea typeface="Sarabun Bold"/>
                          <a:cs typeface="Sarabun Bold"/>
                          <a:sym typeface="Sarabun Bold"/>
                        </a:rPr>
                        <a:t>Python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12700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B2E2E"/>
                    </a:solidFill>
                  </a:tcPr>
                </a:tc>
              </a:tr>
              <a:tr h="6202593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340"/>
                        </a:lnSpc>
                        <a:defRPr/>
                      </a:pPr>
                      <a:r>
                        <a:rPr lang="en-US" b="true" sz="1950">
                          <a:solidFill>
                            <a:srgbClr val="8B2E2E"/>
                          </a:solidFill>
                          <a:latin typeface="Sarabun Bold"/>
                          <a:ea typeface="Sarabun Bold"/>
                          <a:cs typeface="Sarabun Bold"/>
                          <a:sym typeface="Sarabun Bold"/>
                        </a:rPr>
                        <a:t>Syntax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12700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 marL="421005" indent="-210502" lvl="1">
                        <a:lnSpc>
                          <a:spcPts val="2729"/>
                        </a:lnSpc>
                        <a:buFont typeface="Arial"/>
                        <a:buChar char="•"/>
                        <a:defRPr/>
                      </a:pPr>
                      <a:r>
                        <a:rPr lang="en-US" b="true" sz="1950">
                          <a:solidFill>
                            <a:srgbClr val="8B2E2E"/>
                          </a:solidFill>
                          <a:latin typeface="Sarabun Bold"/>
                          <a:ea typeface="Sarabun Bold"/>
                          <a:cs typeface="Sarabun Bold"/>
                          <a:sym typeface="Sarabun Bold"/>
                        </a:rPr>
                        <a:t>จัดการข้อผิดพลาดด้วย Enum Types </a:t>
                      </a:r>
                      <a:r>
                        <a:rPr lang="en-US" sz="1950">
                          <a:solidFill>
                            <a:srgbClr val="000000"/>
                          </a:solidFill>
                          <a:latin typeface="Sarabun"/>
                          <a:ea typeface="Sarabun"/>
                          <a:cs typeface="Sarabun"/>
                          <a:sym typeface="Sarabun"/>
                        </a:rPr>
                        <a:t>โดย</a:t>
                      </a:r>
                      <a:r>
                        <a:rPr lang="en-US" sz="1950">
                          <a:solidFill>
                            <a:srgbClr val="222222"/>
                          </a:solidFill>
                          <a:latin typeface="Sarabun"/>
                          <a:ea typeface="Sarabun"/>
                          <a:cs typeface="Sarabun"/>
                          <a:sym typeface="Sarabun"/>
                        </a:rPr>
                        <a:t>ใช้ </a:t>
                      </a:r>
                      <a:r>
                        <a:rPr lang="en-US" b="true" sz="1950">
                          <a:solidFill>
                            <a:srgbClr val="222222"/>
                          </a:solidFill>
                          <a:latin typeface="Sarabun Bold"/>
                          <a:ea typeface="Sarabun Bold"/>
                          <a:cs typeface="Sarabun Bold"/>
                          <a:sym typeface="Sarabun Bold"/>
                        </a:rPr>
                        <a:t>Option&lt;T&gt;</a:t>
                      </a:r>
                      <a:r>
                        <a:rPr lang="en-US" sz="1950">
                          <a:solidFill>
                            <a:srgbClr val="222222"/>
                          </a:solidFill>
                          <a:latin typeface="Sarabun"/>
                          <a:ea typeface="Sarabun"/>
                          <a:cs typeface="Sarabun"/>
                          <a:sym typeface="Sarabun"/>
                        </a:rPr>
                        <a:t> (Some/None) สำหรับค่าว่าง และ </a:t>
                      </a:r>
                      <a:r>
                        <a:rPr lang="en-US" b="true" sz="1950">
                          <a:solidFill>
                            <a:srgbClr val="222222"/>
                          </a:solidFill>
                          <a:latin typeface="Sarabun Bold"/>
                          <a:ea typeface="Sarabun Bold"/>
                          <a:cs typeface="Sarabun Bold"/>
                          <a:sym typeface="Sarabun Bold"/>
                        </a:rPr>
                        <a:t>Result&lt;T, E&gt;</a:t>
                      </a:r>
                      <a:r>
                        <a:rPr lang="en-US" sz="1950">
                          <a:solidFill>
                            <a:srgbClr val="222222"/>
                          </a:solidFill>
                          <a:latin typeface="Sarabun"/>
                          <a:ea typeface="Sarabun"/>
                          <a:cs typeface="Sarabun"/>
                          <a:sym typeface="Sarabun"/>
                        </a:rPr>
                        <a:t> (Ok/Err) สำหรับข้อผิดพลาดที่จัดการได้</a:t>
                      </a:r>
                      <a:endParaRPr lang="en-US" sz="1100"/>
                    </a:p>
                    <a:p>
                      <a:pPr algn="l" marL="421005" indent="-210502" lvl="1">
                        <a:lnSpc>
                          <a:spcPts val="2729"/>
                        </a:lnSpc>
                        <a:buFont typeface="Arial"/>
                        <a:buChar char="•"/>
                      </a:pPr>
                      <a:r>
                        <a:rPr lang="en-US" b="true" sz="1950">
                          <a:solidFill>
                            <a:srgbClr val="8B2E2E"/>
                          </a:solidFill>
                          <a:latin typeface="Sarabun Bold"/>
                          <a:ea typeface="Sarabun Bold"/>
                          <a:cs typeface="Sarabun Bold"/>
                          <a:sym typeface="Sarabun Bold"/>
                        </a:rPr>
                        <a:t>แกะค่าข้อมูลด้วย Pattern Matching</a:t>
                      </a:r>
                      <a:r>
                        <a:rPr lang="en-US" sz="1950">
                          <a:solidFill>
                            <a:srgbClr val="222222"/>
                          </a:solidFill>
                          <a:latin typeface="Sarabun"/>
                          <a:ea typeface="Sarabun"/>
                          <a:cs typeface="Sarabun"/>
                          <a:sym typeface="Sarabun"/>
                        </a:rPr>
                        <a:t> ใช้ไวยากรณ์ </a:t>
                      </a:r>
                      <a:r>
                        <a:rPr lang="en-US" b="true" sz="1950">
                          <a:solidFill>
                            <a:srgbClr val="222222"/>
                          </a:solidFill>
                          <a:latin typeface="Sarabun Bold"/>
                          <a:ea typeface="Sarabun Bold"/>
                          <a:cs typeface="Sarabun Bold"/>
                          <a:sym typeface="Sarabun Bold"/>
                        </a:rPr>
                        <a:t>match</a:t>
                      </a:r>
                      <a:r>
                        <a:rPr lang="en-US" sz="1950">
                          <a:solidFill>
                            <a:srgbClr val="222222"/>
                          </a:solidFill>
                          <a:latin typeface="Sarabun"/>
                          <a:ea typeface="Sarabun"/>
                          <a:cs typeface="Sarabun"/>
                          <a:sym typeface="Sarabun"/>
                        </a:rPr>
                        <a:t> และ </a:t>
                      </a:r>
                      <a:r>
                        <a:rPr lang="en-US" b="true" sz="1950">
                          <a:solidFill>
                            <a:srgbClr val="222222"/>
                          </a:solidFill>
                          <a:latin typeface="Sarabun Bold"/>
                          <a:ea typeface="Sarabun Bold"/>
                          <a:cs typeface="Sarabun Bold"/>
                          <a:sym typeface="Sarabun Bold"/>
                        </a:rPr>
                        <a:t>if let</a:t>
                      </a:r>
                    </a:p>
                    <a:p>
                      <a:pPr algn="l" marL="421005" indent="-210502" lvl="1">
                        <a:lnSpc>
                          <a:spcPts val="2729"/>
                        </a:lnSpc>
                        <a:buFont typeface="Arial"/>
                        <a:buChar char="•"/>
                      </a:pPr>
                      <a:r>
                        <a:rPr lang="en-US" b="true" sz="1950">
                          <a:solidFill>
                            <a:srgbClr val="8B2E2E"/>
                          </a:solidFill>
                          <a:latin typeface="Sarabun Bold"/>
                          <a:ea typeface="Sarabun Bold"/>
                          <a:cs typeface="Sarabun Bold"/>
                          <a:sym typeface="Sarabun Bold"/>
                        </a:rPr>
                        <a:t>การส่งต่อข้อผิดพลาดอัตโนมัติด้วย ? Operator</a:t>
                      </a:r>
                    </a:p>
                    <a:p>
                      <a:pPr algn="l" marL="421005" indent="-210502" lvl="1">
                        <a:lnSpc>
                          <a:spcPts val="2729"/>
                        </a:lnSpc>
                        <a:buFont typeface="Arial"/>
                        <a:buChar char="•"/>
                      </a:pPr>
                      <a:r>
                        <a:rPr lang="en-US" b="true" sz="1950">
                          <a:solidFill>
                            <a:srgbClr val="8B2E2E"/>
                          </a:solidFill>
                          <a:latin typeface="Sarabun Bold"/>
                          <a:ea typeface="Sarabun Bold"/>
                          <a:cs typeface="Sarabun Bold"/>
                          <a:sym typeface="Sarabun Bold"/>
                        </a:rPr>
                        <a:t>การสั่งหยุดโปรแกรมด้วย panic!</a:t>
                      </a:r>
                    </a:p>
                  </a:txBody>
                  <a:tcPr marL="91440" marR="91440" marT="91440" marB="91440" anchor="t">
                    <a:lnL cmpd="sng" algn="ctr" cap="flat" w="12700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 marL="421005" indent="-210502" lvl="1">
                        <a:lnSpc>
                          <a:spcPts val="2729"/>
                        </a:lnSpc>
                        <a:buFont typeface="Arial"/>
                        <a:buChar char="•"/>
                        <a:defRPr/>
                      </a:pPr>
                      <a:r>
                        <a:rPr lang="en-US" b="true" sz="1950">
                          <a:solidFill>
                            <a:srgbClr val="8B2E2E"/>
                          </a:solidFill>
                          <a:latin typeface="Sarabun Bold"/>
                          <a:ea typeface="Sarabun Bold"/>
                          <a:cs typeface="Sarabun Bold"/>
                          <a:sym typeface="Sarabun Bold"/>
                        </a:rPr>
                        <a:t>จัดการข้อผิดพลาดด้วยบล็อก try-catch-finally</a:t>
                      </a:r>
                      <a:endParaRPr lang="en-US" sz="1100"/>
                    </a:p>
                    <a:p>
                      <a:pPr algn="l" marL="842010" indent="-280670" lvl="2">
                        <a:lnSpc>
                          <a:spcPts val="2729"/>
                        </a:lnSpc>
                        <a:buFont typeface="Arial"/>
                        <a:buChar char="⚬"/>
                      </a:pPr>
                      <a:r>
                        <a:rPr lang="en-US" b="true" sz="1950">
                          <a:solidFill>
                            <a:srgbClr val="222222"/>
                          </a:solidFill>
                          <a:latin typeface="Sarabun Bold"/>
                          <a:ea typeface="Sarabun Bold"/>
                          <a:cs typeface="Sarabun Bold"/>
                          <a:sym typeface="Sarabun Bold"/>
                        </a:rPr>
                        <a:t>try</a:t>
                      </a:r>
                      <a:r>
                        <a:rPr lang="en-US" sz="1950">
                          <a:solidFill>
                            <a:srgbClr val="222222"/>
                          </a:solidFill>
                          <a:latin typeface="Sarabun"/>
                          <a:ea typeface="Sarabun"/>
                          <a:cs typeface="Sarabun"/>
                          <a:sym typeface="Sarabun"/>
                        </a:rPr>
                        <a:t>: ใส่คำสั่งที่มีโอกาสเกิดข้อผิดพลาด</a:t>
                      </a:r>
                    </a:p>
                    <a:p>
                      <a:pPr algn="l" marL="842010" indent="-280670" lvl="2">
                        <a:lnSpc>
                          <a:spcPts val="2729"/>
                        </a:lnSpc>
                        <a:buFont typeface="Arial"/>
                        <a:buChar char="⚬"/>
                      </a:pPr>
                      <a:r>
                        <a:rPr lang="en-US" b="true" sz="1950">
                          <a:solidFill>
                            <a:srgbClr val="222222"/>
                          </a:solidFill>
                          <a:latin typeface="Sarabun Bold"/>
                          <a:ea typeface="Sarabun Bold"/>
                          <a:cs typeface="Sarabun Bold"/>
                          <a:sym typeface="Sarabun Bold"/>
                        </a:rPr>
                        <a:t>catch</a:t>
                      </a:r>
                      <a:r>
                        <a:rPr lang="en-US" sz="1950">
                          <a:solidFill>
                            <a:srgbClr val="222222"/>
                          </a:solidFill>
                          <a:latin typeface="Sarabun"/>
                          <a:ea typeface="Sarabun"/>
                          <a:cs typeface="Sarabun"/>
                          <a:sym typeface="Sarabun"/>
                        </a:rPr>
                        <a:t>: ดักจับและจัดการ Exception ตามลำดับ Polymorphism (เรียงจากคลาสลูกไปคลาสแม่)</a:t>
                      </a:r>
                    </a:p>
                    <a:p>
                      <a:pPr algn="l" marL="842010" indent="-280670" lvl="2">
                        <a:lnSpc>
                          <a:spcPts val="2729"/>
                        </a:lnSpc>
                        <a:buFont typeface="Arial"/>
                        <a:buChar char="⚬"/>
                      </a:pPr>
                      <a:r>
                        <a:rPr lang="en-US" b="true" sz="1950">
                          <a:solidFill>
                            <a:srgbClr val="222222"/>
                          </a:solidFill>
                          <a:latin typeface="Sarabun Bold"/>
                          <a:ea typeface="Sarabun Bold"/>
                          <a:cs typeface="Sarabun Bold"/>
                          <a:sym typeface="Sarabun Bold"/>
                        </a:rPr>
                        <a:t>finally</a:t>
                      </a:r>
                      <a:r>
                        <a:rPr lang="en-US" sz="1950">
                          <a:solidFill>
                            <a:srgbClr val="222222"/>
                          </a:solidFill>
                          <a:latin typeface="Sarabun"/>
                          <a:ea typeface="Sarabun"/>
                          <a:cs typeface="Sarabun"/>
                          <a:sym typeface="Sarabun"/>
                        </a:rPr>
                        <a:t>: ประมวลผลเสมอ ไม่ว่าจะเกิด Exception หรือไม่ก็ตาม</a:t>
                      </a:r>
                    </a:p>
                    <a:p>
                      <a:pPr algn="l">
                        <a:lnSpc>
                          <a:spcPts val="2729"/>
                        </a:lnSpc>
                      </a:pPr>
                    </a:p>
                    <a:p>
                      <a:pPr algn="l" marL="421005" indent="-210502" lvl="1">
                        <a:lnSpc>
                          <a:spcPts val="2729"/>
                        </a:lnSpc>
                        <a:buFont typeface="Arial"/>
                        <a:buChar char="•"/>
                      </a:pPr>
                      <a:r>
                        <a:rPr lang="en-US" b="true" sz="1950">
                          <a:solidFill>
                            <a:srgbClr val="8B2E2E"/>
                          </a:solidFill>
                          <a:latin typeface="Sarabun Bold"/>
                          <a:ea typeface="Sarabun Bold"/>
                          <a:cs typeface="Sarabun Bold"/>
                          <a:sym typeface="Sarabun Bold"/>
                        </a:rPr>
                        <a:t>ระบุข้อผิดพลาดบนส่วนหัวเมธอด</a:t>
                      </a:r>
                      <a:r>
                        <a:rPr lang="en-US" sz="1950">
                          <a:solidFill>
                            <a:srgbClr val="222222"/>
                          </a:solidFill>
                          <a:latin typeface="Sarabun"/>
                          <a:ea typeface="Sarabun"/>
                          <a:cs typeface="Sarabun"/>
                          <a:sym typeface="Sarabun"/>
                        </a:rPr>
                        <a:t> </a:t>
                      </a:r>
                      <a:r>
                        <a:rPr lang="en-US" b="true" sz="1950">
                          <a:solidFill>
                            <a:srgbClr val="8B2E2E"/>
                          </a:solidFill>
                          <a:latin typeface="Sarabun Bold"/>
                          <a:ea typeface="Sarabun Bold"/>
                          <a:cs typeface="Sarabun Bold"/>
                          <a:sym typeface="Sarabun Bold"/>
                        </a:rPr>
                        <a:t>ด้วย throws</a:t>
                      </a:r>
                    </a:p>
                    <a:p>
                      <a:pPr algn="l">
                        <a:lnSpc>
                          <a:spcPts val="2729"/>
                        </a:lnSpc>
                      </a:pPr>
                    </a:p>
                  </a:txBody>
                  <a:tcPr marL="91440" marR="91440" marT="91440" marB="91440" anchor="t">
                    <a:lnL cmpd="sng" algn="ctr" cap="flat" w="12700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 marL="421005" indent="-210502" lvl="1">
                        <a:lnSpc>
                          <a:spcPts val="2729"/>
                        </a:lnSpc>
                        <a:buFont typeface="Arial"/>
                        <a:buChar char="•"/>
                        <a:defRPr/>
                      </a:pPr>
                      <a:r>
                        <a:rPr lang="en-US" b="true" sz="1950">
                          <a:solidFill>
                            <a:srgbClr val="8B2E2E"/>
                          </a:solidFill>
                          <a:latin typeface="Sarabun Bold"/>
                          <a:ea typeface="Sarabun Bold"/>
                          <a:cs typeface="Sarabun Bold"/>
                          <a:sym typeface="Sarabun Bold"/>
                        </a:rPr>
                        <a:t>จัดการข้อผิดพลาดด้วย throws และบล็อก do-catch</a:t>
                      </a:r>
                      <a:r>
                        <a:rPr lang="en-US" sz="1950">
                          <a:solidFill>
                            <a:srgbClr val="8B2E2E"/>
                          </a:solidFill>
                          <a:latin typeface="Sarabun"/>
                          <a:ea typeface="Sarabun"/>
                          <a:cs typeface="Sarabun"/>
                          <a:sym typeface="Sarabun"/>
                        </a:rPr>
                        <a:t> </a:t>
                      </a:r>
                      <a:r>
                        <a:rPr lang="en-US" sz="1950">
                          <a:solidFill>
                            <a:srgbClr val="222222"/>
                          </a:solidFill>
                          <a:latin typeface="Sarabun"/>
                          <a:ea typeface="Sarabun"/>
                          <a:cs typeface="Sarabun"/>
                          <a:sym typeface="Sarabun"/>
                        </a:rPr>
                        <a:t>ใช้ throws ประกาศฟังก์ชันที่อาจเกิด Error และใช้บล็อก do-catch ดักจับและจัดการ</a:t>
                      </a:r>
                      <a:endParaRPr lang="en-US" sz="1100"/>
                    </a:p>
                    <a:p>
                      <a:pPr algn="l" marL="421005" indent="-210502" lvl="1">
                        <a:lnSpc>
                          <a:spcPts val="2729"/>
                        </a:lnSpc>
                        <a:buFont typeface="Arial"/>
                        <a:buChar char="•"/>
                      </a:pPr>
                      <a:r>
                        <a:rPr lang="en-US" b="true" sz="1950">
                          <a:solidFill>
                            <a:srgbClr val="8B2E2E"/>
                          </a:solidFill>
                          <a:latin typeface="Sarabun Bold"/>
                          <a:ea typeface="Sarabun Bold"/>
                          <a:cs typeface="Sarabun Bold"/>
                          <a:sym typeface="Sarabun Bold"/>
                        </a:rPr>
                        <a:t>การใช้งานคำสั่ง try มี 3 รูปแบบ</a:t>
                      </a:r>
                    </a:p>
                    <a:p>
                      <a:pPr algn="l" marL="842010" indent="-280670" lvl="2">
                        <a:lnSpc>
                          <a:spcPts val="2729"/>
                        </a:lnSpc>
                        <a:buFont typeface="Arial"/>
                        <a:buChar char="⚬"/>
                      </a:pPr>
                      <a:r>
                        <a:rPr lang="en-US" b="true" sz="1950">
                          <a:solidFill>
                            <a:srgbClr val="1E1E1E"/>
                          </a:solidFill>
                          <a:latin typeface="Sarabun Bold"/>
                          <a:ea typeface="Sarabun Bold"/>
                          <a:cs typeface="Sarabun Bold"/>
                          <a:sym typeface="Sarabun Bold"/>
                        </a:rPr>
                        <a:t>try</a:t>
                      </a:r>
                      <a:r>
                        <a:rPr lang="en-US" sz="1950">
                          <a:solidFill>
                            <a:srgbClr val="222222"/>
                          </a:solidFill>
                          <a:latin typeface="Sarabun"/>
                          <a:ea typeface="Sarabun"/>
                          <a:cs typeface="Sarabun"/>
                          <a:sym typeface="Sarabun"/>
                        </a:rPr>
                        <a:t>: เรียกฟังก์ชันที่เสี่ยงตามปกติภายในบล็อก do-catch</a:t>
                      </a:r>
                    </a:p>
                    <a:p>
                      <a:pPr algn="l" marL="842010" indent="-280670" lvl="2">
                        <a:lnSpc>
                          <a:spcPts val="2729"/>
                        </a:lnSpc>
                        <a:buFont typeface="Arial"/>
                        <a:buChar char="⚬"/>
                      </a:pPr>
                      <a:r>
                        <a:rPr lang="en-US" b="true" sz="1950">
                          <a:solidFill>
                            <a:srgbClr val="222222"/>
                          </a:solidFill>
                          <a:latin typeface="Sarabun Bold"/>
                          <a:ea typeface="Sarabun Bold"/>
                          <a:cs typeface="Sarabun Bold"/>
                          <a:sym typeface="Sarabun Bold"/>
                        </a:rPr>
                        <a:t>try?</a:t>
                      </a:r>
                      <a:r>
                        <a:rPr lang="en-US" sz="1950">
                          <a:solidFill>
                            <a:srgbClr val="222222"/>
                          </a:solidFill>
                          <a:latin typeface="Sarabun"/>
                          <a:ea typeface="Sarabun"/>
                          <a:cs typeface="Sarabun"/>
                          <a:sym typeface="Sarabun"/>
                        </a:rPr>
                        <a:t>: แปลงข้อผิดพลาดเป็นค่าว่าง (nil)</a:t>
                      </a:r>
                    </a:p>
                    <a:p>
                      <a:pPr algn="l" marL="842010" indent="-280670" lvl="2">
                        <a:lnSpc>
                          <a:spcPts val="2729"/>
                        </a:lnSpc>
                        <a:buFont typeface="Arial"/>
                        <a:buChar char="⚬"/>
                      </a:pPr>
                      <a:r>
                        <a:rPr lang="en-US" b="true" sz="1950">
                          <a:solidFill>
                            <a:srgbClr val="222222"/>
                          </a:solidFill>
                          <a:latin typeface="Sarabun Bold"/>
                          <a:ea typeface="Sarabun Bold"/>
                          <a:cs typeface="Sarabun Bold"/>
                          <a:sym typeface="Sarabun Bold"/>
                        </a:rPr>
                        <a:t>try!</a:t>
                      </a:r>
                      <a:r>
                        <a:rPr lang="en-US" sz="1950">
                          <a:solidFill>
                            <a:srgbClr val="222222"/>
                          </a:solidFill>
                          <a:latin typeface="Sarabun"/>
                          <a:ea typeface="Sarabun"/>
                          <a:cs typeface="Sarabun"/>
                          <a:sym typeface="Sarabun"/>
                        </a:rPr>
                        <a:t>: บังคับแกะค่าผลลัพธ์ทันทีเมื่อมั่นใจว่าจะไม่เกิด Error</a:t>
                      </a:r>
                    </a:p>
                    <a:p>
                      <a:pPr algn="l" marL="421005" indent="-210502" lvl="1">
                        <a:lnSpc>
                          <a:spcPts val="2729"/>
                        </a:lnSpc>
                        <a:buFont typeface="Arial"/>
                        <a:buChar char="•"/>
                      </a:pPr>
                      <a:r>
                        <a:rPr lang="en-US" b="true" sz="1950">
                          <a:solidFill>
                            <a:srgbClr val="8B2E2E"/>
                          </a:solidFill>
                          <a:latin typeface="Sarabun Bold"/>
                          <a:ea typeface="Sarabun Bold"/>
                          <a:cs typeface="Sarabun Bold"/>
                          <a:sym typeface="Sarabun Bold"/>
                        </a:rPr>
                        <a:t>มีไวยากรณ์จัดการค่าว่าง (nil) </a:t>
                      </a:r>
                      <a:r>
                        <a:rPr lang="en-US" sz="1950">
                          <a:solidFill>
                            <a:srgbClr val="222222"/>
                          </a:solidFill>
                          <a:latin typeface="Sarabun"/>
                          <a:ea typeface="Sarabun"/>
                          <a:cs typeface="Sarabun"/>
                          <a:sym typeface="Sarabun"/>
                        </a:rPr>
                        <a:t>ใช้ if let / guard let, ?. และ ?? เพื่อจัดการ nil โดยไม่ต้องใช้ระบบ Error Handling เต็มรูปแบบ</a:t>
                      </a:r>
                    </a:p>
                    <a:p>
                      <a:pPr algn="l">
                        <a:lnSpc>
                          <a:spcPts val="2729"/>
                        </a:lnSpc>
                      </a:pPr>
                    </a:p>
                  </a:txBody>
                  <a:tcPr marL="91440" marR="91440" marT="91440" marB="91440" anchor="t">
                    <a:lnL cmpd="sng" algn="ctr" cap="flat" w="12700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 marL="421005" indent="-210502" lvl="1">
                        <a:lnSpc>
                          <a:spcPts val="2729"/>
                        </a:lnSpc>
                        <a:buFont typeface="Arial"/>
                        <a:buChar char="•"/>
                        <a:defRPr/>
                      </a:pPr>
                      <a:r>
                        <a:rPr lang="en-US" b="true" sz="1950">
                          <a:solidFill>
                            <a:srgbClr val="8B2E2E"/>
                          </a:solidFill>
                          <a:latin typeface="Sarabun Bold"/>
                          <a:ea typeface="Sarabun Bold"/>
                          <a:cs typeface="Sarabun Bold"/>
                          <a:sym typeface="Sarabun Bold"/>
                        </a:rPr>
                        <a:t>จัดการข้อผิดพลาดด้วย try-except-else-finally</a:t>
                      </a:r>
                      <a:endParaRPr lang="en-US" sz="1100"/>
                    </a:p>
                    <a:p>
                      <a:pPr algn="l" marL="842010" indent="-280670" lvl="2">
                        <a:lnSpc>
                          <a:spcPts val="2729"/>
                        </a:lnSpc>
                        <a:buFont typeface="Arial"/>
                        <a:buChar char="⚬"/>
                      </a:pPr>
                      <a:r>
                        <a:rPr lang="en-US" b="true" sz="1950">
                          <a:solidFill>
                            <a:srgbClr val="222222"/>
                          </a:solidFill>
                          <a:latin typeface="Sarabun Bold"/>
                          <a:ea typeface="Sarabun Bold"/>
                          <a:cs typeface="Sarabun Bold"/>
                          <a:sym typeface="Sarabun Bold"/>
                        </a:rPr>
                        <a:t>try</a:t>
                      </a:r>
                      <a:r>
                        <a:rPr lang="en-US" sz="1950">
                          <a:solidFill>
                            <a:srgbClr val="222222"/>
                          </a:solidFill>
                          <a:latin typeface="Sarabun"/>
                          <a:ea typeface="Sarabun"/>
                          <a:cs typeface="Sarabun"/>
                          <a:sym typeface="Sarabun"/>
                        </a:rPr>
                        <a:t>: ใส่คำสั่งที่มีโอกาสเกิดข้อผิดพลาด</a:t>
                      </a:r>
                    </a:p>
                    <a:p>
                      <a:pPr algn="l" marL="842010" indent="-280670" lvl="2">
                        <a:lnSpc>
                          <a:spcPts val="2729"/>
                        </a:lnSpc>
                        <a:buFont typeface="Arial"/>
                        <a:buChar char="⚬"/>
                      </a:pPr>
                      <a:r>
                        <a:rPr lang="en-US" b="true" sz="1950">
                          <a:solidFill>
                            <a:srgbClr val="222222"/>
                          </a:solidFill>
                          <a:latin typeface="Sarabun Bold"/>
                          <a:ea typeface="Sarabun Bold"/>
                          <a:cs typeface="Sarabun Bold"/>
                          <a:sym typeface="Sarabun Bold"/>
                        </a:rPr>
                        <a:t>except</a:t>
                      </a:r>
                      <a:r>
                        <a:rPr lang="en-US" sz="1950">
                          <a:solidFill>
                            <a:srgbClr val="222222"/>
                          </a:solidFill>
                          <a:latin typeface="Sarabun"/>
                          <a:ea typeface="Sarabun"/>
                          <a:cs typeface="Sarabun"/>
                          <a:sym typeface="Sarabun"/>
                        </a:rPr>
                        <a:t>: ดักจับ Exception ตามประเภทที่กำหนด</a:t>
                      </a:r>
                    </a:p>
                    <a:p>
                      <a:pPr algn="l" marL="842010" indent="-280670" lvl="2">
                        <a:lnSpc>
                          <a:spcPts val="2729"/>
                        </a:lnSpc>
                        <a:buFont typeface="Arial"/>
                        <a:buChar char="⚬"/>
                      </a:pPr>
                      <a:r>
                        <a:rPr lang="en-US" b="true" sz="1950">
                          <a:solidFill>
                            <a:srgbClr val="222222"/>
                          </a:solidFill>
                          <a:latin typeface="Sarabun Bold"/>
                          <a:ea typeface="Sarabun Bold"/>
                          <a:cs typeface="Sarabun Bold"/>
                          <a:sym typeface="Sarabun Bold"/>
                        </a:rPr>
                        <a:t>else</a:t>
                      </a:r>
                      <a:r>
                        <a:rPr lang="en-US" sz="1950">
                          <a:solidFill>
                            <a:srgbClr val="222222"/>
                          </a:solidFill>
                          <a:latin typeface="Sarabun"/>
                          <a:ea typeface="Sarabun"/>
                          <a:cs typeface="Sarabun"/>
                          <a:sym typeface="Sarabun"/>
                        </a:rPr>
                        <a:t>: ประมวลผลเฉพาะเมื่อไม่พบ Exception ในบล็อก try</a:t>
                      </a:r>
                    </a:p>
                    <a:p>
                      <a:pPr algn="l" marL="842010" indent="-280670" lvl="2">
                        <a:lnSpc>
                          <a:spcPts val="2729"/>
                        </a:lnSpc>
                        <a:buFont typeface="Arial"/>
                        <a:buChar char="⚬"/>
                      </a:pPr>
                      <a:r>
                        <a:rPr lang="en-US" b="true" sz="1950">
                          <a:solidFill>
                            <a:srgbClr val="222222"/>
                          </a:solidFill>
                          <a:latin typeface="Sarabun Bold"/>
                          <a:ea typeface="Sarabun Bold"/>
                          <a:cs typeface="Sarabun Bold"/>
                          <a:sym typeface="Sarabun Bold"/>
                        </a:rPr>
                        <a:t>finally</a:t>
                      </a:r>
                      <a:r>
                        <a:rPr lang="en-US" sz="1950">
                          <a:solidFill>
                            <a:srgbClr val="222222"/>
                          </a:solidFill>
                          <a:latin typeface="Sarabun"/>
                          <a:ea typeface="Sarabun"/>
                          <a:cs typeface="Sarabun"/>
                          <a:sym typeface="Sarabun"/>
                        </a:rPr>
                        <a:t>: ประมวลผลเสมอ </a:t>
                      </a:r>
                    </a:p>
                    <a:p>
                      <a:pPr algn="l" marL="421005" indent="-210502" lvl="1">
                        <a:lnSpc>
                          <a:spcPts val="2729"/>
                        </a:lnSpc>
                        <a:buFont typeface="Arial"/>
                        <a:buChar char="•"/>
                      </a:pPr>
                      <a:r>
                        <a:rPr lang="en-US" b="true" sz="1950">
                          <a:solidFill>
                            <a:srgbClr val="8B2E2E"/>
                          </a:solidFill>
                          <a:latin typeface="Sarabun Bold"/>
                          <a:ea typeface="Sarabun Bold"/>
                          <a:cs typeface="Sarabun Bold"/>
                          <a:sym typeface="Sarabun Bold"/>
                        </a:rPr>
                        <a:t>ใช</a:t>
                      </a:r>
                      <a:r>
                        <a:rPr lang="en-US" b="true" sz="1950">
                          <a:solidFill>
                            <a:srgbClr val="8B2E2E"/>
                          </a:solidFill>
                          <a:latin typeface="Sarabun Bold"/>
                          <a:ea typeface="Sarabun Bold"/>
                          <a:cs typeface="Sarabun Bold"/>
                          <a:sym typeface="Sarabun Bold"/>
                        </a:rPr>
                        <a:t>้ raise ในการโยน Exception เมื่อเกิดเงื่อนไขผิดปกติ</a:t>
                      </a:r>
                    </a:p>
                    <a:p>
                      <a:pPr algn="l" marL="421005" indent="-210502" lvl="1">
                        <a:lnSpc>
                          <a:spcPts val="2729"/>
                        </a:lnSpc>
                        <a:buFont typeface="Arial"/>
                        <a:buChar char="•"/>
                      </a:pPr>
                      <a:r>
                        <a:rPr lang="en-US" b="true" sz="1950">
                          <a:solidFill>
                            <a:srgbClr val="8B2E2E"/>
                          </a:solidFill>
                          <a:latin typeface="Sarabun Bold"/>
                          <a:ea typeface="Sarabun Bold"/>
                          <a:cs typeface="Sarabun Bold"/>
                          <a:sym typeface="Sarabun Bold"/>
                        </a:rPr>
                        <a:t>ตรวจสอบค่าว่างด้วย is None</a:t>
                      </a:r>
                    </a:p>
                    <a:p>
                      <a:pPr algn="l">
                        <a:lnSpc>
                          <a:spcPts val="2729"/>
                        </a:lnSpc>
                      </a:pPr>
                    </a:p>
                  </a:txBody>
                  <a:tcPr marL="91440" marR="91440" marT="91440" marB="91440" anchor="t">
                    <a:lnL cmpd="sng" algn="ctr" cap="flat" w="12700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pSp>
        <p:nvGrpSpPr>
          <p:cNvPr name="Group 11" id="11"/>
          <p:cNvGrpSpPr/>
          <p:nvPr/>
        </p:nvGrpSpPr>
        <p:grpSpPr>
          <a:xfrm rot="0">
            <a:off x="685800" y="9710928"/>
            <a:ext cx="10972800" cy="411480"/>
            <a:chOff x="0" y="0"/>
            <a:chExt cx="14630400" cy="54864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4630400" cy="548640"/>
            </a:xfrm>
            <a:custGeom>
              <a:avLst/>
              <a:gdLst/>
              <a:ahLst/>
              <a:cxnLst/>
              <a:rect r="r" b="b" t="t" l="l"/>
              <a:pathLst>
                <a:path h="548640" w="14630400">
                  <a:moveTo>
                    <a:pt x="0" y="0"/>
                  </a:moveTo>
                  <a:lnTo>
                    <a:pt x="14630400" y="0"/>
                  </a:lnTo>
                  <a:lnTo>
                    <a:pt x="146304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69601" r="0" b="-469601"/>
              </a:stretch>
            </a:blip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38100"/>
              <a:ext cx="14630400" cy="5867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00"/>
                </a:lnSpc>
              </a:pPr>
              <a:r>
                <a:rPr lang="en-US" sz="1500">
                  <a:solidFill>
                    <a:srgbClr val="6B6B6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517321 Principles of Programming Languages — Rust Tutorial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16911828" y="9710928"/>
            <a:ext cx="685800" cy="411480"/>
            <a:chOff x="0" y="0"/>
            <a:chExt cx="914400" cy="54864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914400" cy="548640"/>
            </a:xfrm>
            <a:custGeom>
              <a:avLst/>
              <a:gdLst/>
              <a:ahLst/>
              <a:cxnLst/>
              <a:rect r="r" b="b" t="t" l="l"/>
              <a:pathLst>
                <a:path h="548640" w="914400">
                  <a:moveTo>
                    <a:pt x="0" y="0"/>
                  </a:moveTo>
                  <a:lnTo>
                    <a:pt x="914400" y="0"/>
                  </a:lnTo>
                  <a:lnTo>
                    <a:pt x="9144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26982" t="0" r="-26982" b="0"/>
              </a:stretch>
            </a:blip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38100"/>
              <a:ext cx="914400" cy="5867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800"/>
                </a:lnSpc>
              </a:pPr>
              <a:r>
                <a:rPr lang="en-US" sz="1500">
                  <a:solidFill>
                    <a:srgbClr val="6B6B6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5</a:t>
              </a:r>
            </a:p>
          </p:txBody>
        </p:sp>
      </p:grpSp>
    </p:spTree>
  </p:cSld>
  <p:clrMapOvr>
    <a:masterClrMapping/>
  </p:clrMapOvr>
  <p:transition spd="fast">
    <p:wipe dir="l"/>
  </p:transition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685800" y="617220"/>
            <a:ext cx="4114800" cy="576072"/>
            <a:chOff x="0" y="0"/>
            <a:chExt cx="5486400" cy="76809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5486400" cy="768096"/>
            </a:xfrm>
            <a:custGeom>
              <a:avLst/>
              <a:gdLst/>
              <a:ahLst/>
              <a:cxnLst/>
              <a:rect r="r" b="b" t="t" l="l"/>
              <a:pathLst>
                <a:path h="768096" w="5486400">
                  <a:moveTo>
                    <a:pt x="0" y="146304"/>
                  </a:moveTo>
                  <a:cubicBezTo>
                    <a:pt x="0" y="65532"/>
                    <a:pt x="65532" y="0"/>
                    <a:pt x="146304" y="0"/>
                  </a:cubicBezTo>
                  <a:lnTo>
                    <a:pt x="5340096" y="0"/>
                  </a:lnTo>
                  <a:cubicBezTo>
                    <a:pt x="5420868" y="0"/>
                    <a:pt x="5486400" y="65532"/>
                    <a:pt x="5486400" y="146304"/>
                  </a:cubicBezTo>
                  <a:lnTo>
                    <a:pt x="5486400" y="621792"/>
                  </a:lnTo>
                  <a:cubicBezTo>
                    <a:pt x="5486400" y="702564"/>
                    <a:pt x="5420868" y="768096"/>
                    <a:pt x="5340096" y="768096"/>
                  </a:cubicBezTo>
                  <a:lnTo>
                    <a:pt x="146304" y="768096"/>
                  </a:lnTo>
                  <a:cubicBezTo>
                    <a:pt x="65532" y="768096"/>
                    <a:pt x="0" y="702564"/>
                    <a:pt x="0" y="621792"/>
                  </a:cubicBezTo>
                  <a:close/>
                </a:path>
              </a:pathLst>
            </a:custGeom>
            <a:solidFill>
              <a:srgbClr val="8B2E2E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685800" y="617220"/>
            <a:ext cx="4114800" cy="576072"/>
            <a:chOff x="0" y="0"/>
            <a:chExt cx="5486400" cy="768096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5486400" cy="768096"/>
            </a:xfrm>
            <a:custGeom>
              <a:avLst/>
              <a:gdLst/>
              <a:ahLst/>
              <a:cxnLst/>
              <a:rect r="r" b="b" t="t" l="l"/>
              <a:pathLst>
                <a:path h="768096" w="5486400">
                  <a:moveTo>
                    <a:pt x="0" y="0"/>
                  </a:moveTo>
                  <a:lnTo>
                    <a:pt x="5486400" y="0"/>
                  </a:lnTo>
                  <a:lnTo>
                    <a:pt x="5486400" y="768096"/>
                  </a:lnTo>
                  <a:lnTo>
                    <a:pt x="0" y="76809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9178" r="0" b="-89178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-47625"/>
              <a:ext cx="5486400" cy="81572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340"/>
                </a:lnSpc>
              </a:pPr>
              <a:r>
                <a:rPr lang="en-US" sz="195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PART 3 · MEMBER 3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685800" y="227387"/>
            <a:ext cx="16911828" cy="3303594"/>
            <a:chOff x="0" y="0"/>
            <a:chExt cx="22549104" cy="4404792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2549104" cy="4404792"/>
            </a:xfrm>
            <a:custGeom>
              <a:avLst/>
              <a:gdLst/>
              <a:ahLst/>
              <a:cxnLst/>
              <a:rect r="r" b="b" t="t" l="l"/>
              <a:pathLst>
                <a:path h="4404792" w="22549104">
                  <a:moveTo>
                    <a:pt x="0" y="0"/>
                  </a:moveTo>
                  <a:lnTo>
                    <a:pt x="22549104" y="0"/>
                  </a:lnTo>
                  <a:lnTo>
                    <a:pt x="22549104" y="4404792"/>
                  </a:lnTo>
                  <a:lnTo>
                    <a:pt x="0" y="44047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5216" r="0" b="-14279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>
              <a:off x="0" y="-19050"/>
              <a:ext cx="22549104" cy="442384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400"/>
                </a:lnSpc>
              </a:pPr>
              <a:r>
                <a:rPr lang="en-US" sz="4500" b="true">
                  <a:solidFill>
                    <a:srgbClr val="222222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Rust vs Java, Python and Swift</a:t>
              </a:r>
            </a:p>
          </p:txBody>
        </p:sp>
      </p:grpSp>
      <p:graphicFrame>
        <p:nvGraphicFramePr>
          <p:cNvPr name="Table 10" id="10"/>
          <p:cNvGraphicFramePr>
            <a:graphicFrameLocks noGrp="true"/>
          </p:cNvGraphicFramePr>
          <p:nvPr/>
        </p:nvGraphicFramePr>
        <p:xfrm>
          <a:off x="685800" y="2537460"/>
          <a:ext cx="16911828" cy="5573183"/>
        </p:xfrm>
        <a:graphic>
          <a:graphicData uri="http://schemas.openxmlformats.org/drawingml/2006/table">
            <a:tbl>
              <a:tblPr/>
              <a:tblGrid>
                <a:gridCol w="1385231"/>
                <a:gridCol w="4481662"/>
                <a:gridCol w="3339995"/>
                <a:gridCol w="3771223"/>
                <a:gridCol w="3933718"/>
              </a:tblGrid>
              <a:tr h="742525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340"/>
                        </a:lnSpc>
                        <a:defRPr/>
                      </a:pPr>
                      <a:r>
                        <a:rPr lang="en-US" sz="1950" b="true">
                          <a:solidFill>
                            <a:srgbClr val="FFFFFF"/>
                          </a:solidFill>
                          <a:latin typeface="Sarabun Bold"/>
                          <a:ea typeface="Sarabun Bold"/>
                          <a:cs typeface="Sarabun Bold"/>
                          <a:sym typeface="Sarabun Bold"/>
                        </a:rPr>
                        <a:t>Aspect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12700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B2E2E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340"/>
                        </a:lnSpc>
                        <a:defRPr/>
                      </a:pPr>
                      <a:r>
                        <a:rPr lang="en-US" sz="1950" b="true">
                          <a:solidFill>
                            <a:srgbClr val="FFFFFF"/>
                          </a:solidFill>
                          <a:latin typeface="Sarabun Bold"/>
                          <a:ea typeface="Sarabun Bold"/>
                          <a:cs typeface="Sarabun Bold"/>
                          <a:sym typeface="Sarabun Bold"/>
                        </a:rPr>
                        <a:t>Rust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12700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B2E2E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340"/>
                        </a:lnSpc>
                        <a:defRPr/>
                      </a:pPr>
                      <a:r>
                        <a:rPr lang="en-US" sz="1950" b="true">
                          <a:solidFill>
                            <a:srgbClr val="FFFFFF"/>
                          </a:solidFill>
                          <a:latin typeface="Sarabun Bold"/>
                          <a:ea typeface="Sarabun Bold"/>
                          <a:cs typeface="Sarabun Bold"/>
                          <a:sym typeface="Sarabun Bold"/>
                        </a:rPr>
                        <a:t>Java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12700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B2E2E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340"/>
                        </a:lnSpc>
                        <a:defRPr/>
                      </a:pPr>
                      <a:r>
                        <a:rPr lang="en-US" sz="1950" b="true">
                          <a:solidFill>
                            <a:srgbClr val="FFFFFF"/>
                          </a:solidFill>
                          <a:latin typeface="Sarabun Bold"/>
                          <a:ea typeface="Sarabun Bold"/>
                          <a:cs typeface="Sarabun Bold"/>
                          <a:sym typeface="Sarabun Bold"/>
                        </a:rPr>
                        <a:t>Python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12700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B2E2E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340"/>
                        </a:lnSpc>
                        <a:defRPr/>
                      </a:pPr>
                      <a:r>
                        <a:rPr lang="en-US" sz="1950" b="true">
                          <a:solidFill>
                            <a:srgbClr val="FFFFFF"/>
                          </a:solidFill>
                          <a:latin typeface="Sarabun Bold"/>
                          <a:ea typeface="Sarabun Bold"/>
                          <a:cs typeface="Sarabun Bold"/>
                          <a:sym typeface="Sarabun Bold"/>
                        </a:rPr>
                        <a:t>Swift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12700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B2E2E"/>
                    </a:solidFill>
                  </a:tcPr>
                </a:tc>
              </a:tr>
              <a:tr h="4830658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340"/>
                        </a:lnSpc>
                        <a:defRPr/>
                      </a:pPr>
                      <a:r>
                        <a:rPr lang="en-US" sz="1950" b="true">
                          <a:solidFill>
                            <a:srgbClr val="8B2E2E"/>
                          </a:solidFill>
                          <a:latin typeface="Sarabun Bold"/>
                          <a:ea typeface="Sarabun Bold"/>
                          <a:cs typeface="Sarabun Bold"/>
                          <a:sym typeface="Sarabun Bold"/>
                        </a:rPr>
                        <a:t>Semantics / Behavior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12700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 marL="421005" indent="-210502" lvl="1">
                        <a:lnSpc>
                          <a:spcPts val="2729"/>
                        </a:lnSpc>
                        <a:buFont typeface="Arial"/>
                        <a:buChar char="•"/>
                        <a:defRPr/>
                      </a:pPr>
                      <a:r>
                        <a:rPr lang="en-US" b="true" sz="1950">
                          <a:solidFill>
                            <a:srgbClr val="8B2E2E"/>
                          </a:solidFill>
                          <a:latin typeface="Sarabun Bold"/>
                          <a:ea typeface="Sarabun Bold"/>
                          <a:cs typeface="Sarabun Bold"/>
                          <a:sym typeface="Sarabun Bold"/>
                        </a:rPr>
                        <a:t>มอง Error เป็นค่าข้อมูลปกติเหมือนการคืนค่าจากฟังก์ชันทั่วไป</a:t>
                      </a:r>
                      <a:endParaRPr lang="en-US" sz="1100"/>
                    </a:p>
                    <a:p>
                      <a:pPr algn="l">
                        <a:lnSpc>
                          <a:spcPts val="2729"/>
                        </a:lnSpc>
                      </a:pPr>
                    </a:p>
                    <a:p>
                      <a:pPr algn="l" marL="421005" indent="-210502" lvl="1">
                        <a:lnSpc>
                          <a:spcPts val="2729"/>
                        </a:lnSpc>
                        <a:buFont typeface="Arial"/>
                        <a:buChar char="•"/>
                      </a:pPr>
                      <a:r>
                        <a:rPr lang="en-US" b="true" sz="1950">
                          <a:solidFill>
                            <a:srgbClr val="8B2E2E"/>
                          </a:solidFill>
                          <a:latin typeface="Sarabun Semi-Bold"/>
                          <a:ea typeface="Sarabun Semi-Bold"/>
                          <a:cs typeface="Sarabun Semi-Bold"/>
                          <a:sym typeface="Sarabun Semi-Bold"/>
                        </a:rPr>
                        <a:t>? Operator ทำงานแบบ Short-circuiting </a:t>
                      </a:r>
                      <a:r>
                        <a:rPr lang="en-US" sz="1950">
                          <a:solidFill>
                            <a:srgbClr val="1E1E1E"/>
                          </a:solidFill>
                          <a:latin typeface="Sarabun"/>
                          <a:ea typeface="Sarabun"/>
                          <a:cs typeface="Sarabun"/>
                          <a:sym typeface="Sarabun"/>
                        </a:rPr>
                        <a:t>จะคืนค่า Err กลับไปยังฟังก์ชันผู้เรียกทันทีอัตโนมัติ</a:t>
                      </a:r>
                    </a:p>
                    <a:p>
                      <a:pPr algn="l">
                        <a:lnSpc>
                          <a:spcPts val="2729"/>
                        </a:lnSpc>
                      </a:pPr>
                    </a:p>
                    <a:p>
                      <a:pPr algn="l" marL="421005" indent="-210502" lvl="1">
                        <a:lnSpc>
                          <a:spcPts val="2729"/>
                        </a:lnSpc>
                        <a:buFont typeface="Arial"/>
                        <a:buChar char="•"/>
                      </a:pPr>
                      <a:r>
                        <a:rPr lang="en-US" b="true" sz="1950">
                          <a:solidFill>
                            <a:srgbClr val="8B2E2E"/>
                          </a:solidFill>
                          <a:latin typeface="Sarabun Bold"/>
                          <a:ea typeface="Sarabun Bold"/>
                          <a:cs typeface="Sarabun Bold"/>
                          <a:sym typeface="Sarabun Bold"/>
                        </a:rPr>
                        <a:t>ค</a:t>
                      </a:r>
                      <a:r>
                        <a:rPr lang="en-US" b="true" sz="1950">
                          <a:solidFill>
                            <a:srgbClr val="8B2E2E"/>
                          </a:solidFill>
                          <a:latin typeface="Sarabun Bold"/>
                          <a:ea typeface="Sarabun Bold"/>
                          <a:cs typeface="Sarabun Bold"/>
                          <a:sym typeface="Sarabun Bold"/>
                        </a:rPr>
                        <a:t>ำสั่ง panic! </a:t>
                      </a:r>
                      <a:r>
                        <a:rPr lang="en-US" sz="1950">
                          <a:solidFill>
                            <a:srgbClr val="1E1E1E"/>
                          </a:solidFill>
                          <a:latin typeface="Sarabun"/>
                          <a:ea typeface="Sarabun"/>
                          <a:cs typeface="Sarabun"/>
                          <a:sym typeface="Sarabun"/>
                        </a:rPr>
                        <a:t>จะสั่งหยุดหน่วยการทำงานปัจจุบันทันทีเมื่อเกิดข้อผิดพลาดที่จัดการต่อไม่ได้</a:t>
                      </a:r>
                    </a:p>
                    <a:p>
                      <a:pPr algn="l">
                        <a:lnSpc>
                          <a:spcPts val="2729"/>
                        </a:lnSpc>
                      </a:pPr>
                    </a:p>
                  </a:txBody>
                  <a:tcPr marL="91440" marR="91440" marT="91440" marB="91440" anchor="t">
                    <a:lnL cmpd="sng" algn="ctr" cap="flat" w="12700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 marL="421005" indent="-210502" lvl="1">
                        <a:lnSpc>
                          <a:spcPts val="2729"/>
                        </a:lnSpc>
                        <a:buFont typeface="Arial"/>
                        <a:buChar char="•"/>
                        <a:defRPr/>
                      </a:pPr>
                      <a:r>
                        <a:rPr lang="en-US" b="true" sz="1950">
                          <a:solidFill>
                            <a:srgbClr val="8B2E2E"/>
                          </a:solidFill>
                          <a:latin typeface="Sarabun Bold"/>
                          <a:ea typeface="Sarabun Bold"/>
                          <a:cs typeface="Sarabun Bold"/>
                          <a:sym typeface="Sarabun Bold"/>
                        </a:rPr>
                        <a:t>เมื่อคำสั่ง throw ทำงาน</a:t>
                      </a:r>
                      <a:r>
                        <a:rPr lang="en-US" sz="1950">
                          <a:solidFill>
                            <a:srgbClr val="222222"/>
                          </a:solidFill>
                          <a:latin typeface="Sarabun"/>
                          <a:ea typeface="Sarabun"/>
                          <a:cs typeface="Sarabun"/>
                          <a:sym typeface="Sarabun"/>
                        </a:rPr>
                        <a:t> ระบบจะหยุดทำงานในขอบเขตปัจจุบันทันที และถอยย้อนยกเลิก Stack Frame ตามลำดับการเรียก เพื่อค้นหาบล็อก catch ที่มีชนิด Exception ตรงกันมาจัดการ</a:t>
                      </a:r>
                      <a:endParaRPr lang="en-US" sz="1100"/>
                    </a:p>
                    <a:p>
                      <a:pPr algn="l">
                        <a:lnSpc>
                          <a:spcPts val="2729"/>
                        </a:lnSpc>
                      </a:pPr>
                    </a:p>
                  </a:txBody>
                  <a:tcPr marL="91440" marR="91440" marT="91440" marB="91440" anchor="t">
                    <a:lnL cmpd="sng" algn="ctr" cap="flat" w="12700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 marL="421005" indent="-210502" lvl="1">
                        <a:lnSpc>
                          <a:spcPts val="2729"/>
                        </a:lnSpc>
                        <a:buFont typeface="Arial"/>
                        <a:buChar char="•"/>
                        <a:defRPr/>
                      </a:pPr>
                      <a:r>
                        <a:rPr lang="en-US" b="true" sz="1950">
                          <a:solidFill>
                            <a:srgbClr val="8B2E2E"/>
                          </a:solidFill>
                          <a:latin typeface="Sarabun Bold"/>
                          <a:ea typeface="Sarabun Bold"/>
                          <a:cs typeface="Sarabun Bold"/>
                          <a:sym typeface="Sarabun Bold"/>
                        </a:rPr>
                        <a:t>เมื่อคำสั่ง raise ทำงาน </a:t>
                      </a:r>
                      <a:r>
                        <a:rPr lang="en-US" sz="1950">
                          <a:solidFill>
                            <a:srgbClr val="1E1E1E"/>
                          </a:solidFill>
                          <a:latin typeface="Sarabun"/>
                          <a:ea typeface="Sarabun"/>
                          <a:cs typeface="Sarabun"/>
                          <a:sym typeface="Sarabun"/>
                        </a:rPr>
                        <a:t>จะ</a:t>
                      </a:r>
                      <a:r>
                        <a:rPr lang="en-US" sz="1950">
                          <a:solidFill>
                            <a:srgbClr val="222222"/>
                          </a:solidFill>
                          <a:latin typeface="Sarabun"/>
                          <a:ea typeface="Sarabun"/>
                          <a:cs typeface="Sarabun"/>
                          <a:sym typeface="Sarabun"/>
                        </a:rPr>
                        <a:t>หยุดประมวลผลทันทีแล้วถอยย้อน Stack เพื่อหาบล็อก except ที่ตรงกัน ส่งผลให้ Control Flow กระโดดข้ามไปมา</a:t>
                      </a:r>
                      <a:endParaRPr lang="en-US" sz="1100"/>
                    </a:p>
                    <a:p>
                      <a:pPr algn="l">
                        <a:lnSpc>
                          <a:spcPts val="2729"/>
                        </a:lnSpc>
                      </a:pPr>
                    </a:p>
                    <a:p>
                      <a:pPr algn="l" marL="421005" indent="-210502" lvl="1">
                        <a:lnSpc>
                          <a:spcPts val="2729"/>
                        </a:lnSpc>
                        <a:buFont typeface="Arial"/>
                        <a:buChar char="•"/>
                      </a:pPr>
                      <a:r>
                        <a:rPr lang="en-US" b="true" sz="1950">
                          <a:solidFill>
                            <a:srgbClr val="8B2E2E"/>
                          </a:solidFill>
                          <a:latin typeface="Sarabun Bold"/>
                          <a:ea typeface="Sarabun Bold"/>
                          <a:cs typeface="Sarabun Bold"/>
                          <a:sym typeface="Sarabun Bold"/>
                        </a:rPr>
                        <a:t>สนับสนุนการเขียนโปรแกรมตามลำดับลอจิกปกติไปก่อน</a:t>
                      </a:r>
                      <a:r>
                        <a:rPr lang="en-US" sz="1950">
                          <a:solidFill>
                            <a:srgbClr val="222222"/>
                          </a:solidFill>
                          <a:latin typeface="Sarabun"/>
                          <a:ea typeface="Sarabun"/>
                          <a:cs typeface="Sarabun"/>
                          <a:sym typeface="Sarabun"/>
                        </a:rPr>
                        <a:t> แล้วค่อยใช้ try-except ดักจับ Error ตอน Runtime</a:t>
                      </a:r>
                    </a:p>
                  </a:txBody>
                  <a:tcPr marL="91440" marR="91440" marT="91440" marB="91440" anchor="t">
                    <a:lnL cmpd="sng" algn="ctr" cap="flat" w="12700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 marL="421005" indent="-210502" lvl="1">
                        <a:lnSpc>
                          <a:spcPts val="2729"/>
                        </a:lnSpc>
                        <a:buFont typeface="Arial"/>
                        <a:buChar char="•"/>
                        <a:defRPr/>
                      </a:pPr>
                      <a:r>
                        <a:rPr lang="en-US" b="true" sz="1950">
                          <a:solidFill>
                            <a:srgbClr val="8B2E2E"/>
                          </a:solidFill>
                          <a:latin typeface="Sarabun Bold"/>
                          <a:ea typeface="Sarabun Bold"/>
                          <a:cs typeface="Sarabun Bold"/>
                          <a:sym typeface="Sarabun Bold"/>
                        </a:rPr>
                        <a:t>เป็นการส่งคืนค่าข้อผิดพลาดในรูปแบบ Value Passing </a:t>
                      </a:r>
                      <a:r>
                        <a:rPr lang="en-US" sz="1950">
                          <a:solidFill>
                            <a:srgbClr val="1E1E1E"/>
                          </a:solidFill>
                          <a:latin typeface="Sarabun"/>
                          <a:ea typeface="Sarabun"/>
                          <a:cs typeface="Sarabun"/>
                          <a:sym typeface="Sarabun"/>
                        </a:rPr>
                        <a:t> โดยส่งคืนค่า Error โดยตรงโดยไม่ต้องผ่านกระบวนการถอยย้อน Stack (คล้าย Result ในภาษา Rust)</a:t>
                      </a:r>
                      <a:endParaRPr lang="en-US" sz="1100"/>
                    </a:p>
                    <a:p>
                      <a:pPr algn="l">
                        <a:lnSpc>
                          <a:spcPts val="2729"/>
                        </a:lnSpc>
                      </a:pPr>
                    </a:p>
                    <a:p>
                      <a:pPr algn="l" marL="421005" indent="-210502" lvl="1">
                        <a:lnSpc>
                          <a:spcPts val="2729"/>
                        </a:lnSpc>
                        <a:buFont typeface="Arial"/>
                        <a:buChar char="•"/>
                      </a:pPr>
                      <a:r>
                        <a:rPr lang="en-US" b="true" sz="1950">
                          <a:solidFill>
                            <a:srgbClr val="8B2E2E"/>
                          </a:solidFill>
                          <a:latin typeface="Sarabun Bold"/>
                          <a:ea typeface="Sarabun Bold"/>
                          <a:cs typeface="Sarabun Bold"/>
                          <a:sym typeface="Sarabun Bold"/>
                        </a:rPr>
                        <a:t>เป็นการ</a:t>
                      </a:r>
                      <a:r>
                        <a:rPr lang="en-US" b="true" sz="1950">
                          <a:solidFill>
                            <a:srgbClr val="8B2E2E"/>
                          </a:solidFill>
                          <a:latin typeface="Sarabun Bold"/>
                          <a:ea typeface="Sarabun Bold"/>
                          <a:cs typeface="Sarabun Bold"/>
                          <a:sym typeface="Sarabun Bold"/>
                        </a:rPr>
                        <a:t>ตั</a:t>
                      </a:r>
                      <a:r>
                        <a:rPr lang="en-US" b="true" sz="1950">
                          <a:solidFill>
                            <a:srgbClr val="8B2E2E"/>
                          </a:solidFill>
                          <a:latin typeface="Sarabun Bold"/>
                          <a:ea typeface="Sarabun Bold"/>
                          <a:cs typeface="Sarabun Bold"/>
                          <a:sym typeface="Sarabun Bold"/>
                        </a:rPr>
                        <a:t>ดลำดับการทำงานแบบ Short-circuiting เมื่อเกิดข้อผิดพลาด </a:t>
                      </a:r>
                    </a:p>
                    <a:p>
                      <a:pPr algn="l">
                        <a:lnSpc>
                          <a:spcPts val="2729"/>
                        </a:lnSpc>
                      </a:pPr>
                    </a:p>
                    <a:p>
                      <a:pPr algn="l" marL="421005" indent="-210502" lvl="1">
                        <a:lnSpc>
                          <a:spcPts val="2729"/>
                        </a:lnSpc>
                        <a:buFont typeface="Arial"/>
                        <a:buChar char="•"/>
                      </a:pPr>
                      <a:r>
                        <a:rPr lang="en-US" b="true" sz="1950">
                          <a:solidFill>
                            <a:srgbClr val="8B2E2E"/>
                          </a:solidFill>
                          <a:latin typeface="Sarabun Bold"/>
                          <a:ea typeface="Sarabun Bold"/>
                          <a:cs typeface="Sarabun Bold"/>
                          <a:sym typeface="Sarabun Bold"/>
                        </a:rPr>
                        <a:t>มีการ</a:t>
                      </a:r>
                      <a:r>
                        <a:rPr lang="en-US" b="true" sz="1950">
                          <a:solidFill>
                            <a:srgbClr val="8B2E2E"/>
                          </a:solidFill>
                          <a:latin typeface="Sarabun Bold"/>
                          <a:ea typeface="Sarabun Bold"/>
                          <a:cs typeface="Sarabun Bold"/>
                          <a:sym typeface="Sarabun Bold"/>
                        </a:rPr>
                        <a:t>แกะค่า Error ด้วย Pattern Matching ในบล็อก catch</a:t>
                      </a:r>
                    </a:p>
                    <a:p>
                      <a:pPr algn="l">
                        <a:lnSpc>
                          <a:spcPts val="2729"/>
                        </a:lnSpc>
                      </a:pPr>
                    </a:p>
                  </a:txBody>
                  <a:tcPr marL="91440" marR="91440" marT="91440" marB="91440" anchor="t">
                    <a:lnL cmpd="sng" algn="ctr" cap="flat" w="12700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pSp>
        <p:nvGrpSpPr>
          <p:cNvPr name="Group 11" id="11"/>
          <p:cNvGrpSpPr/>
          <p:nvPr/>
        </p:nvGrpSpPr>
        <p:grpSpPr>
          <a:xfrm rot="0">
            <a:off x="685800" y="9710928"/>
            <a:ext cx="10972800" cy="411480"/>
            <a:chOff x="0" y="0"/>
            <a:chExt cx="14630400" cy="54864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4630400" cy="548640"/>
            </a:xfrm>
            <a:custGeom>
              <a:avLst/>
              <a:gdLst/>
              <a:ahLst/>
              <a:cxnLst/>
              <a:rect r="r" b="b" t="t" l="l"/>
              <a:pathLst>
                <a:path h="548640" w="14630400">
                  <a:moveTo>
                    <a:pt x="0" y="0"/>
                  </a:moveTo>
                  <a:lnTo>
                    <a:pt x="14630400" y="0"/>
                  </a:lnTo>
                  <a:lnTo>
                    <a:pt x="146304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69601" r="0" b="-469601"/>
              </a:stretch>
            </a:blip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38100"/>
              <a:ext cx="14630400" cy="5867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00"/>
                </a:lnSpc>
              </a:pPr>
              <a:r>
                <a:rPr lang="en-US" sz="1500">
                  <a:solidFill>
                    <a:srgbClr val="6B6B6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517321 Principles of Programming Languages — Rust Tutorial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16911828" y="9710928"/>
            <a:ext cx="685800" cy="411480"/>
            <a:chOff x="0" y="0"/>
            <a:chExt cx="914400" cy="54864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914400" cy="548640"/>
            </a:xfrm>
            <a:custGeom>
              <a:avLst/>
              <a:gdLst/>
              <a:ahLst/>
              <a:cxnLst/>
              <a:rect r="r" b="b" t="t" l="l"/>
              <a:pathLst>
                <a:path h="548640" w="914400">
                  <a:moveTo>
                    <a:pt x="0" y="0"/>
                  </a:moveTo>
                  <a:lnTo>
                    <a:pt x="914400" y="0"/>
                  </a:lnTo>
                  <a:lnTo>
                    <a:pt x="9144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26982" t="0" r="-26982" b="0"/>
              </a:stretch>
            </a:blip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38100"/>
              <a:ext cx="914400" cy="5867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800"/>
                </a:lnSpc>
              </a:pPr>
              <a:r>
                <a:rPr lang="en-US" sz="1500">
                  <a:solidFill>
                    <a:srgbClr val="6B6B6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5</a:t>
              </a:r>
            </a:p>
          </p:txBody>
        </p:sp>
      </p:grpSp>
    </p:spTree>
  </p:cSld>
  <p:clrMapOvr>
    <a:masterClrMapping/>
  </p:clrMapOvr>
  <p:transition spd="fast">
    <p:wipe dir="l"/>
  </p:transition>
</p:sld>
</file>

<file path=ppt/slides/slide1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685800" y="617220"/>
            <a:ext cx="4114800" cy="576072"/>
            <a:chOff x="0" y="0"/>
            <a:chExt cx="5486400" cy="76809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5486400" cy="768096"/>
            </a:xfrm>
            <a:custGeom>
              <a:avLst/>
              <a:gdLst/>
              <a:ahLst/>
              <a:cxnLst/>
              <a:rect r="r" b="b" t="t" l="l"/>
              <a:pathLst>
                <a:path h="768096" w="5486400">
                  <a:moveTo>
                    <a:pt x="0" y="146304"/>
                  </a:moveTo>
                  <a:cubicBezTo>
                    <a:pt x="0" y="65532"/>
                    <a:pt x="65532" y="0"/>
                    <a:pt x="146304" y="0"/>
                  </a:cubicBezTo>
                  <a:lnTo>
                    <a:pt x="5340096" y="0"/>
                  </a:lnTo>
                  <a:cubicBezTo>
                    <a:pt x="5420868" y="0"/>
                    <a:pt x="5486400" y="65532"/>
                    <a:pt x="5486400" y="146304"/>
                  </a:cubicBezTo>
                  <a:lnTo>
                    <a:pt x="5486400" y="621792"/>
                  </a:lnTo>
                  <a:cubicBezTo>
                    <a:pt x="5486400" y="702564"/>
                    <a:pt x="5420868" y="768096"/>
                    <a:pt x="5340096" y="768096"/>
                  </a:cubicBezTo>
                  <a:lnTo>
                    <a:pt x="146304" y="768096"/>
                  </a:lnTo>
                  <a:cubicBezTo>
                    <a:pt x="65532" y="768096"/>
                    <a:pt x="0" y="702564"/>
                    <a:pt x="0" y="621792"/>
                  </a:cubicBezTo>
                  <a:close/>
                </a:path>
              </a:pathLst>
            </a:custGeom>
            <a:solidFill>
              <a:srgbClr val="8B2E2E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685800" y="617220"/>
            <a:ext cx="4114800" cy="576072"/>
            <a:chOff x="0" y="0"/>
            <a:chExt cx="5486400" cy="768096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5486400" cy="768096"/>
            </a:xfrm>
            <a:custGeom>
              <a:avLst/>
              <a:gdLst/>
              <a:ahLst/>
              <a:cxnLst/>
              <a:rect r="r" b="b" t="t" l="l"/>
              <a:pathLst>
                <a:path h="768096" w="5486400">
                  <a:moveTo>
                    <a:pt x="0" y="0"/>
                  </a:moveTo>
                  <a:lnTo>
                    <a:pt x="5486400" y="0"/>
                  </a:lnTo>
                  <a:lnTo>
                    <a:pt x="5486400" y="768096"/>
                  </a:lnTo>
                  <a:lnTo>
                    <a:pt x="0" y="76809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9178" r="0" b="-89178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-47625"/>
              <a:ext cx="5486400" cy="81572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340"/>
                </a:lnSpc>
              </a:pPr>
              <a:r>
                <a:rPr lang="en-US" sz="195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PART 3 · MEMBER 3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685800" y="227387"/>
            <a:ext cx="16911828" cy="3303594"/>
            <a:chOff x="0" y="0"/>
            <a:chExt cx="22549104" cy="4404792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2549104" cy="4404792"/>
            </a:xfrm>
            <a:custGeom>
              <a:avLst/>
              <a:gdLst/>
              <a:ahLst/>
              <a:cxnLst/>
              <a:rect r="r" b="b" t="t" l="l"/>
              <a:pathLst>
                <a:path h="4404792" w="22549104">
                  <a:moveTo>
                    <a:pt x="0" y="0"/>
                  </a:moveTo>
                  <a:lnTo>
                    <a:pt x="22549104" y="0"/>
                  </a:lnTo>
                  <a:lnTo>
                    <a:pt x="22549104" y="4404792"/>
                  </a:lnTo>
                  <a:lnTo>
                    <a:pt x="0" y="44047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5216" r="0" b="-14279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>
              <a:off x="0" y="-19050"/>
              <a:ext cx="22549104" cy="442384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400"/>
                </a:lnSpc>
              </a:pPr>
              <a:r>
                <a:rPr lang="en-US" sz="4500" b="true">
                  <a:solidFill>
                    <a:srgbClr val="222222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Rust vs Java, Python and Swift</a:t>
              </a:r>
            </a:p>
          </p:txBody>
        </p:sp>
      </p:grpSp>
      <p:graphicFrame>
        <p:nvGraphicFramePr>
          <p:cNvPr name="Table 10" id="10"/>
          <p:cNvGraphicFramePr>
            <a:graphicFrameLocks noGrp="true"/>
          </p:cNvGraphicFramePr>
          <p:nvPr/>
        </p:nvGraphicFramePr>
        <p:xfrm>
          <a:off x="685800" y="2537460"/>
          <a:ext cx="16911828" cy="6258983"/>
        </p:xfrm>
        <a:graphic>
          <a:graphicData uri="http://schemas.openxmlformats.org/drawingml/2006/table">
            <a:tbl>
              <a:tblPr/>
              <a:tblGrid>
                <a:gridCol w="1385231"/>
                <a:gridCol w="3297039"/>
                <a:gridCol w="3901219"/>
                <a:gridCol w="4337736"/>
                <a:gridCol w="3990603"/>
              </a:tblGrid>
              <a:tr h="74234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340"/>
                        </a:lnSpc>
                        <a:defRPr/>
                      </a:pPr>
                      <a:r>
                        <a:rPr lang="en-US" sz="1950" b="true">
                          <a:solidFill>
                            <a:srgbClr val="FFFFFF"/>
                          </a:solidFill>
                          <a:latin typeface="Sarabun Bold"/>
                          <a:ea typeface="Sarabun Bold"/>
                          <a:cs typeface="Sarabun Bold"/>
                          <a:sym typeface="Sarabun Bold"/>
                        </a:rPr>
                        <a:t>Aspect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12700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B2E2E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340"/>
                        </a:lnSpc>
                        <a:defRPr/>
                      </a:pPr>
                      <a:r>
                        <a:rPr lang="en-US" sz="1950" b="true">
                          <a:solidFill>
                            <a:srgbClr val="FFFFFF"/>
                          </a:solidFill>
                          <a:latin typeface="Sarabun Bold"/>
                          <a:ea typeface="Sarabun Bold"/>
                          <a:cs typeface="Sarabun Bold"/>
                          <a:sym typeface="Sarabun Bold"/>
                        </a:rPr>
                        <a:t>Rust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12700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B2E2E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340"/>
                        </a:lnSpc>
                        <a:defRPr/>
                      </a:pPr>
                      <a:r>
                        <a:rPr lang="en-US" sz="1950" b="true">
                          <a:solidFill>
                            <a:srgbClr val="FFFFFF"/>
                          </a:solidFill>
                          <a:latin typeface="Sarabun Bold"/>
                          <a:ea typeface="Sarabun Bold"/>
                          <a:cs typeface="Sarabun Bold"/>
                          <a:sym typeface="Sarabun Bold"/>
                        </a:rPr>
                        <a:t>Java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12700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B2E2E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340"/>
                        </a:lnSpc>
                        <a:defRPr/>
                      </a:pPr>
                      <a:r>
                        <a:rPr lang="en-US" sz="1950" b="true">
                          <a:solidFill>
                            <a:srgbClr val="FFFFFF"/>
                          </a:solidFill>
                          <a:latin typeface="Sarabun Bold"/>
                          <a:ea typeface="Sarabun Bold"/>
                          <a:cs typeface="Sarabun Bold"/>
                          <a:sym typeface="Sarabun Bold"/>
                        </a:rPr>
                        <a:t>Python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12700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B2E2E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340"/>
                        </a:lnSpc>
                        <a:defRPr/>
                      </a:pPr>
                      <a:r>
                        <a:rPr lang="en-US" sz="1950" b="true">
                          <a:solidFill>
                            <a:srgbClr val="FFFFFF"/>
                          </a:solidFill>
                          <a:latin typeface="Sarabun Bold"/>
                          <a:ea typeface="Sarabun Bold"/>
                          <a:cs typeface="Sarabun Bold"/>
                          <a:sym typeface="Sarabun Bold"/>
                        </a:rPr>
                        <a:t>Swift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12700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B2E2E"/>
                    </a:solidFill>
                  </a:tcPr>
                </a:tc>
              </a:tr>
              <a:tr h="5516644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340"/>
                        </a:lnSpc>
                        <a:defRPr/>
                      </a:pPr>
                      <a:r>
                        <a:rPr lang="en-US" sz="1950" b="true">
                          <a:solidFill>
                            <a:srgbClr val="8B2E2E"/>
                          </a:solidFill>
                          <a:latin typeface="Sarabun Bold"/>
                          <a:ea typeface="Sarabun Bold"/>
                          <a:cs typeface="Sarabun Bold"/>
                          <a:sym typeface="Sarabun Bold"/>
                        </a:rPr>
                        <a:t>Type </a:t>
                      </a:r>
                      <a:r>
                        <a:rPr lang="en-US" sz="1950" b="true">
                          <a:solidFill>
                            <a:srgbClr val="8B2E2E"/>
                          </a:solidFill>
                          <a:latin typeface="Sarabun Bold"/>
                          <a:ea typeface="Sarabun Bold"/>
                          <a:cs typeface="Sarabun Bold"/>
                          <a:sym typeface="Sarabun Bold"/>
                        </a:rPr>
                        <a:t>System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12700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 marL="421005" indent="-210502" lvl="1">
                        <a:lnSpc>
                          <a:spcPts val="2729"/>
                        </a:lnSpc>
                        <a:buFont typeface="Arial"/>
                        <a:buChar char="•"/>
                        <a:defRPr/>
                      </a:pPr>
                      <a:r>
                        <a:rPr lang="en-US" b="true" sz="1950">
                          <a:solidFill>
                            <a:srgbClr val="8B2E2E"/>
                          </a:solidFill>
                          <a:latin typeface="Sarabun Bold"/>
                          <a:ea typeface="Sarabun Bold"/>
                          <a:cs typeface="Sarabun Bold"/>
                          <a:sym typeface="Sarabun Bold"/>
                        </a:rPr>
                        <a:t>แยกข้อมูลที่มีค่ากับค่าว่างออกจากกันชัดเจน </a:t>
                      </a:r>
                      <a:r>
                        <a:rPr lang="en-US" sz="1950">
                          <a:solidFill>
                            <a:srgbClr val="1E1E1E"/>
                          </a:solidFill>
                          <a:latin typeface="Sarabun"/>
                          <a:ea typeface="Sarabun"/>
                          <a:cs typeface="Sarabun"/>
                          <a:sym typeface="Sarabun"/>
                        </a:rPr>
                        <a:t>โดยจัดการค่าว่างด้วย Option&lt;T&gt; </a:t>
                      </a:r>
                      <a:endParaRPr lang="en-US" sz="1100"/>
                    </a:p>
                    <a:p>
                      <a:pPr algn="l" marL="421005" indent="-210502" lvl="1">
                        <a:lnSpc>
                          <a:spcPts val="2729"/>
                        </a:lnSpc>
                        <a:buFont typeface="Arial"/>
                        <a:buChar char="•"/>
                      </a:pPr>
                      <a:r>
                        <a:rPr lang="en-US" b="true" sz="1950">
                          <a:solidFill>
                            <a:srgbClr val="8B2E2E"/>
                          </a:solidFill>
                          <a:latin typeface="Sarabun Bold"/>
                          <a:ea typeface="Sarabun Bold"/>
                          <a:cs typeface="Sarabun Bold"/>
                          <a:sym typeface="Sarabun Bold"/>
                        </a:rPr>
                        <a:t>ตัวแปรจะอยู่ในสถานะใดสถานะหนึ่งได้เพียงอย่างเดียวในขณะนั้น</a:t>
                      </a:r>
                      <a:r>
                        <a:rPr lang="en-US" sz="1950">
                          <a:solidFill>
                            <a:srgbClr val="222222"/>
                          </a:solidFill>
                          <a:latin typeface="Sarabun"/>
                          <a:ea typeface="Sarabun"/>
                          <a:cs typeface="Sarabun"/>
                          <a:sym typeface="Sarabun"/>
                        </a:rPr>
                        <a:t> เช่น Option (Some หรือ None) และ Result (Ok หรือ Err)</a:t>
                      </a:r>
                    </a:p>
                    <a:p>
                      <a:pPr algn="l" marL="421005" indent="-210502" lvl="1">
                        <a:lnSpc>
                          <a:spcPts val="2729"/>
                        </a:lnSpc>
                        <a:buFont typeface="Arial"/>
                        <a:buChar char="•"/>
                      </a:pPr>
                      <a:r>
                        <a:rPr lang="en-US" b="true" sz="1950">
                          <a:solidFill>
                            <a:srgbClr val="8B2E2E"/>
                          </a:solidFill>
                          <a:latin typeface="Sarabun Bold"/>
                          <a:ea typeface="Sarabun Bold"/>
                          <a:cs typeface="Sarabun Bold"/>
                          <a:sym typeface="Sarabun Bold"/>
                        </a:rPr>
                        <a:t>บังคับให้จัดการผลลัพธ์ด้วย #[must_use]</a:t>
                      </a:r>
                      <a:r>
                        <a:rPr lang="en-US" sz="1950">
                          <a:solidFill>
                            <a:srgbClr val="222222"/>
                          </a:solidFill>
                          <a:latin typeface="Sarabun"/>
                          <a:ea typeface="Sarabun"/>
                          <a:cs typeface="Sarabun"/>
                          <a:sym typeface="Sarabun"/>
                        </a:rPr>
                        <a:t> ถ้าละเลยคอมไพเลอร์จะแจ้งเตือนทันที</a:t>
                      </a:r>
                    </a:p>
                  </a:txBody>
                  <a:tcPr marL="91440" marR="91440" marT="91440" marB="91440" anchor="t">
                    <a:lnL cmpd="sng" algn="ctr" cap="flat" w="12700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 marL="421005" indent="-210502" lvl="1">
                        <a:lnSpc>
                          <a:spcPts val="2729"/>
                        </a:lnSpc>
                        <a:buFont typeface="Arial"/>
                        <a:buChar char="•"/>
                        <a:defRPr/>
                      </a:pPr>
                      <a:r>
                        <a:rPr lang="en-US" b="true" sz="1950">
                          <a:solidFill>
                            <a:srgbClr val="8B2E2E"/>
                          </a:solidFill>
                          <a:latin typeface="Sarabun Bold"/>
                          <a:ea typeface="Sarabun Bold"/>
                          <a:cs typeface="Sarabun Bold"/>
                          <a:sym typeface="Sarabun Bold"/>
                        </a:rPr>
                        <a:t>เป็นลำดับชั้นชนิดข้อมู</a:t>
                      </a:r>
                      <a:r>
                        <a:rPr lang="en-US" sz="1950">
                          <a:solidFill>
                            <a:srgbClr val="222222"/>
                          </a:solidFill>
                          <a:latin typeface="Sarabun"/>
                          <a:ea typeface="Sarabun"/>
                          <a:cs typeface="Sarabun"/>
                          <a:sym typeface="Sarabun"/>
                        </a:rPr>
                        <a:t>ล มีคลาสสูงสุดคือ </a:t>
                      </a:r>
                      <a:r>
                        <a:rPr lang="en-US" b="true" sz="1950">
                          <a:solidFill>
                            <a:srgbClr val="222222"/>
                          </a:solidFill>
                          <a:latin typeface="Sarabun Bold"/>
                          <a:ea typeface="Sarabun Bold"/>
                          <a:cs typeface="Sarabun Bold"/>
                          <a:sym typeface="Sarabun Bold"/>
                        </a:rPr>
                        <a:t>java.lang.Throwable</a:t>
                      </a:r>
                      <a:r>
                        <a:rPr lang="en-US" sz="1950">
                          <a:solidFill>
                            <a:srgbClr val="222222"/>
                          </a:solidFill>
                          <a:latin typeface="Sarabun"/>
                          <a:ea typeface="Sarabun"/>
                          <a:cs typeface="Sarabun"/>
                          <a:sym typeface="Sarabun"/>
                        </a:rPr>
                        <a:t> แบ่งเป็น 2 ประเภทหลัก java.lang.Error java.lang.Exception</a:t>
                      </a:r>
                      <a:endParaRPr lang="en-US" sz="1100"/>
                    </a:p>
                    <a:p>
                      <a:pPr algn="l" marL="421005" indent="-210502" lvl="1">
                        <a:lnSpc>
                          <a:spcPts val="2729"/>
                        </a:lnSpc>
                        <a:buFont typeface="Arial"/>
                        <a:buChar char="•"/>
                      </a:pPr>
                      <a:r>
                        <a:rPr lang="en-US" b="true" sz="1950">
                          <a:solidFill>
                            <a:srgbClr val="8B2E2E"/>
                          </a:solidFill>
                          <a:latin typeface="Sarabun Bold"/>
                          <a:ea typeface="Sarabun Bold"/>
                          <a:cs typeface="Sarabun Bold"/>
                          <a:sym typeface="Sarabun Bold"/>
                        </a:rPr>
                        <a:t>มี Checked Exceptions</a:t>
                      </a:r>
                      <a:r>
                        <a:rPr lang="en-US" sz="1950">
                          <a:solidFill>
                            <a:srgbClr val="222222"/>
                          </a:solidFill>
                          <a:latin typeface="Sarabun"/>
                          <a:ea typeface="Sarabun"/>
                          <a:cs typeface="Sarabun"/>
                          <a:sym typeface="Sarabun"/>
                        </a:rPr>
                        <a:t> ที่บังคับให้ตรวจสอบหรือจัดการตั้งแต่ขั้นตอนคอมไพล์</a:t>
                      </a:r>
                    </a:p>
                    <a:p>
                      <a:pPr algn="l" marL="421005" indent="-210502" lvl="1">
                        <a:lnSpc>
                          <a:spcPts val="2729"/>
                        </a:lnSpc>
                        <a:buFont typeface="Arial"/>
                        <a:buChar char="•"/>
                      </a:pPr>
                      <a:r>
                        <a:rPr lang="en-US" b="true" sz="1950">
                          <a:solidFill>
                            <a:srgbClr val="8B2E2E"/>
                          </a:solidFill>
                          <a:latin typeface="Sarabun Bold"/>
                          <a:ea typeface="Sarabun Bold"/>
                          <a:cs typeface="Sarabun Bold"/>
                          <a:sym typeface="Sarabun Bold"/>
                        </a:rPr>
                        <a:t>เป็นการดักจับข้อผิดพลาดด้วย Polymorphism</a:t>
                      </a:r>
                      <a:r>
                        <a:rPr lang="en-US" sz="1950">
                          <a:solidFill>
                            <a:srgbClr val="222222"/>
                          </a:solidFill>
                          <a:latin typeface="Sarabun"/>
                          <a:ea typeface="Sarabun"/>
                          <a:cs typeface="Sarabun"/>
                          <a:sym typeface="Sarabun"/>
                        </a:rPr>
                        <a:t> โดยบล็อก catch (Exception e) สามารถดักจับ Exception ย่อยทุกตัวที่สืบทอดมาจากคลาส Exception ได้ทันที</a:t>
                      </a:r>
                    </a:p>
                    <a:p>
                      <a:pPr algn="l">
                        <a:lnSpc>
                          <a:spcPts val="2729"/>
                        </a:lnSpc>
                      </a:pPr>
                    </a:p>
                  </a:txBody>
                  <a:tcPr marL="91440" marR="91440" marT="91440" marB="91440" anchor="t">
                    <a:lnL cmpd="sng" algn="ctr" cap="flat" w="12700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 marL="421005" indent="-210502" lvl="1">
                        <a:lnSpc>
                          <a:spcPts val="2729"/>
                        </a:lnSpc>
                        <a:buFont typeface="Arial"/>
                        <a:buChar char="•"/>
                        <a:defRPr/>
                      </a:pPr>
                      <a:r>
                        <a:rPr lang="en-US" b="true" sz="1950">
                          <a:solidFill>
                            <a:srgbClr val="8B2E2E"/>
                          </a:solidFill>
                          <a:latin typeface="Sarabun Bold"/>
                          <a:ea typeface="Sarabun Bold"/>
                          <a:cs typeface="Sarabun Bold"/>
                          <a:sym typeface="Sarabun Bold"/>
                        </a:rPr>
                        <a:t>เป็นการตรวจสอบชนิดข้อผิดพลาดแบบไดนามิก</a:t>
                      </a:r>
                      <a:r>
                        <a:rPr lang="en-US" sz="1950">
                          <a:solidFill>
                            <a:srgbClr val="222222"/>
                          </a:solidFill>
                          <a:latin typeface="Sarabun"/>
                          <a:ea typeface="Sarabun"/>
                          <a:cs typeface="Sarabun"/>
                          <a:sym typeface="Sarabun"/>
                        </a:rPr>
                        <a:t> โดยจะจับคู่ประเภทข้อผิดพลาดขณะรันไทม์เท่านั้น ไม่มีการบังคับตรวจสอบในขั้นตอนคอมไพล์</a:t>
                      </a:r>
                      <a:endParaRPr lang="en-US" sz="1100"/>
                    </a:p>
                    <a:p>
                      <a:pPr algn="l" marL="421005" indent="-210502" lvl="1">
                        <a:lnSpc>
                          <a:spcPts val="2729"/>
                        </a:lnSpc>
                        <a:buFont typeface="Arial"/>
                        <a:buChar char="•"/>
                      </a:pPr>
                      <a:r>
                        <a:rPr lang="en-US" b="true" sz="1950">
                          <a:solidFill>
                            <a:srgbClr val="8B2E2E"/>
                          </a:solidFill>
                          <a:latin typeface="Sarabun Bold"/>
                          <a:ea typeface="Sarabun Bold"/>
                          <a:cs typeface="Sarabun Bold"/>
                          <a:sym typeface="Sarabun Bold"/>
                        </a:rPr>
                        <a:t>เป็นลำดับชั้นคลาสสืบทอด</a:t>
                      </a:r>
                      <a:r>
                        <a:rPr lang="en-US" sz="1950">
                          <a:solidFill>
                            <a:srgbClr val="222222"/>
                          </a:solidFill>
                          <a:latin typeface="Sarabun"/>
                          <a:ea typeface="Sarabun"/>
                          <a:cs typeface="Sarabun"/>
                          <a:sym typeface="Sarabun"/>
                        </a:rPr>
                        <a:t> โดยข้อผิดพลาดทั้งหมดสืบทอดมาจากคลาสสูงสุดคือ </a:t>
                      </a:r>
                      <a:r>
                        <a:rPr lang="en-US" b="true" sz="1950">
                          <a:solidFill>
                            <a:srgbClr val="222222"/>
                          </a:solidFill>
                          <a:latin typeface="Sarabun Bold"/>
                          <a:ea typeface="Sarabun Bold"/>
                          <a:cs typeface="Sarabun Bold"/>
                          <a:sym typeface="Sarabun Bold"/>
                        </a:rPr>
                        <a:t>BaseException </a:t>
                      </a:r>
                      <a:r>
                        <a:rPr lang="en-US" sz="1950">
                          <a:solidFill>
                            <a:srgbClr val="222222"/>
                          </a:solidFill>
                          <a:latin typeface="Sarabun"/>
                          <a:ea typeface="Sarabun"/>
                          <a:cs typeface="Sarabun"/>
                          <a:sym typeface="Sarabun"/>
                        </a:rPr>
                        <a:t>โดยมีคลาสย่อยหลักคือ Exception สำหรับจัดการข้อผิดพลาดทั่วไป</a:t>
                      </a:r>
                    </a:p>
                    <a:p>
                      <a:pPr algn="l" marL="421005" indent="-210502" lvl="1">
                        <a:lnSpc>
                          <a:spcPts val="2729"/>
                        </a:lnSpc>
                        <a:buFont typeface="Arial"/>
                        <a:buChar char="•"/>
                      </a:pPr>
                      <a:r>
                        <a:rPr lang="en-US" b="true" sz="1950">
                          <a:solidFill>
                            <a:srgbClr val="8B2E2E"/>
                          </a:solidFill>
                          <a:latin typeface="Sarabun Bold"/>
                          <a:ea typeface="Sarabun Bold"/>
                          <a:cs typeface="Sarabun Bold"/>
                          <a:sym typeface="Sarabun Bold"/>
                        </a:rPr>
                        <a:t>มีการประยุกต์ใช้ Subtype Polymorphism</a:t>
                      </a:r>
                      <a:r>
                        <a:rPr lang="en-US" sz="1950">
                          <a:solidFill>
                            <a:srgbClr val="222222"/>
                          </a:solidFill>
                          <a:latin typeface="Sarabun"/>
                          <a:ea typeface="Sarabun"/>
                          <a:cs typeface="Sarabun"/>
                          <a:sym typeface="Sarabun"/>
                        </a:rPr>
                        <a:t> โดยบล็อกดักจับคลาสแม่ (Exception) สามารถรับและจัดการ Exception คลาสลูกทุกประเภทได้โดยอัตโนมัติ</a:t>
                      </a:r>
                    </a:p>
                  </a:txBody>
                  <a:tcPr marL="91440" marR="91440" marT="91440" marB="91440" anchor="t">
                    <a:lnL cmpd="sng" algn="ctr" cap="flat" w="12700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 marL="421005" indent="-210502" lvl="1">
                        <a:lnSpc>
                          <a:spcPts val="2729"/>
                        </a:lnSpc>
                        <a:buFont typeface="Arial"/>
                        <a:buChar char="•"/>
                        <a:defRPr/>
                      </a:pPr>
                      <a:r>
                        <a:rPr lang="en-US" b="true" sz="1950">
                          <a:solidFill>
                            <a:srgbClr val="8B2E2E"/>
                          </a:solidFill>
                          <a:latin typeface="Sarabun Bold"/>
                          <a:ea typeface="Sarabun Bold"/>
                          <a:cs typeface="Sarabun Bold"/>
                          <a:sym typeface="Sarabun Bold"/>
                        </a:rPr>
                        <a:t>เป็นการนิยามข้อผิดพลาดผ่าน Enum ที่นำโปรโตคอล Error มาใช้งาน </a:t>
                      </a:r>
                      <a:r>
                        <a:rPr lang="en-US" sz="1950">
                          <a:solidFill>
                            <a:srgbClr val="1E1E1E"/>
                          </a:solidFill>
                          <a:latin typeface="Sarabun"/>
                          <a:ea typeface="Sarabun"/>
                          <a:cs typeface="Sarabun"/>
                          <a:sym typeface="Sarabun"/>
                        </a:rPr>
                        <a:t>รองรับการใส่ Associated Values เพื่อระบุรายละเอียดหรือสาเหตุของข้อผิดพลาดขณะรันไทม์</a:t>
                      </a:r>
                      <a:endParaRPr lang="en-US" sz="1100"/>
                    </a:p>
                    <a:p>
                      <a:pPr algn="l" marL="421005" indent="-210502" lvl="1">
                        <a:lnSpc>
                          <a:spcPts val="2729"/>
                        </a:lnSpc>
                        <a:buFont typeface="Arial"/>
                        <a:buChar char="•"/>
                      </a:pPr>
                      <a:r>
                        <a:rPr lang="en-US" b="true" sz="1950">
                          <a:solidFill>
                            <a:srgbClr val="8B2E2E"/>
                          </a:solidFill>
                          <a:latin typeface="Sarabun Bold"/>
                          <a:ea typeface="Sarabun Bold"/>
                          <a:cs typeface="Sarabun Bold"/>
                          <a:sym typeface="Sarabun Bold"/>
                        </a:rPr>
                        <a:t>มีกลไก Type Transformation</a:t>
                      </a:r>
                      <a:r>
                        <a:rPr lang="en-US" sz="1950">
                          <a:solidFill>
                            <a:srgbClr val="222222"/>
                          </a:solidFill>
                          <a:latin typeface="Sarabun"/>
                          <a:ea typeface="Sarabun"/>
                          <a:cs typeface="Sarabun"/>
                          <a:sym typeface="Sarabun"/>
                        </a:rPr>
                        <a:t> โดยใช้ try? แปลงผลลัพธ์เป็น Optional (T?) โดยเปลี่ยนทุก Error เป็นค่าว่าง (nil) ทันที โดยไม่ต้องเขียน do-catch</a:t>
                      </a:r>
                    </a:p>
                  </a:txBody>
                  <a:tcPr marL="91440" marR="91440" marT="91440" marB="91440" anchor="t">
                    <a:lnL cmpd="sng" algn="ctr" cap="flat" w="12700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pSp>
        <p:nvGrpSpPr>
          <p:cNvPr name="Group 11" id="11"/>
          <p:cNvGrpSpPr/>
          <p:nvPr/>
        </p:nvGrpSpPr>
        <p:grpSpPr>
          <a:xfrm rot="0">
            <a:off x="685800" y="9710928"/>
            <a:ext cx="10972800" cy="411480"/>
            <a:chOff x="0" y="0"/>
            <a:chExt cx="14630400" cy="54864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4630400" cy="548640"/>
            </a:xfrm>
            <a:custGeom>
              <a:avLst/>
              <a:gdLst/>
              <a:ahLst/>
              <a:cxnLst/>
              <a:rect r="r" b="b" t="t" l="l"/>
              <a:pathLst>
                <a:path h="548640" w="14630400">
                  <a:moveTo>
                    <a:pt x="0" y="0"/>
                  </a:moveTo>
                  <a:lnTo>
                    <a:pt x="14630400" y="0"/>
                  </a:lnTo>
                  <a:lnTo>
                    <a:pt x="146304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69601" r="0" b="-469601"/>
              </a:stretch>
            </a:blip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38100"/>
              <a:ext cx="14630400" cy="5867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00"/>
                </a:lnSpc>
              </a:pPr>
              <a:r>
                <a:rPr lang="en-US" sz="1500">
                  <a:solidFill>
                    <a:srgbClr val="6B6B6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517321 Principles of Programming Languages — Rust Tutorial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16911828" y="9710928"/>
            <a:ext cx="685800" cy="411480"/>
            <a:chOff x="0" y="0"/>
            <a:chExt cx="914400" cy="54864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914400" cy="548640"/>
            </a:xfrm>
            <a:custGeom>
              <a:avLst/>
              <a:gdLst/>
              <a:ahLst/>
              <a:cxnLst/>
              <a:rect r="r" b="b" t="t" l="l"/>
              <a:pathLst>
                <a:path h="548640" w="914400">
                  <a:moveTo>
                    <a:pt x="0" y="0"/>
                  </a:moveTo>
                  <a:lnTo>
                    <a:pt x="914400" y="0"/>
                  </a:lnTo>
                  <a:lnTo>
                    <a:pt x="9144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26982" t="0" r="-26982" b="0"/>
              </a:stretch>
            </a:blip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38100"/>
              <a:ext cx="914400" cy="5867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800"/>
                </a:lnSpc>
              </a:pPr>
              <a:r>
                <a:rPr lang="en-US" sz="1500">
                  <a:solidFill>
                    <a:srgbClr val="6B6B6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5</a:t>
              </a:r>
            </a:p>
          </p:txBody>
        </p:sp>
      </p:grpSp>
    </p:spTree>
  </p:cSld>
  <p:clrMapOvr>
    <a:masterClrMapping/>
  </p:clrMapOvr>
  <p:transition spd="fast">
    <p:wipe dir="l"/>
  </p:transition>
</p:sld>
</file>

<file path=ppt/slides/slide1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685800" y="617220"/>
            <a:ext cx="4114800" cy="576072"/>
            <a:chOff x="0" y="0"/>
            <a:chExt cx="5486400" cy="76809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5486400" cy="768096"/>
            </a:xfrm>
            <a:custGeom>
              <a:avLst/>
              <a:gdLst/>
              <a:ahLst/>
              <a:cxnLst/>
              <a:rect r="r" b="b" t="t" l="l"/>
              <a:pathLst>
                <a:path h="768096" w="5486400">
                  <a:moveTo>
                    <a:pt x="0" y="146304"/>
                  </a:moveTo>
                  <a:cubicBezTo>
                    <a:pt x="0" y="65532"/>
                    <a:pt x="65532" y="0"/>
                    <a:pt x="146304" y="0"/>
                  </a:cubicBezTo>
                  <a:lnTo>
                    <a:pt x="5340096" y="0"/>
                  </a:lnTo>
                  <a:cubicBezTo>
                    <a:pt x="5420868" y="0"/>
                    <a:pt x="5486400" y="65532"/>
                    <a:pt x="5486400" y="146304"/>
                  </a:cubicBezTo>
                  <a:lnTo>
                    <a:pt x="5486400" y="621792"/>
                  </a:lnTo>
                  <a:cubicBezTo>
                    <a:pt x="5486400" y="702564"/>
                    <a:pt x="5420868" y="768096"/>
                    <a:pt x="5340096" y="768096"/>
                  </a:cubicBezTo>
                  <a:lnTo>
                    <a:pt x="146304" y="768096"/>
                  </a:lnTo>
                  <a:cubicBezTo>
                    <a:pt x="65532" y="768096"/>
                    <a:pt x="0" y="702564"/>
                    <a:pt x="0" y="621792"/>
                  </a:cubicBezTo>
                  <a:close/>
                </a:path>
              </a:pathLst>
            </a:custGeom>
            <a:solidFill>
              <a:srgbClr val="8B2E2E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685800" y="617220"/>
            <a:ext cx="4114800" cy="576072"/>
            <a:chOff x="0" y="0"/>
            <a:chExt cx="5486400" cy="768096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5486400" cy="768096"/>
            </a:xfrm>
            <a:custGeom>
              <a:avLst/>
              <a:gdLst/>
              <a:ahLst/>
              <a:cxnLst/>
              <a:rect r="r" b="b" t="t" l="l"/>
              <a:pathLst>
                <a:path h="768096" w="5486400">
                  <a:moveTo>
                    <a:pt x="0" y="0"/>
                  </a:moveTo>
                  <a:lnTo>
                    <a:pt x="5486400" y="0"/>
                  </a:lnTo>
                  <a:lnTo>
                    <a:pt x="5486400" y="768096"/>
                  </a:lnTo>
                  <a:lnTo>
                    <a:pt x="0" y="76809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9178" r="0" b="-89178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-47625"/>
              <a:ext cx="5486400" cy="81572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340"/>
                </a:lnSpc>
              </a:pPr>
              <a:r>
                <a:rPr lang="en-US" sz="195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PART 3 · MEMBER 3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685800" y="227387"/>
            <a:ext cx="16911828" cy="3303594"/>
            <a:chOff x="0" y="0"/>
            <a:chExt cx="22549104" cy="4404792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2549104" cy="4404792"/>
            </a:xfrm>
            <a:custGeom>
              <a:avLst/>
              <a:gdLst/>
              <a:ahLst/>
              <a:cxnLst/>
              <a:rect r="r" b="b" t="t" l="l"/>
              <a:pathLst>
                <a:path h="4404792" w="22549104">
                  <a:moveTo>
                    <a:pt x="0" y="0"/>
                  </a:moveTo>
                  <a:lnTo>
                    <a:pt x="22549104" y="0"/>
                  </a:lnTo>
                  <a:lnTo>
                    <a:pt x="22549104" y="4404792"/>
                  </a:lnTo>
                  <a:lnTo>
                    <a:pt x="0" y="44047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5216" r="0" b="-14279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>
              <a:off x="0" y="-19050"/>
              <a:ext cx="22549104" cy="442384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400"/>
                </a:lnSpc>
              </a:pPr>
              <a:r>
                <a:rPr lang="en-US" sz="4500" b="true">
                  <a:solidFill>
                    <a:srgbClr val="222222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Rust vs Java, Python and Swift</a:t>
              </a:r>
            </a:p>
          </p:txBody>
        </p:sp>
      </p:grpSp>
      <p:graphicFrame>
        <p:nvGraphicFramePr>
          <p:cNvPr name="Table 10" id="10"/>
          <p:cNvGraphicFramePr>
            <a:graphicFrameLocks noGrp="true"/>
          </p:cNvGraphicFramePr>
          <p:nvPr/>
        </p:nvGraphicFramePr>
        <p:xfrm>
          <a:off x="685800" y="2537460"/>
          <a:ext cx="16911828" cy="5916083"/>
        </p:xfrm>
        <a:graphic>
          <a:graphicData uri="http://schemas.openxmlformats.org/drawingml/2006/table">
            <a:tbl>
              <a:tblPr/>
              <a:tblGrid>
                <a:gridCol w="1732004"/>
                <a:gridCol w="3752165"/>
                <a:gridCol w="3722719"/>
                <a:gridCol w="3951262"/>
                <a:gridCol w="3753679"/>
              </a:tblGrid>
              <a:tr h="742427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340"/>
                        </a:lnSpc>
                        <a:defRPr/>
                      </a:pPr>
                      <a:r>
                        <a:rPr lang="en-US" sz="1950" b="true">
                          <a:solidFill>
                            <a:srgbClr val="FFFFFF"/>
                          </a:solidFill>
                          <a:latin typeface="Sarabun Bold"/>
                          <a:ea typeface="Sarabun Bold"/>
                          <a:cs typeface="Sarabun Bold"/>
                          <a:sym typeface="Sarabun Bold"/>
                        </a:rPr>
                        <a:t>Aspect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12700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B2E2E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340"/>
                        </a:lnSpc>
                        <a:defRPr/>
                      </a:pPr>
                      <a:r>
                        <a:rPr lang="en-US" sz="1950" b="true">
                          <a:solidFill>
                            <a:srgbClr val="FFFFFF"/>
                          </a:solidFill>
                          <a:latin typeface="Sarabun Bold"/>
                          <a:ea typeface="Sarabun Bold"/>
                          <a:cs typeface="Sarabun Bold"/>
                          <a:sym typeface="Sarabun Bold"/>
                        </a:rPr>
                        <a:t>Rust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12700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B2E2E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340"/>
                        </a:lnSpc>
                        <a:defRPr/>
                      </a:pPr>
                      <a:r>
                        <a:rPr lang="en-US" sz="1950" b="true">
                          <a:solidFill>
                            <a:srgbClr val="FFFFFF"/>
                          </a:solidFill>
                          <a:latin typeface="Sarabun Bold"/>
                          <a:ea typeface="Sarabun Bold"/>
                          <a:cs typeface="Sarabun Bold"/>
                          <a:sym typeface="Sarabun Bold"/>
                        </a:rPr>
                        <a:t>Java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12700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B2E2E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340"/>
                        </a:lnSpc>
                        <a:defRPr/>
                      </a:pPr>
                      <a:r>
                        <a:rPr lang="en-US" sz="1950" b="true">
                          <a:solidFill>
                            <a:srgbClr val="FFFFFF"/>
                          </a:solidFill>
                          <a:latin typeface="Sarabun Bold"/>
                          <a:ea typeface="Sarabun Bold"/>
                          <a:cs typeface="Sarabun Bold"/>
                          <a:sym typeface="Sarabun Bold"/>
                        </a:rPr>
                        <a:t>Python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12700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B2E2E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340"/>
                        </a:lnSpc>
                        <a:defRPr/>
                      </a:pPr>
                      <a:r>
                        <a:rPr lang="en-US" sz="1950" b="true">
                          <a:solidFill>
                            <a:srgbClr val="FFFFFF"/>
                          </a:solidFill>
                          <a:latin typeface="Sarabun Bold"/>
                          <a:ea typeface="Sarabun Bold"/>
                          <a:cs typeface="Sarabun Bold"/>
                          <a:sym typeface="Sarabun Bold"/>
                        </a:rPr>
                        <a:t>Swift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12700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B2E2E"/>
                    </a:solidFill>
                  </a:tcPr>
                </a:tc>
              </a:tr>
              <a:tr h="5173656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340"/>
                        </a:lnSpc>
                        <a:defRPr/>
                      </a:pPr>
                      <a:r>
                        <a:rPr lang="en-US" sz="1950" b="true">
                          <a:solidFill>
                            <a:srgbClr val="8B2E2E"/>
                          </a:solidFill>
                          <a:latin typeface="Sarabun Bold"/>
                          <a:ea typeface="Sarabun Bold"/>
                          <a:cs typeface="Sarabun Bold"/>
                          <a:sym typeface="Sarabun Bold"/>
                        </a:rPr>
                        <a:t>Memor</a:t>
                      </a:r>
                      <a:r>
                        <a:rPr lang="en-US" sz="1950" b="true">
                          <a:solidFill>
                            <a:srgbClr val="8B2E2E"/>
                          </a:solidFill>
                          <a:latin typeface="Sarabun Bold"/>
                          <a:ea typeface="Sarabun Bold"/>
                          <a:cs typeface="Sarabun Bold"/>
                          <a:sym typeface="Sarabun Bold"/>
                        </a:rPr>
                        <a:t>y Management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12700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 marL="421005" indent="-210502" lvl="1">
                        <a:lnSpc>
                          <a:spcPts val="2729"/>
                        </a:lnSpc>
                        <a:buFont typeface="Arial"/>
                        <a:buChar char="•"/>
                        <a:defRPr/>
                      </a:pPr>
                      <a:r>
                        <a:rPr lang="en-US" b="true" sz="1950">
                          <a:solidFill>
                            <a:srgbClr val="8B2E2E"/>
                          </a:solidFill>
                          <a:latin typeface="Sarabun Bold"/>
                          <a:ea typeface="Sarabun Bold"/>
                          <a:cs typeface="Sarabun Bold"/>
                          <a:sym typeface="Sarabun Bold"/>
                        </a:rPr>
                        <a:t>คืนทรัพยากรอัตโนมัติด้วยหลัก Ownership</a:t>
                      </a:r>
                      <a:r>
                        <a:rPr lang="en-US" sz="1950">
                          <a:solidFill>
                            <a:srgbClr val="222222"/>
                          </a:solidFill>
                          <a:latin typeface="Sarabun"/>
                          <a:ea typeface="Sarabun"/>
                          <a:cs typeface="Sarabun"/>
                          <a:sym typeface="Sarabun"/>
                        </a:rPr>
                        <a:t> คืนทรัพยากรทันทีที่ Option หรือ Result หมดขอบเขตการทำงาน </a:t>
                      </a:r>
                      <a:endParaRPr lang="en-US" sz="1100"/>
                    </a:p>
                    <a:p>
                      <a:pPr algn="l">
                        <a:lnSpc>
                          <a:spcPts val="2729"/>
                        </a:lnSpc>
                      </a:pPr>
                    </a:p>
                    <a:p>
                      <a:pPr algn="l" marL="421005" indent="-210502" lvl="1">
                        <a:lnSpc>
                          <a:spcPts val="2729"/>
                        </a:lnSpc>
                        <a:buFont typeface="Arial"/>
                        <a:buChar char="•"/>
                      </a:pPr>
                      <a:r>
                        <a:rPr lang="en-US" b="true" sz="1950">
                          <a:solidFill>
                            <a:srgbClr val="8B2E2E"/>
                          </a:solidFill>
                          <a:latin typeface="Sarabun Bold"/>
                          <a:ea typeface="Sarabun Bold"/>
                          <a:cs typeface="Sarabun Bold"/>
                          <a:sym typeface="Sarabun Bold"/>
                        </a:rPr>
                        <a:t>มี Null Pointer Optimization (NPO)</a:t>
                      </a:r>
                    </a:p>
                    <a:p>
                      <a:pPr algn="l">
                        <a:lnSpc>
                          <a:spcPts val="2729"/>
                        </a:lnSpc>
                      </a:pPr>
                    </a:p>
                    <a:p>
                      <a:pPr algn="l" marL="421005" indent="-210502" lvl="1">
                        <a:lnSpc>
                          <a:spcPts val="2729"/>
                        </a:lnSpc>
                        <a:buFont typeface="Arial"/>
                        <a:buChar char="•"/>
                      </a:pPr>
                      <a:r>
                        <a:rPr lang="en-US" b="true" sz="1950">
                          <a:solidFill>
                            <a:srgbClr val="8B2E2E"/>
                          </a:solidFill>
                          <a:latin typeface="Sarabun Bold"/>
                          <a:ea typeface="Sarabun Bold"/>
                          <a:cs typeface="Sarabun Bold"/>
                          <a:sym typeface="Sarabun Bold"/>
                        </a:rPr>
                        <a:t>ไม่มีการสร้าง Overhead บน Heap</a:t>
                      </a:r>
                      <a:r>
                        <a:rPr lang="en-US" sz="1950">
                          <a:solidFill>
                            <a:srgbClr val="222222"/>
                          </a:solidFill>
                          <a:latin typeface="Sarabun"/>
                          <a:ea typeface="Sarabun"/>
                          <a:cs typeface="Sarabun"/>
                          <a:sym typeface="Sarabun"/>
                        </a:rPr>
                        <a:t> เพราะโครงสร้าง Enum เป็น Value Type จึงประมวลผลและส่งผ่านบน Stack โดยตรง</a:t>
                      </a:r>
                    </a:p>
                  </a:txBody>
                  <a:tcPr marL="91440" marR="91440" marT="91440" marB="91440" anchor="t">
                    <a:lnL cmpd="sng" algn="ctr" cap="flat" w="12700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 marL="421005" indent="-210502" lvl="1">
                        <a:lnSpc>
                          <a:spcPts val="2729"/>
                        </a:lnSpc>
                        <a:buFont typeface="Arial"/>
                        <a:buChar char="•"/>
                        <a:defRPr/>
                      </a:pPr>
                      <a:r>
                        <a:rPr lang="en-US" b="true" sz="1950">
                          <a:solidFill>
                            <a:srgbClr val="8B2E2E"/>
                          </a:solidFill>
                          <a:latin typeface="Sarabun Bold"/>
                          <a:ea typeface="Sarabun Bold"/>
                          <a:cs typeface="Sarabun Bold"/>
                          <a:sym typeface="Sarabun Bold"/>
                        </a:rPr>
                        <a:t>เกิด Overhead บน Heap สูง  </a:t>
                      </a:r>
                      <a:r>
                        <a:rPr lang="en-US" sz="1950">
                          <a:solidFill>
                            <a:srgbClr val="222222"/>
                          </a:solidFill>
                          <a:latin typeface="Sarabun"/>
                          <a:ea typeface="Sarabun"/>
                          <a:cs typeface="Sarabun"/>
                          <a:sym typeface="Sarabun"/>
                        </a:rPr>
                        <a:t>คำสั่ง throw บังคับให้ JVM สร้างออบเจกต์ Exception บน Heap พร้อมบันทึก Stack Trace ทำให้เกิด Runtime Overhead</a:t>
                      </a:r>
                      <a:endParaRPr lang="en-US" sz="1100"/>
                    </a:p>
                    <a:p>
                      <a:pPr algn="l">
                        <a:lnSpc>
                          <a:spcPts val="2729"/>
                        </a:lnSpc>
                      </a:pPr>
                    </a:p>
                    <a:p>
                      <a:pPr algn="l" marL="421005" indent="-210502" lvl="1">
                        <a:lnSpc>
                          <a:spcPts val="2729"/>
                        </a:lnSpc>
                        <a:buFont typeface="Arial"/>
                        <a:buChar char="•"/>
                      </a:pPr>
                      <a:r>
                        <a:rPr lang="en-US" b="true" sz="1950">
                          <a:solidFill>
                            <a:srgbClr val="8B2E2E"/>
                          </a:solidFill>
                          <a:latin typeface="Sarabun Bold"/>
                          <a:ea typeface="Sarabun Bold"/>
                          <a:cs typeface="Sarabun Bold"/>
                          <a:sym typeface="Sarabun Bold"/>
                        </a:rPr>
                        <a:t>คืนหน่วยความจำด้วย Garbage Collector (GC)</a:t>
                      </a:r>
                      <a:r>
                        <a:rPr lang="en-US" b="true" sz="1950">
                          <a:solidFill>
                            <a:srgbClr val="222222"/>
                          </a:solidFill>
                          <a:latin typeface="Sarabun Bold"/>
                          <a:ea typeface="Sarabun Bold"/>
                          <a:cs typeface="Sarabun Bold"/>
                          <a:sym typeface="Sarabun Bold"/>
                        </a:rPr>
                        <a:t> </a:t>
                      </a:r>
                      <a:r>
                        <a:rPr lang="en-US" sz="1950">
                          <a:solidFill>
                            <a:srgbClr val="1E1E1E"/>
                          </a:solidFill>
                          <a:latin typeface="Sarabun"/>
                          <a:ea typeface="Sarabun"/>
                          <a:cs typeface="Sarabun"/>
                          <a:sym typeface="Sarabun"/>
                        </a:rPr>
                        <a:t>โดย</a:t>
                      </a:r>
                      <a:r>
                        <a:rPr lang="en-US" sz="1950">
                          <a:solidFill>
                            <a:srgbClr val="222222"/>
                          </a:solidFill>
                          <a:latin typeface="Sarabun"/>
                          <a:ea typeface="Sarabun"/>
                          <a:cs typeface="Sarabun"/>
                          <a:sym typeface="Sarabun"/>
                        </a:rPr>
                        <a:t>ออบเจกต์ Exception ที่ประมวลผลเสร็จแล้วในบล็อก catch จะถูก GC เคลียร์ออกจาก Heap Memory และคืนพื้นที่ให้อัตโนมัติ</a:t>
                      </a:r>
                    </a:p>
                  </a:txBody>
                  <a:tcPr marL="91440" marR="91440" marT="91440" marB="91440" anchor="t">
                    <a:lnL cmpd="sng" algn="ctr" cap="flat" w="12700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 marL="421005" indent="-210502" lvl="1">
                        <a:lnSpc>
                          <a:spcPts val="2729"/>
                        </a:lnSpc>
                        <a:buFont typeface="Arial"/>
                        <a:buChar char="•"/>
                        <a:defRPr/>
                      </a:pPr>
                      <a:r>
                        <a:rPr lang="en-US" b="true" sz="1950">
                          <a:solidFill>
                            <a:srgbClr val="8B2E2E"/>
                          </a:solidFill>
                          <a:latin typeface="Sarabun Bold"/>
                          <a:ea typeface="Sarabun Bold"/>
                          <a:cs typeface="Sarabun Bold"/>
                          <a:sym typeface="Sarabun Bold"/>
                        </a:rPr>
                        <a:t>เกิด Overhead บน Heap สูง </a:t>
                      </a:r>
                      <a:r>
                        <a:rPr lang="en-US" sz="1950">
                          <a:solidFill>
                            <a:srgbClr val="222222"/>
                          </a:solidFill>
                          <a:latin typeface="Sarabun"/>
                          <a:ea typeface="Sarabun"/>
                          <a:cs typeface="Sarabun"/>
                          <a:sym typeface="Sarabun"/>
                        </a:rPr>
                        <a:t>โดยคำสั่ง raise จองพื้นที่บน Heap เพื่อสร้าง Traceback Object สำหรับบันทึก Stack Frame ส่งผลให้เกิด Runtime Overhead สูง</a:t>
                      </a:r>
                      <a:endParaRPr lang="en-US" sz="1100"/>
                    </a:p>
                    <a:p>
                      <a:pPr algn="l">
                        <a:lnSpc>
                          <a:spcPts val="2729"/>
                        </a:lnSpc>
                      </a:pPr>
                    </a:p>
                    <a:p>
                      <a:pPr algn="l" marL="421005" indent="-210502" lvl="1">
                        <a:lnSpc>
                          <a:spcPts val="2729"/>
                        </a:lnSpc>
                        <a:buFont typeface="Arial"/>
                        <a:buChar char="•"/>
                      </a:pPr>
                      <a:r>
                        <a:rPr lang="en-US" b="true" sz="1950">
                          <a:solidFill>
                            <a:srgbClr val="8B2E2E"/>
                          </a:solidFill>
                          <a:latin typeface="Sarabun Bold"/>
                          <a:ea typeface="Sarabun Bold"/>
                          <a:cs typeface="Sarabun Bold"/>
                          <a:sym typeface="Sarabun Bold"/>
                        </a:rPr>
                        <a:t>คืนหน่วยความจำอัตโนมัติ (Python 3)</a:t>
                      </a:r>
                      <a:r>
                        <a:rPr lang="en-US" sz="1950">
                          <a:solidFill>
                            <a:srgbClr val="222222"/>
                          </a:solidFill>
                          <a:latin typeface="Sarabun"/>
                          <a:ea typeface="Sarabun"/>
                          <a:cs typeface="Sarabun"/>
                          <a:sym typeface="Sarabun"/>
                        </a:rPr>
                        <a:t> ลบตัวแปรอ้างอิง Exception ให้อัตโนมัติทันทีที่หลุดออกจากบล็อก except</a:t>
                      </a:r>
                    </a:p>
                  </a:txBody>
                  <a:tcPr marL="91440" marR="91440" marT="91440" marB="91440" anchor="t">
                    <a:lnL cmpd="sng" algn="ctr" cap="flat" w="12700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 marL="421005" indent="-210502" lvl="1">
                        <a:lnSpc>
                          <a:spcPts val="2729"/>
                        </a:lnSpc>
                        <a:buFont typeface="Arial"/>
                        <a:buChar char="•"/>
                        <a:defRPr/>
                      </a:pPr>
                      <a:r>
                        <a:rPr lang="en-US" b="true" sz="1950">
                          <a:solidFill>
                            <a:srgbClr val="8B2E2E"/>
                          </a:solidFill>
                          <a:latin typeface="Sarabun Bold"/>
                          <a:ea typeface="Sarabun Bold"/>
                          <a:cs typeface="Sarabun Bold"/>
                          <a:sym typeface="Sarabun Bold"/>
                        </a:rPr>
                        <a:t>ส่งผ่านค่าแบบ Value Type บน Stack</a:t>
                      </a:r>
                      <a:r>
                        <a:rPr lang="en-US" sz="1950">
                          <a:solidFill>
                            <a:srgbClr val="222222"/>
                          </a:solidFill>
                          <a:latin typeface="Sarabun"/>
                          <a:ea typeface="Sarabun"/>
                          <a:cs typeface="Sarabun"/>
                          <a:sym typeface="Sarabun"/>
                        </a:rPr>
                        <a:t> ไม่เสีย Heap Overhead ในการสร้าง Exception Object</a:t>
                      </a:r>
                      <a:endParaRPr lang="en-US" sz="1100"/>
                    </a:p>
                    <a:p>
                      <a:pPr algn="l">
                        <a:lnSpc>
                          <a:spcPts val="2729"/>
                        </a:lnSpc>
                      </a:pPr>
                    </a:p>
                    <a:p>
                      <a:pPr algn="l" marL="421005" indent="-210502" lvl="1">
                        <a:lnSpc>
                          <a:spcPts val="2729"/>
                        </a:lnSpc>
                        <a:buFont typeface="Arial"/>
                        <a:buChar char="•"/>
                      </a:pPr>
                      <a:r>
                        <a:rPr lang="en-US" b="true" sz="1950">
                          <a:solidFill>
                            <a:srgbClr val="8B2E2E"/>
                          </a:solidFill>
                          <a:latin typeface="Sarabun Bold"/>
                          <a:ea typeface="Sarabun Bold"/>
                          <a:cs typeface="Sarabun Bold"/>
                          <a:sym typeface="Sarabun Bold"/>
                        </a:rPr>
                        <a:t>เมื่อคำสั่ง throw ทำงาน</a:t>
                      </a:r>
                      <a:r>
                        <a:rPr lang="en-US" sz="1950">
                          <a:solidFill>
                            <a:srgbClr val="222222"/>
                          </a:solidFill>
                          <a:latin typeface="Sarabun"/>
                          <a:ea typeface="Sarabun"/>
                          <a:cs typeface="Sarabun"/>
                          <a:sym typeface="Sarabun"/>
                        </a:rPr>
                        <a:t> ระบบจะคืนพื้นที่ตัวแปร Local บน Stack และทำลาย Reference Objects ก่อนกระโดดไปยังบล็อก catch</a:t>
                      </a:r>
                    </a:p>
                  </a:txBody>
                  <a:tcPr marL="91440" marR="91440" marT="91440" marB="91440" anchor="t">
                    <a:lnL cmpd="sng" algn="ctr" cap="flat" w="12700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pSp>
        <p:nvGrpSpPr>
          <p:cNvPr name="Group 11" id="11"/>
          <p:cNvGrpSpPr/>
          <p:nvPr/>
        </p:nvGrpSpPr>
        <p:grpSpPr>
          <a:xfrm rot="0">
            <a:off x="685800" y="9710928"/>
            <a:ext cx="10972800" cy="411480"/>
            <a:chOff x="0" y="0"/>
            <a:chExt cx="14630400" cy="54864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4630400" cy="548640"/>
            </a:xfrm>
            <a:custGeom>
              <a:avLst/>
              <a:gdLst/>
              <a:ahLst/>
              <a:cxnLst/>
              <a:rect r="r" b="b" t="t" l="l"/>
              <a:pathLst>
                <a:path h="548640" w="14630400">
                  <a:moveTo>
                    <a:pt x="0" y="0"/>
                  </a:moveTo>
                  <a:lnTo>
                    <a:pt x="14630400" y="0"/>
                  </a:lnTo>
                  <a:lnTo>
                    <a:pt x="146304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69601" r="0" b="-469601"/>
              </a:stretch>
            </a:blip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38100"/>
              <a:ext cx="14630400" cy="5867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00"/>
                </a:lnSpc>
              </a:pPr>
              <a:r>
                <a:rPr lang="en-US" sz="1500">
                  <a:solidFill>
                    <a:srgbClr val="6B6B6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517321 Principles of Programming Languages — Rust Tutorial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16911828" y="9710928"/>
            <a:ext cx="685800" cy="411480"/>
            <a:chOff x="0" y="0"/>
            <a:chExt cx="914400" cy="54864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914400" cy="548640"/>
            </a:xfrm>
            <a:custGeom>
              <a:avLst/>
              <a:gdLst/>
              <a:ahLst/>
              <a:cxnLst/>
              <a:rect r="r" b="b" t="t" l="l"/>
              <a:pathLst>
                <a:path h="548640" w="914400">
                  <a:moveTo>
                    <a:pt x="0" y="0"/>
                  </a:moveTo>
                  <a:lnTo>
                    <a:pt x="914400" y="0"/>
                  </a:lnTo>
                  <a:lnTo>
                    <a:pt x="9144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26982" t="0" r="-26982" b="0"/>
              </a:stretch>
            </a:blip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38100"/>
              <a:ext cx="914400" cy="5867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800"/>
                </a:lnSpc>
              </a:pPr>
              <a:r>
                <a:rPr lang="en-US" sz="1500">
                  <a:solidFill>
                    <a:srgbClr val="6B6B6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5</a:t>
              </a:r>
            </a:p>
          </p:txBody>
        </p:sp>
      </p:grpSp>
    </p:spTree>
  </p:cSld>
  <p:clrMapOvr>
    <a:masterClrMapping/>
  </p:clrMapOvr>
  <p:transition spd="fast">
    <p:wipe dir="l"/>
  </p:transition>
</p:sld>
</file>

<file path=ppt/slides/slide1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685800" y="617220"/>
            <a:ext cx="4114800" cy="576072"/>
            <a:chOff x="0" y="0"/>
            <a:chExt cx="5486400" cy="76809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5486400" cy="768096"/>
            </a:xfrm>
            <a:custGeom>
              <a:avLst/>
              <a:gdLst/>
              <a:ahLst/>
              <a:cxnLst/>
              <a:rect r="r" b="b" t="t" l="l"/>
              <a:pathLst>
                <a:path h="768096" w="5486400">
                  <a:moveTo>
                    <a:pt x="0" y="146304"/>
                  </a:moveTo>
                  <a:cubicBezTo>
                    <a:pt x="0" y="65532"/>
                    <a:pt x="65532" y="0"/>
                    <a:pt x="146304" y="0"/>
                  </a:cubicBezTo>
                  <a:lnTo>
                    <a:pt x="5340096" y="0"/>
                  </a:lnTo>
                  <a:cubicBezTo>
                    <a:pt x="5420868" y="0"/>
                    <a:pt x="5486400" y="65532"/>
                    <a:pt x="5486400" y="146304"/>
                  </a:cubicBezTo>
                  <a:lnTo>
                    <a:pt x="5486400" y="621792"/>
                  </a:lnTo>
                  <a:cubicBezTo>
                    <a:pt x="5486400" y="702564"/>
                    <a:pt x="5420868" y="768096"/>
                    <a:pt x="5340096" y="768096"/>
                  </a:cubicBezTo>
                  <a:lnTo>
                    <a:pt x="146304" y="768096"/>
                  </a:lnTo>
                  <a:cubicBezTo>
                    <a:pt x="65532" y="768096"/>
                    <a:pt x="0" y="702564"/>
                    <a:pt x="0" y="621792"/>
                  </a:cubicBezTo>
                  <a:close/>
                </a:path>
              </a:pathLst>
            </a:custGeom>
            <a:solidFill>
              <a:srgbClr val="8B2E2E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685800" y="617220"/>
            <a:ext cx="4114800" cy="576072"/>
            <a:chOff x="0" y="0"/>
            <a:chExt cx="5486400" cy="768096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5486400" cy="768096"/>
            </a:xfrm>
            <a:custGeom>
              <a:avLst/>
              <a:gdLst/>
              <a:ahLst/>
              <a:cxnLst/>
              <a:rect r="r" b="b" t="t" l="l"/>
              <a:pathLst>
                <a:path h="768096" w="5486400">
                  <a:moveTo>
                    <a:pt x="0" y="0"/>
                  </a:moveTo>
                  <a:lnTo>
                    <a:pt x="5486400" y="0"/>
                  </a:lnTo>
                  <a:lnTo>
                    <a:pt x="5486400" y="768096"/>
                  </a:lnTo>
                  <a:lnTo>
                    <a:pt x="0" y="76809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9178" r="0" b="-89178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-47625"/>
              <a:ext cx="5486400" cy="81572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340"/>
                </a:lnSpc>
              </a:pPr>
              <a:r>
                <a:rPr lang="en-US" sz="195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PART 3 · MEMBER 3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685800" y="227387"/>
            <a:ext cx="16911828" cy="3303594"/>
            <a:chOff x="0" y="0"/>
            <a:chExt cx="22549104" cy="4404792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2549104" cy="4404792"/>
            </a:xfrm>
            <a:custGeom>
              <a:avLst/>
              <a:gdLst/>
              <a:ahLst/>
              <a:cxnLst/>
              <a:rect r="r" b="b" t="t" l="l"/>
              <a:pathLst>
                <a:path h="4404792" w="22549104">
                  <a:moveTo>
                    <a:pt x="0" y="0"/>
                  </a:moveTo>
                  <a:lnTo>
                    <a:pt x="22549104" y="0"/>
                  </a:lnTo>
                  <a:lnTo>
                    <a:pt x="22549104" y="4404792"/>
                  </a:lnTo>
                  <a:lnTo>
                    <a:pt x="0" y="44047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5216" r="0" b="-14279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>
              <a:off x="0" y="-19050"/>
              <a:ext cx="22549104" cy="442384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400"/>
                </a:lnSpc>
              </a:pPr>
              <a:r>
                <a:rPr lang="en-US" sz="4500" b="true">
                  <a:solidFill>
                    <a:srgbClr val="222222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Rust vs Java, Python and Swift</a:t>
              </a:r>
            </a:p>
          </p:txBody>
        </p:sp>
      </p:grpSp>
      <p:graphicFrame>
        <p:nvGraphicFramePr>
          <p:cNvPr name="Table 10" id="10"/>
          <p:cNvGraphicFramePr>
            <a:graphicFrameLocks noGrp="true"/>
          </p:cNvGraphicFramePr>
          <p:nvPr/>
        </p:nvGraphicFramePr>
        <p:xfrm>
          <a:off x="685800" y="2537460"/>
          <a:ext cx="16911828" cy="6944783"/>
        </p:xfrm>
        <a:graphic>
          <a:graphicData uri="http://schemas.openxmlformats.org/drawingml/2006/table">
            <a:tbl>
              <a:tblPr/>
              <a:tblGrid>
                <a:gridCol w="1732004"/>
                <a:gridCol w="4362115"/>
                <a:gridCol w="3593092"/>
                <a:gridCol w="2990078"/>
                <a:gridCol w="4234540"/>
              </a:tblGrid>
              <a:tr h="742191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340"/>
                        </a:lnSpc>
                        <a:defRPr/>
                      </a:pPr>
                      <a:r>
                        <a:rPr lang="en-US" sz="1950" b="true">
                          <a:solidFill>
                            <a:srgbClr val="FFFFFF"/>
                          </a:solidFill>
                          <a:latin typeface="Sarabun Bold"/>
                          <a:ea typeface="Sarabun Bold"/>
                          <a:cs typeface="Sarabun Bold"/>
                          <a:sym typeface="Sarabun Bold"/>
                        </a:rPr>
                        <a:t>Aspect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12700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B2E2E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340"/>
                        </a:lnSpc>
                        <a:defRPr/>
                      </a:pPr>
                      <a:r>
                        <a:rPr lang="en-US" sz="1950" b="true">
                          <a:solidFill>
                            <a:srgbClr val="FFFFFF"/>
                          </a:solidFill>
                          <a:latin typeface="Sarabun Bold"/>
                          <a:ea typeface="Sarabun Bold"/>
                          <a:cs typeface="Sarabun Bold"/>
                          <a:sym typeface="Sarabun Bold"/>
                        </a:rPr>
                        <a:t>Rust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12700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B2E2E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340"/>
                        </a:lnSpc>
                        <a:defRPr/>
                      </a:pPr>
                      <a:r>
                        <a:rPr lang="en-US" sz="1950" b="true">
                          <a:solidFill>
                            <a:srgbClr val="FFFFFF"/>
                          </a:solidFill>
                          <a:latin typeface="Sarabun Bold"/>
                          <a:ea typeface="Sarabun Bold"/>
                          <a:cs typeface="Sarabun Bold"/>
                          <a:sym typeface="Sarabun Bold"/>
                        </a:rPr>
                        <a:t>Java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12700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B2E2E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340"/>
                        </a:lnSpc>
                        <a:defRPr/>
                      </a:pPr>
                      <a:r>
                        <a:rPr lang="en-US" sz="1950" b="true">
                          <a:solidFill>
                            <a:srgbClr val="FFFFFF"/>
                          </a:solidFill>
                          <a:latin typeface="Sarabun Bold"/>
                          <a:ea typeface="Sarabun Bold"/>
                          <a:cs typeface="Sarabun Bold"/>
                          <a:sym typeface="Sarabun Bold"/>
                        </a:rPr>
                        <a:t>Python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12700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B2E2E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340"/>
                        </a:lnSpc>
                        <a:defRPr/>
                      </a:pPr>
                      <a:r>
                        <a:rPr lang="en-US" sz="1950" b="true">
                          <a:solidFill>
                            <a:srgbClr val="FFFFFF"/>
                          </a:solidFill>
                          <a:latin typeface="Sarabun Bold"/>
                          <a:ea typeface="Sarabun Bold"/>
                          <a:cs typeface="Sarabun Bold"/>
                          <a:sym typeface="Sarabun Bold"/>
                        </a:rPr>
                        <a:t>Swift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12700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B2E2E"/>
                    </a:solidFill>
                  </a:tcPr>
                </a:tc>
              </a:tr>
              <a:tr h="6202593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340"/>
                        </a:lnSpc>
                        <a:defRPr/>
                      </a:pPr>
                      <a:r>
                        <a:rPr lang="en-US" sz="1950" b="true">
                          <a:solidFill>
                            <a:srgbClr val="8B2E2E"/>
                          </a:solidFill>
                          <a:latin typeface="Sarabun Bold"/>
                          <a:ea typeface="Sarabun Bold"/>
                          <a:cs typeface="Sarabun Bold"/>
                          <a:sym typeface="Sarabun Bold"/>
                        </a:rPr>
                        <a:t>S</a:t>
                      </a:r>
                      <a:r>
                        <a:rPr lang="en-US" sz="1950" b="true">
                          <a:solidFill>
                            <a:srgbClr val="8B2E2E"/>
                          </a:solidFill>
                          <a:latin typeface="Sarabun Bold"/>
                          <a:ea typeface="Sarabun Bold"/>
                          <a:cs typeface="Sarabun Bold"/>
                          <a:sym typeface="Sarabun Bold"/>
                        </a:rPr>
                        <a:t>afety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12700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 marL="421005" indent="-210502" lvl="1">
                        <a:lnSpc>
                          <a:spcPts val="2729"/>
                        </a:lnSpc>
                        <a:buFont typeface="Arial"/>
                        <a:buChar char="•"/>
                        <a:defRPr/>
                      </a:pPr>
                      <a:r>
                        <a:rPr lang="en-US" b="true" sz="1950">
                          <a:solidFill>
                            <a:srgbClr val="8B2E2E"/>
                          </a:solidFill>
                          <a:latin typeface="Sarabun Bold"/>
                          <a:ea typeface="Sarabun Bold"/>
                          <a:cs typeface="Sarabun Bold"/>
                          <a:sym typeface="Sarabun Bold"/>
                        </a:rPr>
                        <a:t>การันตีความถูกต้องของโปรแกรมตั้งแต่ขั้นตอนคอมไพล์</a:t>
                      </a:r>
                      <a:r>
                        <a:rPr lang="en-US" sz="1950">
                          <a:solidFill>
                            <a:srgbClr val="222222"/>
                          </a:solidFill>
                          <a:latin typeface="Sarabun"/>
                          <a:ea typeface="Sarabun"/>
                          <a:cs typeface="Sarabun"/>
                          <a:sym typeface="Sarabun"/>
                        </a:rPr>
                        <a:t> โดยถ้าโค้ดผ่านการคอมไพล์ จะไม่มีทางเกิดข้อผิดพลาดชนิดนั้นขณะรันไทม์</a:t>
                      </a:r>
                      <a:endParaRPr lang="en-US" sz="1100"/>
                    </a:p>
                    <a:p>
                      <a:pPr algn="l">
                        <a:lnSpc>
                          <a:spcPts val="2729"/>
                        </a:lnSpc>
                      </a:pPr>
                    </a:p>
                    <a:p>
                      <a:pPr algn="l" marL="421005" indent="-210502" lvl="1">
                        <a:lnSpc>
                          <a:spcPts val="2729"/>
                        </a:lnSpc>
                        <a:buFont typeface="Arial"/>
                        <a:buChar char="•"/>
                      </a:pPr>
                      <a:r>
                        <a:rPr lang="en-US" b="true" sz="1950">
                          <a:solidFill>
                            <a:srgbClr val="8B2E2E"/>
                          </a:solidFill>
                          <a:latin typeface="Sarabun Bold"/>
                          <a:ea typeface="Sarabun Bold"/>
                          <a:cs typeface="Sarabun Bold"/>
                          <a:sym typeface="Sarabun Bold"/>
                        </a:rPr>
                        <a:t>บังคับให้จัดการทุก Variant ของ Enum</a:t>
                      </a:r>
                      <a:r>
                        <a:rPr lang="en-US" sz="1950">
                          <a:solidFill>
                            <a:srgbClr val="222222"/>
                          </a:solidFill>
                          <a:latin typeface="Sarabun"/>
                          <a:ea typeface="Sarabun"/>
                          <a:cs typeface="Sarabun"/>
                          <a:sym typeface="Sarabun"/>
                        </a:rPr>
                        <a:t> โดยบังคับจัดการทุกเคสที่เป็นไปได้ทั้งหมด ป้องกันการมองข้ามบางกรณีไป</a:t>
                      </a:r>
                    </a:p>
                    <a:p>
                      <a:pPr algn="l">
                        <a:lnSpc>
                          <a:spcPts val="2729"/>
                        </a:lnSpc>
                      </a:pPr>
                    </a:p>
                    <a:p>
                      <a:pPr algn="l" marL="421005" indent="-210502" lvl="1">
                        <a:lnSpc>
                          <a:spcPts val="2729"/>
                        </a:lnSpc>
                        <a:buFont typeface="Arial"/>
                        <a:buChar char="•"/>
                      </a:pPr>
                      <a:r>
                        <a:rPr lang="en-US" b="true" sz="1950">
                          <a:solidFill>
                            <a:srgbClr val="8B2E2E"/>
                          </a:solidFill>
                          <a:latin typeface="Sarabun Bold"/>
                          <a:ea typeface="Sarabun Bold"/>
                          <a:cs typeface="Sarabun Bold"/>
                          <a:sym typeface="Sarabun Bold"/>
                        </a:rPr>
                        <a:t>การันตีว่า Error ไม่ถูกละเลย</a:t>
                      </a:r>
                      <a:r>
                        <a:rPr lang="en-US" sz="1950">
                          <a:solidFill>
                            <a:srgbClr val="222222"/>
                          </a:solidFill>
                          <a:latin typeface="Sarabun"/>
                          <a:ea typeface="Sarabun"/>
                          <a:cs typeface="Sarabun"/>
                          <a:sym typeface="Sarabun"/>
                        </a:rPr>
                        <a:t> โดยจะบังคับให้ต้องจัดการค่า Result ที่คืนกลับมา ห้ามปล่อยผ่านหรือละเลย</a:t>
                      </a:r>
                    </a:p>
                    <a:p>
                      <a:pPr algn="l">
                        <a:lnSpc>
                          <a:spcPts val="2729"/>
                        </a:lnSpc>
                      </a:pPr>
                    </a:p>
                    <a:p>
                      <a:pPr algn="l" marL="421005" indent="-210502" lvl="1">
                        <a:lnSpc>
                          <a:spcPts val="2729"/>
                        </a:lnSpc>
                        <a:buFont typeface="Arial"/>
                        <a:buChar char="•"/>
                      </a:pPr>
                      <a:r>
                        <a:rPr lang="en-US" b="true" sz="1950">
                          <a:solidFill>
                            <a:srgbClr val="8B2E2E"/>
                          </a:solidFill>
                          <a:latin typeface="Sarabun Bold"/>
                          <a:ea typeface="Sarabun Bold"/>
                          <a:cs typeface="Sarabun Bold"/>
                          <a:sym typeface="Sarabun Bold"/>
                        </a:rPr>
                        <a:t>ป้องกันความผิดพลาดของระบบด้วย panic!</a:t>
                      </a:r>
                      <a:r>
                        <a:rPr lang="en-US" sz="1950">
                          <a:solidFill>
                            <a:srgbClr val="222222"/>
                          </a:solidFill>
                          <a:latin typeface="Sarabun"/>
                          <a:ea typeface="Sarabun"/>
                          <a:cs typeface="Sarabun"/>
                          <a:sym typeface="Sarabun"/>
                        </a:rPr>
                        <a:t> เพื่อป้องกันระบบทำงานต่อด้วยข้อมูลที่ผิดพลาด</a:t>
                      </a:r>
                    </a:p>
                  </a:txBody>
                  <a:tcPr marL="91440" marR="91440" marT="91440" marB="91440" anchor="t">
                    <a:lnL cmpd="sng" algn="ctr" cap="flat" w="12700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 marL="421005" indent="-210502" lvl="1">
                        <a:lnSpc>
                          <a:spcPts val="2729"/>
                        </a:lnSpc>
                        <a:buFont typeface="Arial"/>
                        <a:buChar char="•"/>
                        <a:defRPr/>
                      </a:pPr>
                      <a:r>
                        <a:rPr lang="en-US" b="true" sz="1950">
                          <a:solidFill>
                            <a:srgbClr val="8B2E2E"/>
                          </a:solidFill>
                          <a:latin typeface="Sarabun Bold"/>
                          <a:ea typeface="Sarabun Bold"/>
                          <a:cs typeface="Sarabun Bold"/>
                          <a:sym typeface="Sarabun Bold"/>
                        </a:rPr>
                        <a:t>มีความเสี่ยงที่โปรแกรมจะทำงานผิดพลาดและล่มลง ถ้าไม่ได้เขียนบล็อก catch ดักจับไว้ให้ครอบคลุม Error นั้น</a:t>
                      </a:r>
                      <a:endParaRPr lang="en-US" sz="1100"/>
                    </a:p>
                    <a:p>
                      <a:pPr algn="l">
                        <a:lnSpc>
                          <a:spcPts val="2729"/>
                        </a:lnSpc>
                      </a:pPr>
                    </a:p>
                    <a:p>
                      <a:pPr algn="l" marL="421005" indent="-210502" lvl="1">
                        <a:lnSpc>
                          <a:spcPts val="2729"/>
                        </a:lnSpc>
                        <a:buFont typeface="Arial"/>
                        <a:buChar char="•"/>
                      </a:pPr>
                      <a:r>
                        <a:rPr lang="en-US" b="true" sz="1950">
                          <a:solidFill>
                            <a:srgbClr val="8B2E2E"/>
                          </a:solidFill>
                          <a:latin typeface="Sarabun Bold"/>
                          <a:ea typeface="Sarabun Bold"/>
                          <a:cs typeface="Sarabun Bold"/>
                          <a:sym typeface="Sarabun Bold"/>
                        </a:rPr>
                        <a:t>เสี่ยงเกิด NullPointerException ได้ง่าย</a:t>
                      </a:r>
                      <a:r>
                        <a:rPr lang="en-US" sz="1950">
                          <a:solidFill>
                            <a:srgbClr val="222222"/>
                          </a:solidFill>
                          <a:latin typeface="Sarabun"/>
                          <a:ea typeface="Sarabun"/>
                          <a:cs typeface="Sarabun"/>
                          <a:sym typeface="Sarabun"/>
                        </a:rPr>
                        <a:t> เพราะคอมไพเลอร์บังคับตรวจจับเฉพาะ Checked Exceptions เท่านั้น </a:t>
                      </a:r>
                    </a:p>
                  </a:txBody>
                  <a:tcPr marL="91440" marR="91440" marT="91440" marB="91440" anchor="t">
                    <a:lnL cmpd="sng" algn="ctr" cap="flat" w="12700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 marL="421005" indent="-210502" lvl="1">
                        <a:lnSpc>
                          <a:spcPts val="2729"/>
                        </a:lnSpc>
                        <a:buFont typeface="Arial"/>
                        <a:buChar char="•"/>
                        <a:defRPr/>
                      </a:pPr>
                      <a:r>
                        <a:rPr lang="en-US" b="true" sz="1950">
                          <a:solidFill>
                            <a:srgbClr val="8B2E2E"/>
                          </a:solidFill>
                          <a:latin typeface="Sarabun Bold"/>
                          <a:ea typeface="Sarabun Bold"/>
                          <a:cs typeface="Sarabun Bold"/>
                          <a:sym typeface="Sarabun Bold"/>
                        </a:rPr>
                        <a:t>มีความเสี่ยงที่โปรแกรมทำงานผิดพลาดและล่มลง ถ้าไม่ได้เขียนบล็อก except ดักจับไว้ให้ครอบคลุม Error  นั้น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12700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 marL="421005" indent="-210502" lvl="1">
                        <a:lnSpc>
                          <a:spcPts val="2729"/>
                        </a:lnSpc>
                        <a:buFont typeface="Arial"/>
                        <a:buChar char="•"/>
                        <a:defRPr/>
                      </a:pPr>
                      <a:r>
                        <a:rPr lang="en-US" b="true" sz="1950">
                          <a:solidFill>
                            <a:srgbClr val="8B2E2E"/>
                          </a:solidFill>
                          <a:latin typeface="Sarabun Bold"/>
                          <a:ea typeface="Sarabun Bold"/>
                          <a:cs typeface="Sarabun Bold"/>
                          <a:sym typeface="Sarabun Bold"/>
                        </a:rPr>
                        <a:t>คอมไพเลอร์ปฏิเสธการประมวลผลทันที  ถ้าเรียกใช้ฟังก์ชันที่มี throws โดยไม่ใส่คำสั่ง try หรือไม่มีบล็อก do-catch ที่คอยจัดการอย่างถูกต้อง</a:t>
                      </a:r>
                      <a:endParaRPr lang="en-US" sz="1100"/>
                    </a:p>
                    <a:p>
                      <a:pPr algn="l">
                        <a:lnSpc>
                          <a:spcPts val="2729"/>
                        </a:lnSpc>
                      </a:pPr>
                    </a:p>
                    <a:p>
                      <a:pPr algn="l" marL="421005" indent="-210502" lvl="1">
                        <a:lnSpc>
                          <a:spcPts val="2729"/>
                        </a:lnSpc>
                        <a:buFont typeface="Arial"/>
                        <a:buChar char="•"/>
                      </a:pPr>
                      <a:r>
                        <a:rPr lang="en-US" b="true" sz="1950">
                          <a:solidFill>
                            <a:srgbClr val="8B2E2E"/>
                          </a:solidFill>
                          <a:latin typeface="Sarabun Bold"/>
                          <a:ea typeface="Sarabun Bold"/>
                          <a:cs typeface="Sarabun Bold"/>
                          <a:sym typeface="Sarabun Bold"/>
                        </a:rPr>
                        <a:t>บังคับให้จัดการ Error ครบทุกกรณี</a:t>
                      </a:r>
                      <a:r>
                        <a:rPr lang="en-US" sz="1950">
                          <a:solidFill>
                            <a:srgbClr val="222222"/>
                          </a:solidFill>
                          <a:latin typeface="Sarabun"/>
                          <a:ea typeface="Sarabun"/>
                          <a:cs typeface="Sarabun"/>
                          <a:sym typeface="Sarabun"/>
                        </a:rPr>
                        <a:t> ถ้าระบุเคสไม่ครบ จะต้องเพิ่มบล็อก catch ทั่วไปเป็นค่าเริ่มต้น (Fallback) เพื่อรองรับข้อผิดพลาดที่เหลือทั้งหมด</a:t>
                      </a:r>
                    </a:p>
                    <a:p>
                      <a:pPr algn="l">
                        <a:lnSpc>
                          <a:spcPts val="2729"/>
                        </a:lnSpc>
                      </a:pPr>
                    </a:p>
                    <a:p>
                      <a:pPr algn="l" marL="421005" indent="-210502" lvl="1">
                        <a:lnSpc>
                          <a:spcPts val="2729"/>
                        </a:lnSpc>
                        <a:buFont typeface="Arial"/>
                        <a:buChar char="•"/>
                      </a:pPr>
                      <a:r>
                        <a:rPr lang="en-US" b="true" sz="1950">
                          <a:solidFill>
                            <a:srgbClr val="8B2E2E"/>
                          </a:solidFill>
                          <a:latin typeface="Sarabun Bold"/>
                          <a:ea typeface="Sarabun Bold"/>
                          <a:cs typeface="Sarabun Bold"/>
                          <a:sym typeface="Sarabun Bold"/>
                        </a:rPr>
                        <a:t>ป้องกัน Null Pointer Dereference ตั้งแต่ขั้นตอนการคอมไพล์</a:t>
                      </a:r>
                      <a:r>
                        <a:rPr lang="en-US" sz="1950">
                          <a:solidFill>
                            <a:srgbClr val="222222"/>
                          </a:solidFill>
                          <a:latin typeface="Sarabun"/>
                          <a:ea typeface="Sarabun"/>
                          <a:cs typeface="Sarabun"/>
                          <a:sym typeface="Sarabun"/>
                        </a:rPr>
                        <a:t> โดยบังคับให้ต้องแกะค่าจาก Optional ก่อนนำไปใช้งานเสมอ</a:t>
                      </a:r>
                    </a:p>
                  </a:txBody>
                  <a:tcPr marL="91440" marR="91440" marT="91440" marB="91440" anchor="t">
                    <a:lnL cmpd="sng" algn="ctr" cap="flat" w="12700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pSp>
        <p:nvGrpSpPr>
          <p:cNvPr name="Group 11" id="11"/>
          <p:cNvGrpSpPr/>
          <p:nvPr/>
        </p:nvGrpSpPr>
        <p:grpSpPr>
          <a:xfrm rot="0">
            <a:off x="685800" y="9710928"/>
            <a:ext cx="10972800" cy="411480"/>
            <a:chOff x="0" y="0"/>
            <a:chExt cx="14630400" cy="54864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4630400" cy="548640"/>
            </a:xfrm>
            <a:custGeom>
              <a:avLst/>
              <a:gdLst/>
              <a:ahLst/>
              <a:cxnLst/>
              <a:rect r="r" b="b" t="t" l="l"/>
              <a:pathLst>
                <a:path h="548640" w="14630400">
                  <a:moveTo>
                    <a:pt x="0" y="0"/>
                  </a:moveTo>
                  <a:lnTo>
                    <a:pt x="14630400" y="0"/>
                  </a:lnTo>
                  <a:lnTo>
                    <a:pt x="146304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69601" r="0" b="-469601"/>
              </a:stretch>
            </a:blip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38100"/>
              <a:ext cx="14630400" cy="5867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00"/>
                </a:lnSpc>
              </a:pPr>
              <a:r>
                <a:rPr lang="en-US" sz="1500">
                  <a:solidFill>
                    <a:srgbClr val="6B6B6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517321 Principles of Programming Languages — Rust Tutorial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16911828" y="9710928"/>
            <a:ext cx="685800" cy="411480"/>
            <a:chOff x="0" y="0"/>
            <a:chExt cx="914400" cy="54864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914400" cy="548640"/>
            </a:xfrm>
            <a:custGeom>
              <a:avLst/>
              <a:gdLst/>
              <a:ahLst/>
              <a:cxnLst/>
              <a:rect r="r" b="b" t="t" l="l"/>
              <a:pathLst>
                <a:path h="548640" w="914400">
                  <a:moveTo>
                    <a:pt x="0" y="0"/>
                  </a:moveTo>
                  <a:lnTo>
                    <a:pt x="914400" y="0"/>
                  </a:lnTo>
                  <a:lnTo>
                    <a:pt x="9144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26982" t="0" r="-26982" b="0"/>
              </a:stretch>
            </a:blip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38100"/>
              <a:ext cx="914400" cy="5867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800"/>
                </a:lnSpc>
              </a:pPr>
              <a:r>
                <a:rPr lang="en-US" sz="1500">
                  <a:solidFill>
                    <a:srgbClr val="6B6B6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5</a:t>
              </a:r>
            </a:p>
          </p:txBody>
        </p:sp>
      </p:grpSp>
    </p:spTree>
  </p:cSld>
  <p:clrMapOvr>
    <a:masterClrMapping/>
  </p:clrMapOvr>
  <p:transition spd="fast">
    <p:wipe dir="l"/>
  </p:transition>
</p:sld>
</file>

<file path=ppt/slides/slide2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685800" y="617220"/>
            <a:ext cx="4114800" cy="576072"/>
            <a:chOff x="0" y="0"/>
            <a:chExt cx="5486400" cy="76809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5486400" cy="768096"/>
            </a:xfrm>
            <a:custGeom>
              <a:avLst/>
              <a:gdLst/>
              <a:ahLst/>
              <a:cxnLst/>
              <a:rect r="r" b="b" t="t" l="l"/>
              <a:pathLst>
                <a:path h="768096" w="5486400">
                  <a:moveTo>
                    <a:pt x="0" y="146304"/>
                  </a:moveTo>
                  <a:cubicBezTo>
                    <a:pt x="0" y="65532"/>
                    <a:pt x="65532" y="0"/>
                    <a:pt x="146304" y="0"/>
                  </a:cubicBezTo>
                  <a:lnTo>
                    <a:pt x="5340096" y="0"/>
                  </a:lnTo>
                  <a:cubicBezTo>
                    <a:pt x="5420868" y="0"/>
                    <a:pt x="5486400" y="65532"/>
                    <a:pt x="5486400" y="146304"/>
                  </a:cubicBezTo>
                  <a:lnTo>
                    <a:pt x="5486400" y="621792"/>
                  </a:lnTo>
                  <a:cubicBezTo>
                    <a:pt x="5486400" y="702564"/>
                    <a:pt x="5420868" y="768096"/>
                    <a:pt x="5340096" y="768096"/>
                  </a:cubicBezTo>
                  <a:lnTo>
                    <a:pt x="146304" y="768096"/>
                  </a:lnTo>
                  <a:cubicBezTo>
                    <a:pt x="65532" y="768096"/>
                    <a:pt x="0" y="702564"/>
                    <a:pt x="0" y="621792"/>
                  </a:cubicBezTo>
                  <a:close/>
                </a:path>
              </a:pathLst>
            </a:custGeom>
            <a:solidFill>
              <a:srgbClr val="8B2E2E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685800" y="617220"/>
            <a:ext cx="4114800" cy="576072"/>
            <a:chOff x="0" y="0"/>
            <a:chExt cx="5486400" cy="768096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5486400" cy="768096"/>
            </a:xfrm>
            <a:custGeom>
              <a:avLst/>
              <a:gdLst/>
              <a:ahLst/>
              <a:cxnLst/>
              <a:rect r="r" b="b" t="t" l="l"/>
              <a:pathLst>
                <a:path h="768096" w="5486400">
                  <a:moveTo>
                    <a:pt x="0" y="0"/>
                  </a:moveTo>
                  <a:lnTo>
                    <a:pt x="5486400" y="0"/>
                  </a:lnTo>
                  <a:lnTo>
                    <a:pt x="5486400" y="768096"/>
                  </a:lnTo>
                  <a:lnTo>
                    <a:pt x="0" y="76809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9178" r="0" b="-89178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-47625"/>
              <a:ext cx="5486400" cy="81572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340"/>
                </a:lnSpc>
              </a:pPr>
              <a:r>
                <a:rPr lang="en-US" sz="195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PART 3 · MEMBER 3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405548" y="2570633"/>
            <a:ext cx="3810615" cy="570582"/>
            <a:chOff x="0" y="0"/>
            <a:chExt cx="1360089" cy="203659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360089" cy="203659"/>
            </a:xfrm>
            <a:custGeom>
              <a:avLst/>
              <a:gdLst/>
              <a:ahLst/>
              <a:cxnLst/>
              <a:rect r="r" b="b" t="t" l="l"/>
              <a:pathLst>
                <a:path h="203659" w="1360089">
                  <a:moveTo>
                    <a:pt x="1360089" y="101829"/>
                  </a:moveTo>
                  <a:lnTo>
                    <a:pt x="1360089" y="101829"/>
                  </a:lnTo>
                  <a:cubicBezTo>
                    <a:pt x="1360089" y="128836"/>
                    <a:pt x="1349360" y="154737"/>
                    <a:pt x="1330264" y="173834"/>
                  </a:cubicBezTo>
                  <a:cubicBezTo>
                    <a:pt x="1311167" y="192930"/>
                    <a:pt x="1285266" y="203659"/>
                    <a:pt x="1258259" y="203659"/>
                  </a:cubicBezTo>
                  <a:lnTo>
                    <a:pt x="101829" y="203659"/>
                  </a:lnTo>
                  <a:cubicBezTo>
                    <a:pt x="45591" y="203659"/>
                    <a:pt x="0" y="158068"/>
                    <a:pt x="0" y="101829"/>
                  </a:cubicBezTo>
                  <a:lnTo>
                    <a:pt x="0" y="101829"/>
                  </a:lnTo>
                  <a:cubicBezTo>
                    <a:pt x="0" y="45591"/>
                    <a:pt x="45591" y="0"/>
                    <a:pt x="101829" y="0"/>
                  </a:cubicBezTo>
                  <a:lnTo>
                    <a:pt x="1258259" y="0"/>
                  </a:lnTo>
                  <a:cubicBezTo>
                    <a:pt x="1314498" y="0"/>
                    <a:pt x="1360089" y="45591"/>
                    <a:pt x="1360089" y="101829"/>
                  </a:cubicBezTo>
                  <a:close/>
                </a:path>
              </a:pathLst>
            </a:custGeom>
            <a:solidFill>
              <a:srgbClr val="8B2E2E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-38100"/>
              <a:ext cx="1360089" cy="24175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800"/>
                </a:lnSpc>
              </a:pP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685800" y="9710928"/>
            <a:ext cx="10972800" cy="411480"/>
            <a:chOff x="0" y="0"/>
            <a:chExt cx="14630400" cy="54864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4630400" cy="548640"/>
            </a:xfrm>
            <a:custGeom>
              <a:avLst/>
              <a:gdLst/>
              <a:ahLst/>
              <a:cxnLst/>
              <a:rect r="r" b="b" t="t" l="l"/>
              <a:pathLst>
                <a:path h="548640" w="14630400">
                  <a:moveTo>
                    <a:pt x="0" y="0"/>
                  </a:moveTo>
                  <a:lnTo>
                    <a:pt x="14630400" y="0"/>
                  </a:lnTo>
                  <a:lnTo>
                    <a:pt x="146304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69601" r="0" b="-469601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38100"/>
              <a:ext cx="14630400" cy="5867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00"/>
                </a:lnSpc>
              </a:pPr>
              <a:r>
                <a:rPr lang="en-US" sz="1500">
                  <a:solidFill>
                    <a:srgbClr val="6B6B6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517321 Principles of Programming Languages — Rust Tutorial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16911828" y="9710928"/>
            <a:ext cx="685800" cy="411480"/>
            <a:chOff x="0" y="0"/>
            <a:chExt cx="914400" cy="54864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914400" cy="548640"/>
            </a:xfrm>
            <a:custGeom>
              <a:avLst/>
              <a:gdLst/>
              <a:ahLst/>
              <a:cxnLst/>
              <a:rect r="r" b="b" t="t" l="l"/>
              <a:pathLst>
                <a:path h="548640" w="914400">
                  <a:moveTo>
                    <a:pt x="0" y="0"/>
                  </a:moveTo>
                  <a:lnTo>
                    <a:pt x="914400" y="0"/>
                  </a:lnTo>
                  <a:lnTo>
                    <a:pt x="9144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26982" t="0" r="-26982" b="0"/>
              </a:stretch>
            </a:blip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38100"/>
              <a:ext cx="914400" cy="5867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800"/>
                </a:lnSpc>
              </a:pPr>
              <a:r>
                <a:rPr lang="en-US" sz="1500">
                  <a:solidFill>
                    <a:srgbClr val="6B6B6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5</a:t>
              </a: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405548" y="3289122"/>
            <a:ext cx="8783482" cy="1845568"/>
            <a:chOff x="0" y="0"/>
            <a:chExt cx="525791" cy="110481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525791" cy="110481"/>
            </a:xfrm>
            <a:custGeom>
              <a:avLst/>
              <a:gdLst/>
              <a:ahLst/>
              <a:cxnLst/>
              <a:rect r="r" b="b" t="t" l="l"/>
              <a:pathLst>
                <a:path h="110481" w="525791">
                  <a:moveTo>
                    <a:pt x="525791" y="35257"/>
                  </a:moveTo>
                  <a:lnTo>
                    <a:pt x="525791" y="75225"/>
                  </a:lnTo>
                  <a:cubicBezTo>
                    <a:pt x="525791" y="84575"/>
                    <a:pt x="522077" y="93543"/>
                    <a:pt x="515465" y="100155"/>
                  </a:cubicBezTo>
                  <a:cubicBezTo>
                    <a:pt x="508853" y="106767"/>
                    <a:pt x="499885" y="110481"/>
                    <a:pt x="490535" y="110481"/>
                  </a:cubicBezTo>
                  <a:lnTo>
                    <a:pt x="35257" y="110481"/>
                  </a:lnTo>
                  <a:cubicBezTo>
                    <a:pt x="25906" y="110481"/>
                    <a:pt x="16938" y="106767"/>
                    <a:pt x="10326" y="100155"/>
                  </a:cubicBezTo>
                  <a:cubicBezTo>
                    <a:pt x="3715" y="93543"/>
                    <a:pt x="0" y="84575"/>
                    <a:pt x="0" y="75225"/>
                  </a:cubicBezTo>
                  <a:lnTo>
                    <a:pt x="0" y="35257"/>
                  </a:lnTo>
                  <a:cubicBezTo>
                    <a:pt x="0" y="25906"/>
                    <a:pt x="3715" y="16938"/>
                    <a:pt x="10326" y="10326"/>
                  </a:cubicBezTo>
                  <a:cubicBezTo>
                    <a:pt x="16938" y="3715"/>
                    <a:pt x="25906" y="0"/>
                    <a:pt x="35257" y="0"/>
                  </a:cubicBezTo>
                  <a:lnTo>
                    <a:pt x="490535" y="0"/>
                  </a:lnTo>
                  <a:cubicBezTo>
                    <a:pt x="499885" y="0"/>
                    <a:pt x="508853" y="3715"/>
                    <a:pt x="515465" y="10326"/>
                  </a:cubicBezTo>
                  <a:cubicBezTo>
                    <a:pt x="522077" y="16938"/>
                    <a:pt x="525791" y="25906"/>
                    <a:pt x="525791" y="35257"/>
                  </a:cubicBezTo>
                  <a:close/>
                </a:path>
              </a:pathLst>
            </a:custGeom>
            <a:solidFill>
              <a:srgbClr val="F7F0F0"/>
            </a:solidFill>
            <a:ln w="38100" cap="rnd">
              <a:solidFill>
                <a:srgbClr val="F7F0F0"/>
              </a:solidFill>
              <a:prstDash val="solid"/>
              <a:round/>
            </a:ln>
          </p:spPr>
        </p:sp>
        <p:sp>
          <p:nvSpPr>
            <p:cNvPr name="TextBox 18" id="18"/>
            <p:cNvSpPr txBox="true"/>
            <p:nvPr/>
          </p:nvSpPr>
          <p:spPr>
            <a:xfrm>
              <a:off x="0" y="-38100"/>
              <a:ext cx="525791" cy="14858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800"/>
                </a:lnSpc>
              </a:pPr>
            </a:p>
          </p:txBody>
        </p:sp>
      </p:grpSp>
      <p:sp>
        <p:nvSpPr>
          <p:cNvPr name="TextBox 19" id="19"/>
          <p:cNvSpPr txBox="true"/>
          <p:nvPr/>
        </p:nvSpPr>
        <p:spPr>
          <a:xfrm rot="0">
            <a:off x="751307" y="3540711"/>
            <a:ext cx="8275081" cy="13138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10208" indent="-205104" lvl="1">
              <a:lnSpc>
                <a:spcPts val="2659"/>
              </a:lnSpc>
              <a:buFont typeface="Arial"/>
              <a:buChar char="•"/>
            </a:pPr>
            <a:r>
              <a:rPr lang="en-US" b="true" sz="1899">
                <a:solidFill>
                  <a:srgbClr val="8B2E2E"/>
                </a:solidFill>
                <a:latin typeface="Sarabun Bold"/>
                <a:ea typeface="Sarabun Bold"/>
                <a:cs typeface="Sarabun Bold"/>
                <a:sym typeface="Sarabun Bold"/>
              </a:rPr>
              <a:t>Java</a:t>
            </a:r>
            <a:r>
              <a:rPr lang="en-US" sz="1899">
                <a:solidFill>
                  <a:srgbClr val="000000"/>
                </a:solidFill>
                <a:latin typeface="Sarabun"/>
                <a:ea typeface="Sarabun"/>
                <a:cs typeface="Sarabun"/>
                <a:sym typeface="Sarabun"/>
              </a:rPr>
              <a:t> และ </a:t>
            </a:r>
            <a:r>
              <a:rPr lang="en-US" b="true" sz="1899">
                <a:solidFill>
                  <a:srgbClr val="8B2E2E"/>
                </a:solidFill>
                <a:latin typeface="Sarabun Bold"/>
                <a:ea typeface="Sarabun Bold"/>
                <a:cs typeface="Sarabun Bold"/>
                <a:sym typeface="Sarabun Bold"/>
              </a:rPr>
              <a:t>Python</a:t>
            </a:r>
            <a:r>
              <a:rPr lang="en-US" sz="1899">
                <a:solidFill>
                  <a:srgbClr val="000000"/>
                </a:solidFill>
                <a:latin typeface="Sarabun"/>
                <a:ea typeface="Sarabun"/>
                <a:cs typeface="Sarabun"/>
                <a:sym typeface="Sarabun"/>
              </a:rPr>
              <a:t> แยกโค้ดปกติกับโค้ดจัดการข้อผิดพลาดด้วย try-catch/except เพื่อให้อ่านง่าย ส่วน </a:t>
            </a:r>
            <a:r>
              <a:rPr lang="en-US" b="true" sz="1899">
                <a:solidFill>
                  <a:srgbClr val="8B2E2E"/>
                </a:solidFill>
                <a:latin typeface="Sarabun Bold"/>
                <a:ea typeface="Sarabun Bold"/>
                <a:cs typeface="Sarabun Bold"/>
                <a:sym typeface="Sarabun Bold"/>
              </a:rPr>
              <a:t>Rust</a:t>
            </a:r>
            <a:r>
              <a:rPr lang="en-US" sz="1899">
                <a:solidFill>
                  <a:srgbClr val="000000"/>
                </a:solidFill>
                <a:latin typeface="Sarabun"/>
                <a:ea typeface="Sarabun"/>
                <a:cs typeface="Sarabun"/>
                <a:sym typeface="Sarabun"/>
              </a:rPr>
              <a:t> มองข้อผิดพลาดเป็นค่าข้อมูลธรรมดาที่ส่งคืนจากฟังก์ชันและใช้ ? ช่วยย่อโค้ด ส่วน </a:t>
            </a:r>
            <a:r>
              <a:rPr lang="en-US" b="true" sz="1899">
                <a:solidFill>
                  <a:srgbClr val="8B2E2E"/>
                </a:solidFill>
                <a:latin typeface="Sarabun Bold"/>
                <a:ea typeface="Sarabun Bold"/>
                <a:cs typeface="Sarabun Bold"/>
                <a:sym typeface="Sarabun Bold"/>
              </a:rPr>
              <a:t>Swift</a:t>
            </a:r>
            <a:r>
              <a:rPr lang="en-US" sz="1899">
                <a:solidFill>
                  <a:srgbClr val="000000"/>
                </a:solidFill>
                <a:latin typeface="Sarabun"/>
                <a:ea typeface="Sarabun"/>
                <a:cs typeface="Sarabun"/>
                <a:sym typeface="Sarabun"/>
              </a:rPr>
              <a:t> ให้ความยืดหยุ่นด้วย do-catch และใช้ try? แปลงข้อผิดพลาดเป็นค่าว่าง (nil) ได้ทันที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402679" y="1865783"/>
            <a:ext cx="16509149" cy="4191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799">
                <a:solidFill>
                  <a:srgbClr val="000000"/>
                </a:solidFill>
                <a:latin typeface="Sarabun"/>
                <a:ea typeface="Sarabun"/>
                <a:cs typeface="Sarabun"/>
                <a:sym typeface="Sarabun"/>
              </a:rPr>
              <a:t>วิเคราะห์ความแตกต่างที่ส</a:t>
            </a:r>
            <a:r>
              <a:rPr lang="en-US" sz="2799">
                <a:solidFill>
                  <a:srgbClr val="000000"/>
                </a:solidFill>
                <a:latin typeface="Sarabun"/>
                <a:ea typeface="Sarabun"/>
                <a:cs typeface="Sarabun"/>
                <a:sym typeface="Sarabun"/>
              </a:rPr>
              <a:t>ำคัญ และเหตุผลด้านการออกแบบภาษาของภาษา Rust, Java, Python และ Swift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562515" y="2689236"/>
            <a:ext cx="3478470" cy="333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39"/>
              </a:lnSpc>
            </a:pPr>
            <a:r>
              <a:rPr lang="en-US" b="true" sz="2199">
                <a:solidFill>
                  <a:srgbClr val="FFFFFF"/>
                </a:solidFill>
                <a:latin typeface="Sarabun Bold"/>
                <a:ea typeface="Sarabun Bold"/>
                <a:cs typeface="Sarabun Bold"/>
                <a:sym typeface="Sarabun Bold"/>
              </a:rPr>
              <a:t>ด้านไวยากรณ์</a:t>
            </a:r>
            <a:r>
              <a:rPr lang="en-US" b="true" sz="2199">
                <a:solidFill>
                  <a:srgbClr val="FFFFFF"/>
                </a:solidFill>
                <a:latin typeface="Sarabun Bold"/>
                <a:ea typeface="Sarabun Bold"/>
                <a:cs typeface="Sarabun Bold"/>
                <a:sym typeface="Sarabun Bold"/>
              </a:rPr>
              <a:t>และรูปแบบโค้ด </a:t>
            </a:r>
          </a:p>
        </p:txBody>
      </p:sp>
      <p:grpSp>
        <p:nvGrpSpPr>
          <p:cNvPr name="Group 22" id="22"/>
          <p:cNvGrpSpPr/>
          <p:nvPr/>
        </p:nvGrpSpPr>
        <p:grpSpPr>
          <a:xfrm rot="0">
            <a:off x="405548" y="5872908"/>
            <a:ext cx="2802782" cy="570582"/>
            <a:chOff x="0" y="0"/>
            <a:chExt cx="1000372" cy="203659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1000372" cy="203659"/>
            </a:xfrm>
            <a:custGeom>
              <a:avLst/>
              <a:gdLst/>
              <a:ahLst/>
              <a:cxnLst/>
              <a:rect r="r" b="b" t="t" l="l"/>
              <a:pathLst>
                <a:path h="203659" w="1000372">
                  <a:moveTo>
                    <a:pt x="1000372" y="101829"/>
                  </a:moveTo>
                  <a:lnTo>
                    <a:pt x="1000372" y="101829"/>
                  </a:lnTo>
                  <a:cubicBezTo>
                    <a:pt x="1000372" y="158068"/>
                    <a:pt x="954781" y="203659"/>
                    <a:pt x="898543" y="203659"/>
                  </a:cubicBezTo>
                  <a:lnTo>
                    <a:pt x="101829" y="203659"/>
                  </a:lnTo>
                  <a:cubicBezTo>
                    <a:pt x="45591" y="203659"/>
                    <a:pt x="0" y="158068"/>
                    <a:pt x="0" y="101829"/>
                  </a:cubicBezTo>
                  <a:lnTo>
                    <a:pt x="0" y="101829"/>
                  </a:lnTo>
                  <a:cubicBezTo>
                    <a:pt x="0" y="45591"/>
                    <a:pt x="45591" y="0"/>
                    <a:pt x="101829" y="0"/>
                  </a:cubicBezTo>
                  <a:lnTo>
                    <a:pt x="898543" y="0"/>
                  </a:lnTo>
                  <a:cubicBezTo>
                    <a:pt x="925549" y="0"/>
                    <a:pt x="951450" y="10728"/>
                    <a:pt x="970547" y="29825"/>
                  </a:cubicBezTo>
                  <a:cubicBezTo>
                    <a:pt x="989644" y="48922"/>
                    <a:pt x="1000372" y="74823"/>
                    <a:pt x="1000372" y="101829"/>
                  </a:cubicBezTo>
                  <a:close/>
                </a:path>
              </a:pathLst>
            </a:custGeom>
            <a:solidFill>
              <a:srgbClr val="8B2E2E"/>
            </a:solidFill>
          </p:spPr>
        </p:sp>
        <p:sp>
          <p:nvSpPr>
            <p:cNvPr name="TextBox 24" id="24"/>
            <p:cNvSpPr txBox="true"/>
            <p:nvPr/>
          </p:nvSpPr>
          <p:spPr>
            <a:xfrm>
              <a:off x="0" y="-38100"/>
              <a:ext cx="1000372" cy="24175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800"/>
                </a:lnSpc>
              </a:pPr>
            </a:p>
          </p:txBody>
        </p:sp>
      </p:grpSp>
      <p:grpSp>
        <p:nvGrpSpPr>
          <p:cNvPr name="Group 25" id="25"/>
          <p:cNvGrpSpPr/>
          <p:nvPr/>
        </p:nvGrpSpPr>
        <p:grpSpPr>
          <a:xfrm rot="0">
            <a:off x="405548" y="6591397"/>
            <a:ext cx="8458200" cy="1671789"/>
            <a:chOff x="0" y="0"/>
            <a:chExt cx="506320" cy="100079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506319" cy="100079"/>
            </a:xfrm>
            <a:custGeom>
              <a:avLst/>
              <a:gdLst/>
              <a:ahLst/>
              <a:cxnLst/>
              <a:rect r="r" b="b" t="t" l="l"/>
              <a:pathLst>
                <a:path h="100079" w="506319">
                  <a:moveTo>
                    <a:pt x="506319" y="36613"/>
                  </a:moveTo>
                  <a:lnTo>
                    <a:pt x="506319" y="63466"/>
                  </a:lnTo>
                  <a:cubicBezTo>
                    <a:pt x="506319" y="73176"/>
                    <a:pt x="502462" y="82489"/>
                    <a:pt x="495596" y="89355"/>
                  </a:cubicBezTo>
                  <a:cubicBezTo>
                    <a:pt x="488730" y="96221"/>
                    <a:pt x="479417" y="100079"/>
                    <a:pt x="469707" y="100079"/>
                  </a:cubicBezTo>
                  <a:lnTo>
                    <a:pt x="36613" y="100079"/>
                  </a:lnTo>
                  <a:cubicBezTo>
                    <a:pt x="26902" y="100079"/>
                    <a:pt x="17590" y="96221"/>
                    <a:pt x="10724" y="89355"/>
                  </a:cubicBezTo>
                  <a:cubicBezTo>
                    <a:pt x="3857" y="82489"/>
                    <a:pt x="0" y="73176"/>
                    <a:pt x="0" y="63466"/>
                  </a:cubicBezTo>
                  <a:lnTo>
                    <a:pt x="0" y="36613"/>
                  </a:lnTo>
                  <a:cubicBezTo>
                    <a:pt x="0" y="26902"/>
                    <a:pt x="3857" y="17590"/>
                    <a:pt x="10724" y="10724"/>
                  </a:cubicBezTo>
                  <a:cubicBezTo>
                    <a:pt x="17590" y="3857"/>
                    <a:pt x="26902" y="0"/>
                    <a:pt x="36613" y="0"/>
                  </a:cubicBezTo>
                  <a:lnTo>
                    <a:pt x="469707" y="0"/>
                  </a:lnTo>
                  <a:cubicBezTo>
                    <a:pt x="479417" y="0"/>
                    <a:pt x="488730" y="3857"/>
                    <a:pt x="495596" y="10724"/>
                  </a:cubicBezTo>
                  <a:cubicBezTo>
                    <a:pt x="502462" y="17590"/>
                    <a:pt x="506319" y="26902"/>
                    <a:pt x="506319" y="36613"/>
                  </a:cubicBezTo>
                  <a:close/>
                </a:path>
              </a:pathLst>
            </a:custGeom>
            <a:solidFill>
              <a:srgbClr val="F7F0F0"/>
            </a:solidFill>
            <a:ln w="38100" cap="rnd">
              <a:solidFill>
                <a:srgbClr val="F7F0F0"/>
              </a:solidFill>
              <a:prstDash val="solid"/>
              <a:round/>
            </a:ln>
          </p:spPr>
        </p:sp>
        <p:sp>
          <p:nvSpPr>
            <p:cNvPr name="TextBox 27" id="27"/>
            <p:cNvSpPr txBox="true"/>
            <p:nvPr/>
          </p:nvSpPr>
          <p:spPr>
            <a:xfrm>
              <a:off x="0" y="-38100"/>
              <a:ext cx="506320" cy="13817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800"/>
                </a:lnSpc>
              </a:pPr>
            </a:p>
          </p:txBody>
        </p:sp>
      </p:grpSp>
      <p:sp>
        <p:nvSpPr>
          <p:cNvPr name="TextBox 28" id="28"/>
          <p:cNvSpPr txBox="true"/>
          <p:nvPr/>
        </p:nvSpPr>
        <p:spPr>
          <a:xfrm rot="0">
            <a:off x="751307" y="6776865"/>
            <a:ext cx="7987754" cy="13138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10208" indent="-205104" lvl="1">
              <a:lnSpc>
                <a:spcPts val="2659"/>
              </a:lnSpc>
              <a:buFont typeface="Arial"/>
              <a:buChar char="•"/>
            </a:pPr>
            <a:r>
              <a:rPr lang="en-US" b="true" sz="1899">
                <a:solidFill>
                  <a:srgbClr val="8B2E2E"/>
                </a:solidFill>
                <a:latin typeface="Sarabun Bold"/>
                <a:ea typeface="Sarabun Bold"/>
                <a:cs typeface="Sarabun Bold"/>
                <a:sym typeface="Sarabun Bold"/>
              </a:rPr>
              <a:t>Java</a:t>
            </a:r>
            <a:r>
              <a:rPr lang="en-US" sz="1899">
                <a:solidFill>
                  <a:srgbClr val="000000"/>
                </a:solidFill>
                <a:latin typeface="Sarabun"/>
                <a:ea typeface="Sarabun"/>
                <a:cs typeface="Sarabun"/>
                <a:sym typeface="Sarabun"/>
              </a:rPr>
              <a:t> และ </a:t>
            </a:r>
            <a:r>
              <a:rPr lang="en-US" b="true" sz="1899">
                <a:solidFill>
                  <a:srgbClr val="8B2E2E"/>
                </a:solidFill>
                <a:latin typeface="Sarabun Bold"/>
                <a:ea typeface="Sarabun Bold"/>
                <a:cs typeface="Sarabun Bold"/>
                <a:sym typeface="Sarabun Bold"/>
              </a:rPr>
              <a:t>Python</a:t>
            </a:r>
            <a:r>
              <a:rPr lang="en-US" sz="1899">
                <a:solidFill>
                  <a:srgbClr val="000000"/>
                </a:solidFill>
                <a:latin typeface="Sarabun"/>
                <a:ea typeface="Sarabun"/>
                <a:cs typeface="Sarabun"/>
                <a:sym typeface="Sarabun"/>
              </a:rPr>
              <a:t> ใช้วิธีกระโดดย้อน Stack เพื่อค้นหาจุดดักจับข้อผิดพลาด ทำให้ทิศทางโปรแกรมข้ามไปมาและคาดเดาได้ยาก ส่วน</a:t>
            </a:r>
            <a:r>
              <a:rPr lang="en-US" b="true" sz="1899">
                <a:solidFill>
                  <a:srgbClr val="8B2E2E"/>
                </a:solidFill>
                <a:latin typeface="Sarabun Bold"/>
                <a:ea typeface="Sarabun Bold"/>
                <a:cs typeface="Sarabun Bold"/>
                <a:sym typeface="Sarabun Bold"/>
              </a:rPr>
              <a:t> Rust</a:t>
            </a:r>
            <a:r>
              <a:rPr lang="en-US" sz="1899">
                <a:solidFill>
                  <a:srgbClr val="000000"/>
                </a:solidFill>
                <a:latin typeface="Sarabun"/>
                <a:ea typeface="Sarabun"/>
                <a:cs typeface="Sarabun"/>
                <a:sym typeface="Sarabun"/>
              </a:rPr>
              <a:t> และ </a:t>
            </a:r>
            <a:r>
              <a:rPr lang="en-US" b="true" sz="1899">
                <a:solidFill>
                  <a:srgbClr val="8B2E2E"/>
                </a:solidFill>
                <a:latin typeface="Sarabun Bold"/>
                <a:ea typeface="Sarabun Bold"/>
                <a:cs typeface="Sarabun Bold"/>
                <a:sym typeface="Sarabun Bold"/>
              </a:rPr>
              <a:t>Swift</a:t>
            </a:r>
            <a:r>
              <a:rPr lang="en-US" sz="1899">
                <a:solidFill>
                  <a:srgbClr val="000000"/>
                </a:solidFill>
                <a:latin typeface="Sarabun"/>
                <a:ea typeface="Sarabun"/>
                <a:cs typeface="Sarabun"/>
                <a:sym typeface="Sarabun"/>
              </a:rPr>
              <a:t> ส่งข้อผิดพลาดกลับตามลำดับการทำงานปกติ ทำให้โปรแกรมทำงานตรงไปตรงมาและคาดเดาง่าย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568189" y="5991511"/>
            <a:ext cx="3004976" cy="333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39"/>
              </a:lnSpc>
            </a:pPr>
            <a:r>
              <a:rPr lang="en-US" b="true" sz="2199">
                <a:solidFill>
                  <a:srgbClr val="FFFFFF"/>
                </a:solidFill>
                <a:latin typeface="Sarabun Bold"/>
                <a:ea typeface="Sarabun Bold"/>
                <a:cs typeface="Sarabun Bold"/>
                <a:sym typeface="Sarabun Bold"/>
              </a:rPr>
              <a:t>ด้าน</a:t>
            </a:r>
            <a:r>
              <a:rPr lang="en-US" b="true" sz="2199">
                <a:solidFill>
                  <a:srgbClr val="FFFFFF"/>
                </a:solidFill>
                <a:latin typeface="Sarabun Bold"/>
                <a:ea typeface="Sarabun Bold"/>
                <a:cs typeface="Sarabun Bold"/>
                <a:sym typeface="Sarabun Bold"/>
              </a:rPr>
              <a:t>ลำดับการทำงาน </a:t>
            </a:r>
          </a:p>
        </p:txBody>
      </p:sp>
      <p:grpSp>
        <p:nvGrpSpPr>
          <p:cNvPr name="Group 30" id="30"/>
          <p:cNvGrpSpPr/>
          <p:nvPr/>
        </p:nvGrpSpPr>
        <p:grpSpPr>
          <a:xfrm rot="0">
            <a:off x="9424252" y="2570633"/>
            <a:ext cx="4921129" cy="570582"/>
            <a:chOff x="0" y="0"/>
            <a:chExt cx="1756455" cy="203659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1756455" cy="203659"/>
            </a:xfrm>
            <a:custGeom>
              <a:avLst/>
              <a:gdLst/>
              <a:ahLst/>
              <a:cxnLst/>
              <a:rect r="r" b="b" t="t" l="l"/>
              <a:pathLst>
                <a:path h="203659" w="1756455">
                  <a:moveTo>
                    <a:pt x="1756455" y="97538"/>
                  </a:moveTo>
                  <a:lnTo>
                    <a:pt x="1756455" y="106120"/>
                  </a:lnTo>
                  <a:cubicBezTo>
                    <a:pt x="1756455" y="131989"/>
                    <a:pt x="1746178" y="156798"/>
                    <a:pt x="1727886" y="175090"/>
                  </a:cubicBezTo>
                  <a:cubicBezTo>
                    <a:pt x="1709594" y="193382"/>
                    <a:pt x="1684785" y="203659"/>
                    <a:pt x="1658916" y="203659"/>
                  </a:cubicBezTo>
                  <a:lnTo>
                    <a:pt x="97538" y="203659"/>
                  </a:lnTo>
                  <a:cubicBezTo>
                    <a:pt x="43669" y="203659"/>
                    <a:pt x="0" y="159989"/>
                    <a:pt x="0" y="106120"/>
                  </a:cubicBezTo>
                  <a:lnTo>
                    <a:pt x="0" y="97538"/>
                  </a:lnTo>
                  <a:cubicBezTo>
                    <a:pt x="0" y="43669"/>
                    <a:pt x="43669" y="0"/>
                    <a:pt x="97538" y="0"/>
                  </a:cubicBezTo>
                  <a:lnTo>
                    <a:pt x="1658916" y="0"/>
                  </a:lnTo>
                  <a:cubicBezTo>
                    <a:pt x="1712785" y="0"/>
                    <a:pt x="1756455" y="43669"/>
                    <a:pt x="1756455" y="97538"/>
                  </a:cubicBezTo>
                  <a:close/>
                </a:path>
              </a:pathLst>
            </a:custGeom>
            <a:solidFill>
              <a:srgbClr val="8B2E2E"/>
            </a:solidFill>
          </p:spPr>
        </p:sp>
        <p:sp>
          <p:nvSpPr>
            <p:cNvPr name="TextBox 32" id="32"/>
            <p:cNvSpPr txBox="true"/>
            <p:nvPr/>
          </p:nvSpPr>
          <p:spPr>
            <a:xfrm>
              <a:off x="0" y="-38100"/>
              <a:ext cx="1756455" cy="24175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800"/>
                </a:lnSpc>
              </a:pPr>
            </a:p>
          </p:txBody>
        </p:sp>
      </p:grpSp>
      <p:grpSp>
        <p:nvGrpSpPr>
          <p:cNvPr name="Group 33" id="33"/>
          <p:cNvGrpSpPr/>
          <p:nvPr/>
        </p:nvGrpSpPr>
        <p:grpSpPr>
          <a:xfrm rot="0">
            <a:off x="9424252" y="3289122"/>
            <a:ext cx="8458200" cy="1845568"/>
            <a:chOff x="0" y="0"/>
            <a:chExt cx="506320" cy="110481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506319" cy="110481"/>
            </a:xfrm>
            <a:custGeom>
              <a:avLst/>
              <a:gdLst/>
              <a:ahLst/>
              <a:cxnLst/>
              <a:rect r="r" b="b" t="t" l="l"/>
              <a:pathLst>
                <a:path h="110481" w="506319">
                  <a:moveTo>
                    <a:pt x="506319" y="36613"/>
                  </a:moveTo>
                  <a:lnTo>
                    <a:pt x="506319" y="73869"/>
                  </a:lnTo>
                  <a:cubicBezTo>
                    <a:pt x="506319" y="83579"/>
                    <a:pt x="502462" y="92892"/>
                    <a:pt x="495596" y="99758"/>
                  </a:cubicBezTo>
                  <a:cubicBezTo>
                    <a:pt x="488730" y="106624"/>
                    <a:pt x="479417" y="110481"/>
                    <a:pt x="469707" y="110481"/>
                  </a:cubicBezTo>
                  <a:lnTo>
                    <a:pt x="36613" y="110481"/>
                  </a:lnTo>
                  <a:cubicBezTo>
                    <a:pt x="26902" y="110481"/>
                    <a:pt x="17590" y="106624"/>
                    <a:pt x="10724" y="99758"/>
                  </a:cubicBezTo>
                  <a:cubicBezTo>
                    <a:pt x="3857" y="92892"/>
                    <a:pt x="0" y="83579"/>
                    <a:pt x="0" y="73869"/>
                  </a:cubicBezTo>
                  <a:lnTo>
                    <a:pt x="0" y="36613"/>
                  </a:lnTo>
                  <a:cubicBezTo>
                    <a:pt x="0" y="26902"/>
                    <a:pt x="3857" y="17590"/>
                    <a:pt x="10724" y="10724"/>
                  </a:cubicBezTo>
                  <a:cubicBezTo>
                    <a:pt x="17590" y="3857"/>
                    <a:pt x="26902" y="0"/>
                    <a:pt x="36613" y="0"/>
                  </a:cubicBezTo>
                  <a:lnTo>
                    <a:pt x="469707" y="0"/>
                  </a:lnTo>
                  <a:cubicBezTo>
                    <a:pt x="479417" y="0"/>
                    <a:pt x="488730" y="3857"/>
                    <a:pt x="495596" y="10724"/>
                  </a:cubicBezTo>
                  <a:cubicBezTo>
                    <a:pt x="502462" y="17590"/>
                    <a:pt x="506319" y="26902"/>
                    <a:pt x="506319" y="36613"/>
                  </a:cubicBezTo>
                  <a:close/>
                </a:path>
              </a:pathLst>
            </a:custGeom>
            <a:solidFill>
              <a:srgbClr val="F7F0F0"/>
            </a:solidFill>
            <a:ln w="38100" cap="rnd">
              <a:solidFill>
                <a:srgbClr val="F7F0F0"/>
              </a:solidFill>
              <a:prstDash val="solid"/>
              <a:round/>
            </a:ln>
          </p:spPr>
        </p:sp>
        <p:sp>
          <p:nvSpPr>
            <p:cNvPr name="TextBox 35" id="35"/>
            <p:cNvSpPr txBox="true"/>
            <p:nvPr/>
          </p:nvSpPr>
          <p:spPr>
            <a:xfrm>
              <a:off x="0" y="-38100"/>
              <a:ext cx="506320" cy="14858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800"/>
                </a:lnSpc>
              </a:pPr>
            </a:p>
          </p:txBody>
        </p:sp>
      </p:grpSp>
      <p:sp>
        <p:nvSpPr>
          <p:cNvPr name="TextBox 36" id="36"/>
          <p:cNvSpPr txBox="true"/>
          <p:nvPr/>
        </p:nvSpPr>
        <p:spPr>
          <a:xfrm rot="0">
            <a:off x="9659475" y="3540711"/>
            <a:ext cx="7712864" cy="13138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10208" indent="-205104" lvl="1">
              <a:lnSpc>
                <a:spcPts val="2659"/>
              </a:lnSpc>
              <a:buFont typeface="Arial"/>
              <a:buChar char="•"/>
            </a:pPr>
            <a:r>
              <a:rPr lang="en-US" b="true" sz="1899">
                <a:solidFill>
                  <a:srgbClr val="8B2E2E"/>
                </a:solidFill>
                <a:latin typeface="Sarabun Bold"/>
                <a:ea typeface="Sarabun Bold"/>
                <a:cs typeface="Sarabun Bold"/>
                <a:sym typeface="Sarabun Bold"/>
              </a:rPr>
              <a:t>Python</a:t>
            </a:r>
            <a:r>
              <a:rPr lang="en-US" sz="1899">
                <a:solidFill>
                  <a:srgbClr val="000000"/>
                </a:solidFill>
                <a:latin typeface="Sarabun"/>
                <a:ea typeface="Sarabun"/>
                <a:cs typeface="Sarabun"/>
                <a:sym typeface="Sarabun"/>
              </a:rPr>
              <a:t> เน้นการเขียนไว โดยตรวจข้อผิดพลาดตอนรันโปรแกรม จึงเสี่ยงล่มสูง </a:t>
            </a:r>
            <a:r>
              <a:rPr lang="en-US" b="true" sz="1899">
                <a:solidFill>
                  <a:srgbClr val="8B2E2E"/>
                </a:solidFill>
                <a:latin typeface="Sarabun Bold"/>
                <a:ea typeface="Sarabun Bold"/>
                <a:cs typeface="Sarabun Bold"/>
                <a:sym typeface="Sarabun Bold"/>
              </a:rPr>
              <a:t>Java</a:t>
            </a:r>
            <a:r>
              <a:rPr lang="en-US" sz="1899">
                <a:solidFill>
                  <a:srgbClr val="000000"/>
                </a:solidFill>
                <a:latin typeface="Sarabun"/>
                <a:ea typeface="Sarabun"/>
                <a:cs typeface="Sarabun"/>
                <a:sym typeface="Sarabun"/>
              </a:rPr>
              <a:t> เพิ่มความปลอดภัยด้วยการบังคับเช็กบางส่วนตอนคอมไพล์ ส่วน </a:t>
            </a:r>
            <a:r>
              <a:rPr lang="en-US" b="true" sz="1899">
                <a:solidFill>
                  <a:srgbClr val="8B2E2E"/>
                </a:solidFill>
                <a:latin typeface="Sarabun Bold"/>
                <a:ea typeface="Sarabun Bold"/>
                <a:cs typeface="Sarabun Bold"/>
                <a:sym typeface="Sarabun Bold"/>
              </a:rPr>
              <a:t>Rust</a:t>
            </a:r>
            <a:r>
              <a:rPr lang="en-US" sz="1899">
                <a:solidFill>
                  <a:srgbClr val="000000"/>
                </a:solidFill>
                <a:latin typeface="Sarabun"/>
                <a:ea typeface="Sarabun"/>
                <a:cs typeface="Sarabun"/>
                <a:sym typeface="Sarabun"/>
              </a:rPr>
              <a:t> และ </a:t>
            </a:r>
            <a:r>
              <a:rPr lang="en-US" b="true" sz="1899">
                <a:solidFill>
                  <a:srgbClr val="8B2E2E"/>
                </a:solidFill>
                <a:latin typeface="Sarabun Bold"/>
                <a:ea typeface="Sarabun Bold"/>
                <a:cs typeface="Sarabun Bold"/>
                <a:sym typeface="Sarabun Bold"/>
              </a:rPr>
              <a:t>Swift</a:t>
            </a:r>
            <a:r>
              <a:rPr lang="en-US" sz="1899">
                <a:solidFill>
                  <a:srgbClr val="000000"/>
                </a:solidFill>
                <a:latin typeface="Sarabun"/>
                <a:ea typeface="Sarabun"/>
                <a:cs typeface="Sarabun"/>
                <a:sym typeface="Sarabun"/>
              </a:rPr>
              <a:t> เน้นความปลอดภัยสูงสุด โดยบังคับรับมือทุกเคสข้อผิดพลาดตั้งแต่ตอนเขียนโค้ด เพื่อป้องกันโปรแกรมล่มและปัญหาหน่วยความจำ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9581219" y="2669997"/>
            <a:ext cx="5153908" cy="333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39"/>
              </a:lnSpc>
            </a:pPr>
            <a:r>
              <a:rPr lang="en-US" b="true" sz="2199">
                <a:solidFill>
                  <a:srgbClr val="FFFFFF"/>
                </a:solidFill>
                <a:latin typeface="Sarabun Bold"/>
                <a:ea typeface="Sarabun Bold"/>
                <a:cs typeface="Sarabun Bold"/>
                <a:sym typeface="Sarabun Bold"/>
              </a:rPr>
              <a:t>ด้านความป</a:t>
            </a:r>
            <a:r>
              <a:rPr lang="en-US" b="true" sz="2199">
                <a:solidFill>
                  <a:srgbClr val="FFFFFF"/>
                </a:solidFill>
                <a:latin typeface="Sarabun Bold"/>
                <a:ea typeface="Sarabun Bold"/>
                <a:cs typeface="Sarabun Bold"/>
                <a:sym typeface="Sarabun Bold"/>
              </a:rPr>
              <a:t>ลอดภัยและระบบชนิดข้อมูล </a:t>
            </a:r>
          </a:p>
        </p:txBody>
      </p:sp>
      <p:grpSp>
        <p:nvGrpSpPr>
          <p:cNvPr name="Group 38" id="38"/>
          <p:cNvGrpSpPr/>
          <p:nvPr/>
        </p:nvGrpSpPr>
        <p:grpSpPr>
          <a:xfrm rot="0">
            <a:off x="9424252" y="5872908"/>
            <a:ext cx="4535334" cy="570582"/>
            <a:chOff x="0" y="0"/>
            <a:chExt cx="1618756" cy="203659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1618756" cy="203659"/>
            </a:xfrm>
            <a:custGeom>
              <a:avLst/>
              <a:gdLst/>
              <a:ahLst/>
              <a:cxnLst/>
              <a:rect r="r" b="b" t="t" l="l"/>
              <a:pathLst>
                <a:path h="203659" w="1618756">
                  <a:moveTo>
                    <a:pt x="1618756" y="101829"/>
                  </a:moveTo>
                  <a:lnTo>
                    <a:pt x="1618756" y="101829"/>
                  </a:lnTo>
                  <a:cubicBezTo>
                    <a:pt x="1618756" y="158068"/>
                    <a:pt x="1573166" y="203659"/>
                    <a:pt x="1516927" y="203659"/>
                  </a:cubicBezTo>
                  <a:lnTo>
                    <a:pt x="101829" y="203659"/>
                  </a:lnTo>
                  <a:cubicBezTo>
                    <a:pt x="45591" y="203659"/>
                    <a:pt x="0" y="158068"/>
                    <a:pt x="0" y="101829"/>
                  </a:cubicBezTo>
                  <a:lnTo>
                    <a:pt x="0" y="101829"/>
                  </a:lnTo>
                  <a:cubicBezTo>
                    <a:pt x="0" y="45591"/>
                    <a:pt x="45591" y="0"/>
                    <a:pt x="101829" y="0"/>
                  </a:cubicBezTo>
                  <a:lnTo>
                    <a:pt x="1516927" y="0"/>
                  </a:lnTo>
                  <a:cubicBezTo>
                    <a:pt x="1573166" y="0"/>
                    <a:pt x="1618756" y="45591"/>
                    <a:pt x="1618756" y="101829"/>
                  </a:cubicBezTo>
                  <a:close/>
                </a:path>
              </a:pathLst>
            </a:custGeom>
            <a:solidFill>
              <a:srgbClr val="8B2E2E"/>
            </a:solidFill>
          </p:spPr>
        </p:sp>
        <p:sp>
          <p:nvSpPr>
            <p:cNvPr name="TextBox 40" id="40"/>
            <p:cNvSpPr txBox="true"/>
            <p:nvPr/>
          </p:nvSpPr>
          <p:spPr>
            <a:xfrm>
              <a:off x="0" y="-38100"/>
              <a:ext cx="1618756" cy="24175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800"/>
                </a:lnSpc>
              </a:pPr>
            </a:p>
          </p:txBody>
        </p:sp>
      </p:grpSp>
      <p:grpSp>
        <p:nvGrpSpPr>
          <p:cNvPr name="Group 41" id="41"/>
          <p:cNvGrpSpPr/>
          <p:nvPr/>
        </p:nvGrpSpPr>
        <p:grpSpPr>
          <a:xfrm rot="0">
            <a:off x="9424252" y="6591397"/>
            <a:ext cx="7329538" cy="1671789"/>
            <a:chOff x="0" y="0"/>
            <a:chExt cx="438756" cy="100079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438756" cy="100079"/>
            </a:xfrm>
            <a:custGeom>
              <a:avLst/>
              <a:gdLst/>
              <a:ahLst/>
              <a:cxnLst/>
              <a:rect r="r" b="b" t="t" l="l"/>
              <a:pathLst>
                <a:path h="100079" w="438756">
                  <a:moveTo>
                    <a:pt x="438756" y="42251"/>
                  </a:moveTo>
                  <a:lnTo>
                    <a:pt x="438756" y="57828"/>
                  </a:lnTo>
                  <a:cubicBezTo>
                    <a:pt x="438756" y="69034"/>
                    <a:pt x="434305" y="79780"/>
                    <a:pt x="426381" y="87704"/>
                  </a:cubicBezTo>
                  <a:cubicBezTo>
                    <a:pt x="418458" y="95627"/>
                    <a:pt x="407711" y="100079"/>
                    <a:pt x="396506" y="100079"/>
                  </a:cubicBezTo>
                  <a:lnTo>
                    <a:pt x="42251" y="100079"/>
                  </a:lnTo>
                  <a:cubicBezTo>
                    <a:pt x="31045" y="100079"/>
                    <a:pt x="20298" y="95627"/>
                    <a:pt x="12375" y="87704"/>
                  </a:cubicBezTo>
                  <a:cubicBezTo>
                    <a:pt x="4451" y="79780"/>
                    <a:pt x="0" y="69034"/>
                    <a:pt x="0" y="57828"/>
                  </a:cubicBezTo>
                  <a:lnTo>
                    <a:pt x="0" y="42251"/>
                  </a:lnTo>
                  <a:cubicBezTo>
                    <a:pt x="0" y="31045"/>
                    <a:pt x="4451" y="20298"/>
                    <a:pt x="12375" y="12375"/>
                  </a:cubicBezTo>
                  <a:cubicBezTo>
                    <a:pt x="20298" y="4451"/>
                    <a:pt x="31045" y="0"/>
                    <a:pt x="42251" y="0"/>
                  </a:cubicBezTo>
                  <a:lnTo>
                    <a:pt x="396506" y="0"/>
                  </a:lnTo>
                  <a:cubicBezTo>
                    <a:pt x="407711" y="0"/>
                    <a:pt x="418458" y="4451"/>
                    <a:pt x="426381" y="12375"/>
                  </a:cubicBezTo>
                  <a:cubicBezTo>
                    <a:pt x="434305" y="20298"/>
                    <a:pt x="438756" y="31045"/>
                    <a:pt x="438756" y="42251"/>
                  </a:cubicBezTo>
                  <a:close/>
                </a:path>
              </a:pathLst>
            </a:custGeom>
            <a:solidFill>
              <a:srgbClr val="F7F0F0"/>
            </a:solidFill>
            <a:ln w="38100" cap="rnd">
              <a:solidFill>
                <a:srgbClr val="F7F0F0"/>
              </a:solidFill>
              <a:prstDash val="solid"/>
              <a:round/>
            </a:ln>
          </p:spPr>
        </p:sp>
        <p:sp>
          <p:nvSpPr>
            <p:cNvPr name="TextBox 43" id="43"/>
            <p:cNvSpPr txBox="true"/>
            <p:nvPr/>
          </p:nvSpPr>
          <p:spPr>
            <a:xfrm>
              <a:off x="0" y="-38100"/>
              <a:ext cx="438756" cy="13817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800"/>
                </a:lnSpc>
              </a:pPr>
            </a:p>
          </p:txBody>
        </p:sp>
      </p:grpSp>
      <p:sp>
        <p:nvSpPr>
          <p:cNvPr name="TextBox 44" id="44"/>
          <p:cNvSpPr txBox="true"/>
          <p:nvPr/>
        </p:nvSpPr>
        <p:spPr>
          <a:xfrm rot="0">
            <a:off x="9659475" y="6776865"/>
            <a:ext cx="6907509" cy="13138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10208" indent="-205104" lvl="1">
              <a:lnSpc>
                <a:spcPts val="2659"/>
              </a:lnSpc>
              <a:buFont typeface="Arial"/>
              <a:buChar char="•"/>
            </a:pPr>
            <a:r>
              <a:rPr lang="en-US" b="true" sz="1899">
                <a:solidFill>
                  <a:srgbClr val="8B2E2E"/>
                </a:solidFill>
                <a:latin typeface="Sarabun Bold"/>
                <a:ea typeface="Sarabun Bold"/>
                <a:cs typeface="Sarabun Bold"/>
                <a:sym typeface="Sarabun Bold"/>
              </a:rPr>
              <a:t>Java</a:t>
            </a:r>
            <a:r>
              <a:rPr lang="en-US" sz="1899">
                <a:solidFill>
                  <a:srgbClr val="000000"/>
                </a:solidFill>
                <a:latin typeface="Sarabun"/>
                <a:ea typeface="Sarabun"/>
                <a:cs typeface="Sarabun"/>
                <a:sym typeface="Sarabun"/>
              </a:rPr>
              <a:t> และ </a:t>
            </a:r>
            <a:r>
              <a:rPr lang="en-US" b="true" sz="1899">
                <a:solidFill>
                  <a:srgbClr val="8B2E2E"/>
                </a:solidFill>
                <a:latin typeface="Sarabun Bold"/>
                <a:ea typeface="Sarabun Bold"/>
                <a:cs typeface="Sarabun Bold"/>
                <a:sym typeface="Sarabun Bold"/>
              </a:rPr>
              <a:t>Python</a:t>
            </a:r>
            <a:r>
              <a:rPr lang="en-US" sz="1899">
                <a:solidFill>
                  <a:srgbClr val="000000"/>
                </a:solidFill>
                <a:latin typeface="Sarabun"/>
                <a:ea typeface="Sarabun"/>
                <a:cs typeface="Sarabun"/>
                <a:sym typeface="Sarabun"/>
              </a:rPr>
              <a:t> เน้นความสะดวก ยอมเสียความเร็วจากการสร้าง Exception Object บน Heap Memory ส่วน </a:t>
            </a:r>
            <a:r>
              <a:rPr lang="en-US" b="true" sz="1899">
                <a:solidFill>
                  <a:srgbClr val="8B2E2E"/>
                </a:solidFill>
                <a:latin typeface="Sarabun Bold"/>
                <a:ea typeface="Sarabun Bold"/>
                <a:cs typeface="Sarabun Bold"/>
                <a:sym typeface="Sarabun Bold"/>
              </a:rPr>
              <a:t>Rust</a:t>
            </a:r>
            <a:r>
              <a:rPr lang="en-US" sz="1899">
                <a:solidFill>
                  <a:srgbClr val="000000"/>
                </a:solidFill>
                <a:latin typeface="Sarabun"/>
                <a:ea typeface="Sarabun"/>
                <a:cs typeface="Sarabun"/>
                <a:sym typeface="Sarabun"/>
              </a:rPr>
              <a:t> และ </a:t>
            </a:r>
            <a:r>
              <a:rPr lang="en-US" b="true" sz="1899">
                <a:solidFill>
                  <a:srgbClr val="8B2E2E"/>
                </a:solidFill>
                <a:latin typeface="Sarabun Bold"/>
                <a:ea typeface="Sarabun Bold"/>
                <a:cs typeface="Sarabun Bold"/>
                <a:sym typeface="Sarabun Bold"/>
              </a:rPr>
              <a:t>Swift</a:t>
            </a:r>
            <a:r>
              <a:rPr lang="en-US" sz="1899">
                <a:solidFill>
                  <a:srgbClr val="000000"/>
                </a:solidFill>
                <a:latin typeface="Sarabun"/>
                <a:ea typeface="Sarabun"/>
                <a:cs typeface="Sarabun"/>
                <a:sym typeface="Sarabun"/>
              </a:rPr>
              <a:t> เน้นความเร็วสูงสุด โดยส่งข้อผิดพลาดผ่าน Stack โดยตรง ทำให้ไม่กินทรัพยากรเพิ่ม</a:t>
            </a:r>
          </a:p>
        </p:txBody>
      </p:sp>
      <p:sp>
        <p:nvSpPr>
          <p:cNvPr name="TextBox 45" id="45"/>
          <p:cNvSpPr txBox="true"/>
          <p:nvPr/>
        </p:nvSpPr>
        <p:spPr>
          <a:xfrm rot="0">
            <a:off x="9581219" y="5991511"/>
            <a:ext cx="4830723" cy="333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39"/>
              </a:lnSpc>
            </a:pPr>
            <a:r>
              <a:rPr lang="en-US" b="true" sz="2199">
                <a:solidFill>
                  <a:srgbClr val="FFFFFF"/>
                </a:solidFill>
                <a:latin typeface="Sarabun Bold"/>
                <a:ea typeface="Sarabun Bold"/>
                <a:cs typeface="Sarabun Bold"/>
                <a:sym typeface="Sarabun Bold"/>
              </a:rPr>
              <a:t>ด้านประสิทธิภาพและหน่วยความจำ</a:t>
            </a:r>
            <a:r>
              <a:rPr lang="en-US" b="true" sz="2199">
                <a:solidFill>
                  <a:srgbClr val="FFFFFF"/>
                </a:solidFill>
                <a:latin typeface="Sarabun Bold"/>
                <a:ea typeface="Sarabun Bold"/>
                <a:cs typeface="Sarabun Bold"/>
                <a:sym typeface="Sarabun Bold"/>
              </a:rPr>
              <a:t> </a:t>
            </a:r>
          </a:p>
        </p:txBody>
      </p:sp>
    </p:spTree>
  </p:cSld>
  <p:clrMapOvr>
    <a:masterClrMapping/>
  </p:clrMapOvr>
  <p:transition spd="fast">
    <p:wipe dir="l"/>
  </p:transition>
</p:sld>
</file>

<file path=ppt/slides/slide2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685800" y="617220"/>
            <a:ext cx="4114800" cy="576072"/>
            <a:chOff x="0" y="0"/>
            <a:chExt cx="5486400" cy="76809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5486400" cy="768096"/>
            </a:xfrm>
            <a:custGeom>
              <a:avLst/>
              <a:gdLst/>
              <a:ahLst/>
              <a:cxnLst/>
              <a:rect r="r" b="b" t="t" l="l"/>
              <a:pathLst>
                <a:path h="768096" w="5486400">
                  <a:moveTo>
                    <a:pt x="0" y="146304"/>
                  </a:moveTo>
                  <a:cubicBezTo>
                    <a:pt x="0" y="65532"/>
                    <a:pt x="65532" y="0"/>
                    <a:pt x="146304" y="0"/>
                  </a:cubicBezTo>
                  <a:lnTo>
                    <a:pt x="5340096" y="0"/>
                  </a:lnTo>
                  <a:cubicBezTo>
                    <a:pt x="5420868" y="0"/>
                    <a:pt x="5486400" y="65532"/>
                    <a:pt x="5486400" y="146304"/>
                  </a:cubicBezTo>
                  <a:lnTo>
                    <a:pt x="5486400" y="621792"/>
                  </a:lnTo>
                  <a:cubicBezTo>
                    <a:pt x="5486400" y="702564"/>
                    <a:pt x="5420868" y="768096"/>
                    <a:pt x="5340096" y="768096"/>
                  </a:cubicBezTo>
                  <a:lnTo>
                    <a:pt x="146304" y="768096"/>
                  </a:lnTo>
                  <a:cubicBezTo>
                    <a:pt x="65532" y="768096"/>
                    <a:pt x="0" y="702564"/>
                    <a:pt x="0" y="621792"/>
                  </a:cubicBezTo>
                  <a:close/>
                </a:path>
              </a:pathLst>
            </a:custGeom>
            <a:solidFill>
              <a:srgbClr val="8B2E2E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685800" y="617220"/>
            <a:ext cx="4114800" cy="576072"/>
            <a:chOff x="0" y="0"/>
            <a:chExt cx="5486400" cy="768096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5486400" cy="768096"/>
            </a:xfrm>
            <a:custGeom>
              <a:avLst/>
              <a:gdLst/>
              <a:ahLst/>
              <a:cxnLst/>
              <a:rect r="r" b="b" t="t" l="l"/>
              <a:pathLst>
                <a:path h="768096" w="5486400">
                  <a:moveTo>
                    <a:pt x="0" y="0"/>
                  </a:moveTo>
                  <a:lnTo>
                    <a:pt x="5486400" y="0"/>
                  </a:lnTo>
                  <a:lnTo>
                    <a:pt x="5486400" y="768096"/>
                  </a:lnTo>
                  <a:lnTo>
                    <a:pt x="0" y="76809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9178" r="0" b="-89178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-47625"/>
              <a:ext cx="5486400" cy="81572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340"/>
                </a:lnSpc>
              </a:pPr>
              <a:r>
                <a:rPr lang="en-US" sz="195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PART 3 · MEMBER 3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685800" y="1440180"/>
            <a:ext cx="16911828" cy="960120"/>
            <a:chOff x="0" y="0"/>
            <a:chExt cx="22549104" cy="128016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2549104" cy="1280160"/>
            </a:xfrm>
            <a:custGeom>
              <a:avLst/>
              <a:gdLst/>
              <a:ahLst/>
              <a:cxnLst/>
              <a:rect r="r" b="b" t="t" l="l"/>
              <a:pathLst>
                <a:path h="1280160" w="22549104">
                  <a:moveTo>
                    <a:pt x="0" y="0"/>
                  </a:moveTo>
                  <a:lnTo>
                    <a:pt x="22549104" y="0"/>
                  </a:lnTo>
                  <a:lnTo>
                    <a:pt x="22549104" y="1280160"/>
                  </a:lnTo>
                  <a:lnTo>
                    <a:pt x="0" y="12801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93215" r="0" b="-293215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>
              <a:off x="0" y="-19050"/>
              <a:ext cx="22549104" cy="129921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400"/>
                </a:lnSpc>
              </a:pPr>
              <a:r>
                <a:rPr lang="en-US" sz="4500" b="true">
                  <a:solidFill>
                    <a:srgbClr val="222222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PPL Perspective — มุมมองเชิง Programming Language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10501998" y="3041205"/>
            <a:ext cx="5991137" cy="4840022"/>
            <a:chOff x="0" y="0"/>
            <a:chExt cx="358638" cy="289739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358638" cy="289739"/>
            </a:xfrm>
            <a:custGeom>
              <a:avLst/>
              <a:gdLst/>
              <a:ahLst/>
              <a:cxnLst/>
              <a:rect r="r" b="b" t="t" l="l"/>
              <a:pathLst>
                <a:path h="289739" w="358638">
                  <a:moveTo>
                    <a:pt x="358638" y="60735"/>
                  </a:moveTo>
                  <a:lnTo>
                    <a:pt x="358638" y="229004"/>
                  </a:lnTo>
                  <a:cubicBezTo>
                    <a:pt x="358638" y="245112"/>
                    <a:pt x="352239" y="260560"/>
                    <a:pt x="340849" y="271950"/>
                  </a:cubicBezTo>
                  <a:cubicBezTo>
                    <a:pt x="329459" y="283340"/>
                    <a:pt x="314011" y="289739"/>
                    <a:pt x="297903" y="289739"/>
                  </a:cubicBezTo>
                  <a:lnTo>
                    <a:pt x="60735" y="289739"/>
                  </a:lnTo>
                  <a:cubicBezTo>
                    <a:pt x="44627" y="289739"/>
                    <a:pt x="29179" y="283340"/>
                    <a:pt x="17789" y="271950"/>
                  </a:cubicBezTo>
                  <a:cubicBezTo>
                    <a:pt x="6399" y="260560"/>
                    <a:pt x="0" y="245112"/>
                    <a:pt x="0" y="229004"/>
                  </a:cubicBezTo>
                  <a:lnTo>
                    <a:pt x="0" y="60735"/>
                  </a:lnTo>
                  <a:cubicBezTo>
                    <a:pt x="0" y="44627"/>
                    <a:pt x="6399" y="29179"/>
                    <a:pt x="17789" y="17789"/>
                  </a:cubicBezTo>
                  <a:cubicBezTo>
                    <a:pt x="29179" y="6399"/>
                    <a:pt x="44627" y="0"/>
                    <a:pt x="60735" y="0"/>
                  </a:cubicBezTo>
                  <a:lnTo>
                    <a:pt x="297903" y="0"/>
                  </a:lnTo>
                  <a:cubicBezTo>
                    <a:pt x="314011" y="0"/>
                    <a:pt x="329459" y="6399"/>
                    <a:pt x="340849" y="17789"/>
                  </a:cubicBezTo>
                  <a:cubicBezTo>
                    <a:pt x="352239" y="29179"/>
                    <a:pt x="358638" y="44627"/>
                    <a:pt x="358638" y="60735"/>
                  </a:cubicBezTo>
                  <a:close/>
                </a:path>
              </a:pathLst>
            </a:custGeom>
            <a:solidFill>
              <a:srgbClr val="F7F0F0"/>
            </a:solidFill>
            <a:ln w="38100" cap="rnd">
              <a:solidFill>
                <a:srgbClr val="F7F0F0"/>
              </a:solidFill>
              <a:prstDash val="solid"/>
              <a:round/>
            </a:ln>
          </p:spPr>
        </p:sp>
        <p:sp>
          <p:nvSpPr>
            <p:cNvPr name="TextBox 12" id="12"/>
            <p:cNvSpPr txBox="true"/>
            <p:nvPr/>
          </p:nvSpPr>
          <p:spPr>
            <a:xfrm>
              <a:off x="0" y="-38100"/>
              <a:ext cx="358638" cy="32783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800"/>
                </a:lnSpc>
              </a:pP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2172731" y="3095838"/>
            <a:ext cx="7326389" cy="4056937"/>
            <a:chOff x="0" y="0"/>
            <a:chExt cx="438568" cy="242861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438568" cy="242861"/>
            </a:xfrm>
            <a:custGeom>
              <a:avLst/>
              <a:gdLst/>
              <a:ahLst/>
              <a:cxnLst/>
              <a:rect r="r" b="b" t="t" l="l"/>
              <a:pathLst>
                <a:path h="242861" w="438568">
                  <a:moveTo>
                    <a:pt x="438568" y="49666"/>
                  </a:moveTo>
                  <a:lnTo>
                    <a:pt x="438568" y="193195"/>
                  </a:lnTo>
                  <a:cubicBezTo>
                    <a:pt x="438568" y="206367"/>
                    <a:pt x="433335" y="219000"/>
                    <a:pt x="424021" y="228314"/>
                  </a:cubicBezTo>
                  <a:cubicBezTo>
                    <a:pt x="414707" y="237628"/>
                    <a:pt x="402074" y="242861"/>
                    <a:pt x="388902" y="242861"/>
                  </a:cubicBezTo>
                  <a:lnTo>
                    <a:pt x="49666" y="242861"/>
                  </a:lnTo>
                  <a:cubicBezTo>
                    <a:pt x="36494" y="242861"/>
                    <a:pt x="23861" y="237628"/>
                    <a:pt x="14547" y="228314"/>
                  </a:cubicBezTo>
                  <a:cubicBezTo>
                    <a:pt x="5233" y="219000"/>
                    <a:pt x="0" y="206367"/>
                    <a:pt x="0" y="193195"/>
                  </a:cubicBezTo>
                  <a:lnTo>
                    <a:pt x="0" y="49666"/>
                  </a:lnTo>
                  <a:cubicBezTo>
                    <a:pt x="0" y="36494"/>
                    <a:pt x="5233" y="23861"/>
                    <a:pt x="14547" y="14547"/>
                  </a:cubicBezTo>
                  <a:cubicBezTo>
                    <a:pt x="23861" y="5233"/>
                    <a:pt x="36494" y="0"/>
                    <a:pt x="49666" y="0"/>
                  </a:cubicBezTo>
                  <a:lnTo>
                    <a:pt x="388902" y="0"/>
                  </a:lnTo>
                  <a:cubicBezTo>
                    <a:pt x="402074" y="0"/>
                    <a:pt x="414707" y="5233"/>
                    <a:pt x="424021" y="14547"/>
                  </a:cubicBezTo>
                  <a:cubicBezTo>
                    <a:pt x="433335" y="23861"/>
                    <a:pt x="438568" y="36494"/>
                    <a:pt x="438568" y="49666"/>
                  </a:cubicBezTo>
                  <a:close/>
                </a:path>
              </a:pathLst>
            </a:custGeom>
            <a:solidFill>
              <a:srgbClr val="F7F0F0"/>
            </a:solidFill>
            <a:ln w="38100" cap="rnd">
              <a:solidFill>
                <a:srgbClr val="F7F0F0"/>
              </a:solidFill>
              <a:prstDash val="solid"/>
              <a:round/>
            </a:ln>
          </p:spPr>
        </p:sp>
        <p:sp>
          <p:nvSpPr>
            <p:cNvPr name="TextBox 15" id="15"/>
            <p:cNvSpPr txBox="true"/>
            <p:nvPr/>
          </p:nvSpPr>
          <p:spPr>
            <a:xfrm>
              <a:off x="0" y="-38100"/>
              <a:ext cx="438568" cy="28096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800"/>
                </a:lnSpc>
              </a:pP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685800" y="9710928"/>
            <a:ext cx="10972800" cy="411480"/>
            <a:chOff x="0" y="0"/>
            <a:chExt cx="14630400" cy="54864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14630400" cy="548640"/>
            </a:xfrm>
            <a:custGeom>
              <a:avLst/>
              <a:gdLst/>
              <a:ahLst/>
              <a:cxnLst/>
              <a:rect r="r" b="b" t="t" l="l"/>
              <a:pathLst>
                <a:path h="548640" w="14630400">
                  <a:moveTo>
                    <a:pt x="0" y="0"/>
                  </a:moveTo>
                  <a:lnTo>
                    <a:pt x="14630400" y="0"/>
                  </a:lnTo>
                  <a:lnTo>
                    <a:pt x="146304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69601" r="0" b="-469601"/>
              </a:stretch>
            </a:blipFill>
          </p:spPr>
        </p:sp>
        <p:sp>
          <p:nvSpPr>
            <p:cNvPr name="TextBox 18" id="18"/>
            <p:cNvSpPr txBox="true"/>
            <p:nvPr/>
          </p:nvSpPr>
          <p:spPr>
            <a:xfrm>
              <a:off x="0" y="-38100"/>
              <a:ext cx="14630400" cy="5867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00"/>
                </a:lnSpc>
              </a:pPr>
              <a:r>
                <a:rPr lang="en-US" sz="1500">
                  <a:solidFill>
                    <a:srgbClr val="6B6B6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517321 Principles of Programming Languages — Rust Tutorial</a:t>
              </a: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16911828" y="9710928"/>
            <a:ext cx="685800" cy="411480"/>
            <a:chOff x="0" y="0"/>
            <a:chExt cx="914400" cy="54864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914400" cy="548640"/>
            </a:xfrm>
            <a:custGeom>
              <a:avLst/>
              <a:gdLst/>
              <a:ahLst/>
              <a:cxnLst/>
              <a:rect r="r" b="b" t="t" l="l"/>
              <a:pathLst>
                <a:path h="548640" w="914400">
                  <a:moveTo>
                    <a:pt x="0" y="0"/>
                  </a:moveTo>
                  <a:lnTo>
                    <a:pt x="914400" y="0"/>
                  </a:lnTo>
                  <a:lnTo>
                    <a:pt x="9144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26982" t="0" r="-26982" b="0"/>
              </a:stretch>
            </a:blipFill>
          </p:spPr>
        </p:sp>
        <p:sp>
          <p:nvSpPr>
            <p:cNvPr name="TextBox 21" id="21"/>
            <p:cNvSpPr txBox="true"/>
            <p:nvPr/>
          </p:nvSpPr>
          <p:spPr>
            <a:xfrm>
              <a:off x="0" y="-38100"/>
              <a:ext cx="914400" cy="5867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800"/>
                </a:lnSpc>
              </a:pPr>
              <a:r>
                <a:rPr lang="en-US" sz="1500">
                  <a:solidFill>
                    <a:srgbClr val="6B6B6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6</a:t>
              </a:r>
            </a:p>
          </p:txBody>
        </p:sp>
      </p:grpSp>
      <p:sp>
        <p:nvSpPr>
          <p:cNvPr name="TextBox 22" id="22"/>
          <p:cNvSpPr txBox="true"/>
          <p:nvPr/>
        </p:nvSpPr>
        <p:spPr>
          <a:xfrm rot="0">
            <a:off x="10756956" y="3966434"/>
            <a:ext cx="5461008" cy="36474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10209" indent="-205105" lvl="1">
              <a:lnSpc>
                <a:spcPts val="2659"/>
              </a:lnSpc>
              <a:buFont typeface="Arial"/>
              <a:buChar char="•"/>
            </a:pPr>
            <a:r>
              <a:rPr lang="en-US" b="true" sz="1899">
                <a:solidFill>
                  <a:srgbClr val="8B2E2E"/>
                </a:solidFill>
                <a:latin typeface="Sarabun Bold"/>
                <a:ea typeface="Sarabun Bold"/>
                <a:cs typeface="Sarabun Bold"/>
                <a:sym typeface="Sarabun Bold"/>
              </a:rPr>
              <a:t>การมอง Error เป็นค่าข้อมูลทั่วไป</a:t>
            </a:r>
            <a:r>
              <a:rPr lang="en-US" sz="1899">
                <a:solidFill>
                  <a:srgbClr val="222222"/>
                </a:solidFill>
                <a:latin typeface="Sarabun"/>
                <a:ea typeface="Sarabun"/>
                <a:cs typeface="Sarabun"/>
                <a:sym typeface="Sarabun"/>
              </a:rPr>
              <a:t> ในการคืนค่าผ่าน Result&lt;T, E&gt; จะเหมือนข้อมูลปกติ จะไม่เกิดการกระโดดข้ามลำดับการทำงานไปมาเหมือน Exception ในภาษาอื่น</a:t>
            </a:r>
          </a:p>
          <a:p>
            <a:pPr algn="l" marL="410209" indent="-205105" lvl="1">
              <a:lnSpc>
                <a:spcPts val="2659"/>
              </a:lnSpc>
              <a:buFont typeface="Arial"/>
              <a:buChar char="•"/>
            </a:pPr>
            <a:r>
              <a:rPr lang="en-US" b="true" sz="1899">
                <a:solidFill>
                  <a:srgbClr val="8B2E2E"/>
                </a:solidFill>
                <a:latin typeface="Sarabun Bold"/>
                <a:ea typeface="Sarabun Bold"/>
                <a:cs typeface="Sarabun Bold"/>
                <a:sym typeface="Sarabun Bold"/>
              </a:rPr>
              <a:t>? Operator ทำงานแบบ Short-circuiting </a:t>
            </a:r>
            <a:r>
              <a:rPr lang="en-US" sz="1899">
                <a:solidFill>
                  <a:srgbClr val="1E1E1E"/>
                </a:solidFill>
                <a:latin typeface="Sarabun"/>
                <a:ea typeface="Sarabun"/>
                <a:cs typeface="Sarabun"/>
                <a:sym typeface="Sarabun"/>
              </a:rPr>
              <a:t>โดยจะแกะค่าเมื่อสำเร็จ หรือส่ง Error กลับทันทีเมื่อพบข้อผิดพลาด</a:t>
            </a:r>
          </a:p>
          <a:p>
            <a:pPr algn="l" marL="410209" indent="-205105" lvl="1">
              <a:lnSpc>
                <a:spcPts val="2659"/>
              </a:lnSpc>
              <a:buFont typeface="Arial"/>
              <a:buChar char="•"/>
            </a:pPr>
            <a:r>
              <a:rPr lang="en-US" b="true" sz="1899">
                <a:solidFill>
                  <a:srgbClr val="8B2E2E"/>
                </a:solidFill>
                <a:latin typeface="Sarabun Bold"/>
                <a:ea typeface="Sarabun Bold"/>
                <a:cs typeface="Sarabun Bold"/>
                <a:sym typeface="Sarabun Bold"/>
              </a:rPr>
              <a:t>การสั่งหยุดโปรแกรมด้วย panic! </a:t>
            </a:r>
            <a:r>
              <a:rPr lang="en-US" sz="1899">
                <a:solidFill>
                  <a:srgbClr val="1E1E1E"/>
                </a:solidFill>
                <a:latin typeface="Sarabun"/>
                <a:ea typeface="Sarabun"/>
                <a:cs typeface="Sarabun"/>
                <a:sym typeface="Sarabun"/>
              </a:rPr>
              <a:t>จะสั่งหยุดหน่วยการทำงานปัจจุบันทันทีเมื่อเกิดข้อผิดพลาดที่จัดการต่อไม่ได้ โดยระบบจะถอยย้อน Stack เพื่อเคลียร์ตัวแปรและคืนทรัพยากร ก่อนปิดการทำงานลง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2427689" y="4091236"/>
            <a:ext cx="6889318" cy="26473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10209" indent="-205105" lvl="1">
              <a:lnSpc>
                <a:spcPts val="2659"/>
              </a:lnSpc>
              <a:buFont typeface="Arial"/>
              <a:buChar char="•"/>
            </a:pPr>
            <a:r>
              <a:rPr lang="en-US" b="true" sz="1899">
                <a:solidFill>
                  <a:srgbClr val="8B2E2E"/>
                </a:solidFill>
                <a:latin typeface="Sarabun Bold"/>
                <a:ea typeface="Sarabun Bold"/>
                <a:cs typeface="Sarabun Bold"/>
                <a:sym typeface="Sarabun Bold"/>
              </a:rPr>
              <a:t>จัดการข้อผิดพลาดผ่านชนิดข้อมูล Option และ Result ซึ่งนิยามด้วย Enum และ Generic (&lt;T, E&gt;) </a:t>
            </a:r>
            <a:r>
              <a:rPr lang="en-US" sz="1899">
                <a:solidFill>
                  <a:srgbClr val="222222"/>
                </a:solidFill>
                <a:latin typeface="Sarabun"/>
                <a:ea typeface="Sarabun"/>
                <a:cs typeface="Sarabun"/>
                <a:sym typeface="Sarabun"/>
              </a:rPr>
              <a:t>โดยจะสร้างประเภทข้อมูลที่ยืดหยุ่น รองรับค่าสำเร็จและข้อผิดพลาดได้ทุกชนิด</a:t>
            </a:r>
          </a:p>
          <a:p>
            <a:pPr algn="l" marL="410209" indent="-205105" lvl="1">
              <a:lnSpc>
                <a:spcPts val="2659"/>
              </a:lnSpc>
              <a:buFont typeface="Arial"/>
              <a:buChar char="•"/>
            </a:pPr>
            <a:r>
              <a:rPr lang="en-US" b="true" sz="1899">
                <a:solidFill>
                  <a:srgbClr val="8B2E2E"/>
                </a:solidFill>
                <a:latin typeface="Sarabun Bold"/>
                <a:ea typeface="Sarabun Bold"/>
                <a:cs typeface="Sarabun Bold"/>
                <a:sym typeface="Sarabun Bold"/>
              </a:rPr>
              <a:t>แกะค่าด้วย Pattern Matching</a:t>
            </a:r>
            <a:r>
              <a:rPr lang="en-US" sz="1899">
                <a:solidFill>
                  <a:srgbClr val="222222"/>
                </a:solidFill>
                <a:latin typeface="Sarabun"/>
                <a:ea typeface="Sarabun"/>
                <a:cs typeface="Sarabun"/>
                <a:sym typeface="Sarabun"/>
              </a:rPr>
              <a:t> โดยใช้ match และ if let ในการเช็กข้อผิดพลาด และแกะค่าจาก Option หรือ Result</a:t>
            </a:r>
          </a:p>
          <a:p>
            <a:pPr algn="l" marL="410209" indent="-205105" lvl="1">
              <a:lnSpc>
                <a:spcPts val="2659"/>
              </a:lnSpc>
              <a:buFont typeface="Arial"/>
              <a:buChar char="•"/>
            </a:pPr>
            <a:r>
              <a:rPr lang="en-US" b="true" sz="1899">
                <a:solidFill>
                  <a:srgbClr val="8B2E2E"/>
                </a:solidFill>
                <a:latin typeface="Sarabun Bold"/>
                <a:ea typeface="Sarabun Bold"/>
                <a:cs typeface="Sarabun Bold"/>
                <a:sym typeface="Sarabun Bold"/>
              </a:rPr>
              <a:t>ส่งต่อข้อผิดพลาดด้วย ? Operator </a:t>
            </a:r>
            <a:r>
              <a:rPr lang="en-US" sz="1899">
                <a:solidFill>
                  <a:srgbClr val="1E1E1E"/>
                </a:solidFill>
                <a:latin typeface="Sarabun"/>
                <a:ea typeface="Sarabun"/>
                <a:cs typeface="Sarabun"/>
                <a:sym typeface="Sarabun"/>
              </a:rPr>
              <a:t>เป็นการย่อโค้ดแทน match เพื่อคืนค่าข้อผิดพลาดกลับให้อัตโนมัติทันที</a:t>
            </a:r>
          </a:p>
          <a:p>
            <a:pPr algn="l" marL="410209" indent="-205105" lvl="1">
              <a:lnSpc>
                <a:spcPts val="2659"/>
              </a:lnSpc>
              <a:buFont typeface="Arial"/>
              <a:buChar char="•"/>
            </a:pPr>
            <a:r>
              <a:rPr lang="en-US" b="true" sz="1899">
                <a:solidFill>
                  <a:srgbClr val="8B2E2E"/>
                </a:solidFill>
                <a:latin typeface="Sarabun Bold"/>
                <a:ea typeface="Sarabun Bold"/>
                <a:cs typeface="Sarabun Bold"/>
                <a:sym typeface="Sarabun Bold"/>
              </a:rPr>
              <a:t>การสั่งหยุดโปรแกรมด้วย panic! </a:t>
            </a:r>
          </a:p>
        </p:txBody>
      </p:sp>
      <p:grpSp>
        <p:nvGrpSpPr>
          <p:cNvPr name="Group 24" id="24"/>
          <p:cNvGrpSpPr/>
          <p:nvPr/>
        </p:nvGrpSpPr>
        <p:grpSpPr>
          <a:xfrm rot="0">
            <a:off x="2429975" y="3301578"/>
            <a:ext cx="1716317" cy="570582"/>
            <a:chOff x="0" y="0"/>
            <a:chExt cx="612590" cy="203659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612590" cy="203659"/>
            </a:xfrm>
            <a:custGeom>
              <a:avLst/>
              <a:gdLst/>
              <a:ahLst/>
              <a:cxnLst/>
              <a:rect r="r" b="b" t="t" l="l"/>
              <a:pathLst>
                <a:path h="203659" w="612590">
                  <a:moveTo>
                    <a:pt x="612590" y="101829"/>
                  </a:moveTo>
                  <a:lnTo>
                    <a:pt x="612590" y="101829"/>
                  </a:lnTo>
                  <a:cubicBezTo>
                    <a:pt x="612590" y="158068"/>
                    <a:pt x="566999" y="203659"/>
                    <a:pt x="510760" y="203659"/>
                  </a:cubicBezTo>
                  <a:lnTo>
                    <a:pt x="101829" y="203659"/>
                  </a:lnTo>
                  <a:cubicBezTo>
                    <a:pt x="45591" y="203659"/>
                    <a:pt x="0" y="158068"/>
                    <a:pt x="0" y="101829"/>
                  </a:cubicBezTo>
                  <a:lnTo>
                    <a:pt x="0" y="101829"/>
                  </a:lnTo>
                  <a:cubicBezTo>
                    <a:pt x="0" y="45591"/>
                    <a:pt x="45591" y="0"/>
                    <a:pt x="101829" y="0"/>
                  </a:cubicBezTo>
                  <a:lnTo>
                    <a:pt x="510760" y="0"/>
                  </a:lnTo>
                  <a:cubicBezTo>
                    <a:pt x="537767" y="0"/>
                    <a:pt x="563668" y="10728"/>
                    <a:pt x="582765" y="29825"/>
                  </a:cubicBezTo>
                  <a:cubicBezTo>
                    <a:pt x="601861" y="48922"/>
                    <a:pt x="612590" y="74823"/>
                    <a:pt x="612590" y="101829"/>
                  </a:cubicBezTo>
                  <a:close/>
                </a:path>
              </a:pathLst>
            </a:custGeom>
            <a:solidFill>
              <a:srgbClr val="8B2E2E"/>
            </a:solidFill>
          </p:spPr>
        </p:sp>
        <p:sp>
          <p:nvSpPr>
            <p:cNvPr name="TextBox 26" id="26"/>
            <p:cNvSpPr txBox="true"/>
            <p:nvPr/>
          </p:nvSpPr>
          <p:spPr>
            <a:xfrm>
              <a:off x="0" y="-38100"/>
              <a:ext cx="612590" cy="24175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800"/>
                </a:lnSpc>
              </a:pPr>
            </a:p>
          </p:txBody>
        </p:sp>
      </p:grpSp>
      <p:sp>
        <p:nvSpPr>
          <p:cNvPr name="TextBox 27" id="27"/>
          <p:cNvSpPr txBox="true"/>
          <p:nvPr/>
        </p:nvSpPr>
        <p:spPr>
          <a:xfrm rot="0">
            <a:off x="2769055" y="3380636"/>
            <a:ext cx="1038157" cy="390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19"/>
              </a:lnSpc>
            </a:pPr>
            <a:r>
              <a:rPr lang="en-US" b="true" sz="2599">
                <a:solidFill>
                  <a:srgbClr val="FFFFFF"/>
                </a:solidFill>
                <a:latin typeface="Sarabun Bold"/>
                <a:ea typeface="Sarabun Bold"/>
                <a:cs typeface="Sarabun Bold"/>
                <a:sym typeface="Sarabun Bold"/>
              </a:rPr>
              <a:t>Syntax</a:t>
            </a:r>
          </a:p>
        </p:txBody>
      </p:sp>
      <p:grpSp>
        <p:nvGrpSpPr>
          <p:cNvPr name="Group 28" id="28"/>
          <p:cNvGrpSpPr/>
          <p:nvPr/>
        </p:nvGrpSpPr>
        <p:grpSpPr>
          <a:xfrm rot="0">
            <a:off x="10759242" y="3246945"/>
            <a:ext cx="2189811" cy="570582"/>
            <a:chOff x="0" y="0"/>
            <a:chExt cx="781590" cy="203659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781590" cy="203659"/>
            </a:xfrm>
            <a:custGeom>
              <a:avLst/>
              <a:gdLst/>
              <a:ahLst/>
              <a:cxnLst/>
              <a:rect r="r" b="b" t="t" l="l"/>
              <a:pathLst>
                <a:path h="203659" w="781590">
                  <a:moveTo>
                    <a:pt x="781590" y="101829"/>
                  </a:moveTo>
                  <a:lnTo>
                    <a:pt x="781590" y="101829"/>
                  </a:lnTo>
                  <a:cubicBezTo>
                    <a:pt x="781590" y="128836"/>
                    <a:pt x="770861" y="154737"/>
                    <a:pt x="751764" y="173834"/>
                  </a:cubicBezTo>
                  <a:cubicBezTo>
                    <a:pt x="732668" y="192930"/>
                    <a:pt x="706767" y="203659"/>
                    <a:pt x="679760" y="203659"/>
                  </a:cubicBezTo>
                  <a:lnTo>
                    <a:pt x="101829" y="203659"/>
                  </a:lnTo>
                  <a:cubicBezTo>
                    <a:pt x="45591" y="203659"/>
                    <a:pt x="0" y="158068"/>
                    <a:pt x="0" y="101829"/>
                  </a:cubicBezTo>
                  <a:lnTo>
                    <a:pt x="0" y="101829"/>
                  </a:lnTo>
                  <a:cubicBezTo>
                    <a:pt x="0" y="45591"/>
                    <a:pt x="45591" y="0"/>
                    <a:pt x="101829" y="0"/>
                  </a:cubicBezTo>
                  <a:lnTo>
                    <a:pt x="679760" y="0"/>
                  </a:lnTo>
                  <a:cubicBezTo>
                    <a:pt x="735999" y="0"/>
                    <a:pt x="781590" y="45591"/>
                    <a:pt x="781590" y="101829"/>
                  </a:cubicBezTo>
                  <a:close/>
                </a:path>
              </a:pathLst>
            </a:custGeom>
            <a:solidFill>
              <a:srgbClr val="8B2E2E"/>
            </a:solidFill>
          </p:spPr>
        </p:sp>
        <p:sp>
          <p:nvSpPr>
            <p:cNvPr name="TextBox 30" id="30"/>
            <p:cNvSpPr txBox="true"/>
            <p:nvPr/>
          </p:nvSpPr>
          <p:spPr>
            <a:xfrm>
              <a:off x="0" y="-38100"/>
              <a:ext cx="781590" cy="24175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800"/>
                </a:lnSpc>
              </a:pPr>
            </a:p>
          </p:txBody>
        </p:sp>
      </p:grpSp>
      <p:sp>
        <p:nvSpPr>
          <p:cNvPr name="TextBox 31" id="31"/>
          <p:cNvSpPr txBox="true"/>
          <p:nvPr/>
        </p:nvSpPr>
        <p:spPr>
          <a:xfrm rot="0">
            <a:off x="11098321" y="3326002"/>
            <a:ext cx="2317861" cy="390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19"/>
              </a:lnSpc>
            </a:pPr>
            <a:r>
              <a:rPr lang="en-US" b="true" sz="2599">
                <a:solidFill>
                  <a:srgbClr val="FFFFFF"/>
                </a:solidFill>
                <a:latin typeface="Sarabun Bold"/>
                <a:ea typeface="Sarabun Bold"/>
                <a:cs typeface="Sarabun Bold"/>
                <a:sym typeface="Sarabun Bold"/>
              </a:rPr>
              <a:t>Semantics</a:t>
            </a:r>
          </a:p>
        </p:txBody>
      </p:sp>
    </p:spTree>
  </p:cSld>
  <p:clrMapOvr>
    <a:masterClrMapping/>
  </p:clrMapOvr>
  <p:transition spd="fast">
    <p:wipe dir="l"/>
  </p:transition>
</p:sld>
</file>

<file path=ppt/slides/slide2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685800" y="617220"/>
            <a:ext cx="4114800" cy="576072"/>
            <a:chOff x="0" y="0"/>
            <a:chExt cx="5486400" cy="76809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5486400" cy="768096"/>
            </a:xfrm>
            <a:custGeom>
              <a:avLst/>
              <a:gdLst/>
              <a:ahLst/>
              <a:cxnLst/>
              <a:rect r="r" b="b" t="t" l="l"/>
              <a:pathLst>
                <a:path h="768096" w="5486400">
                  <a:moveTo>
                    <a:pt x="0" y="146304"/>
                  </a:moveTo>
                  <a:cubicBezTo>
                    <a:pt x="0" y="65532"/>
                    <a:pt x="65532" y="0"/>
                    <a:pt x="146304" y="0"/>
                  </a:cubicBezTo>
                  <a:lnTo>
                    <a:pt x="5340096" y="0"/>
                  </a:lnTo>
                  <a:cubicBezTo>
                    <a:pt x="5420868" y="0"/>
                    <a:pt x="5486400" y="65532"/>
                    <a:pt x="5486400" y="146304"/>
                  </a:cubicBezTo>
                  <a:lnTo>
                    <a:pt x="5486400" y="621792"/>
                  </a:lnTo>
                  <a:cubicBezTo>
                    <a:pt x="5486400" y="702564"/>
                    <a:pt x="5420868" y="768096"/>
                    <a:pt x="5340096" y="768096"/>
                  </a:cubicBezTo>
                  <a:lnTo>
                    <a:pt x="146304" y="768096"/>
                  </a:lnTo>
                  <a:cubicBezTo>
                    <a:pt x="65532" y="768096"/>
                    <a:pt x="0" y="702564"/>
                    <a:pt x="0" y="621792"/>
                  </a:cubicBezTo>
                  <a:close/>
                </a:path>
              </a:pathLst>
            </a:custGeom>
            <a:solidFill>
              <a:srgbClr val="8B2E2E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685800" y="617220"/>
            <a:ext cx="4114800" cy="576072"/>
            <a:chOff x="0" y="0"/>
            <a:chExt cx="5486400" cy="768096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5486400" cy="768096"/>
            </a:xfrm>
            <a:custGeom>
              <a:avLst/>
              <a:gdLst/>
              <a:ahLst/>
              <a:cxnLst/>
              <a:rect r="r" b="b" t="t" l="l"/>
              <a:pathLst>
                <a:path h="768096" w="5486400">
                  <a:moveTo>
                    <a:pt x="0" y="0"/>
                  </a:moveTo>
                  <a:lnTo>
                    <a:pt x="5486400" y="0"/>
                  </a:lnTo>
                  <a:lnTo>
                    <a:pt x="5486400" y="768096"/>
                  </a:lnTo>
                  <a:lnTo>
                    <a:pt x="0" y="76809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9178" r="0" b="-89178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-47625"/>
              <a:ext cx="5486400" cy="81572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340"/>
                </a:lnSpc>
              </a:pPr>
              <a:r>
                <a:rPr lang="en-US" sz="195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PART 3 · MEMBER 3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685800" y="1440180"/>
            <a:ext cx="16911828" cy="960120"/>
            <a:chOff x="0" y="0"/>
            <a:chExt cx="22549104" cy="128016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2549104" cy="1280160"/>
            </a:xfrm>
            <a:custGeom>
              <a:avLst/>
              <a:gdLst/>
              <a:ahLst/>
              <a:cxnLst/>
              <a:rect r="r" b="b" t="t" l="l"/>
              <a:pathLst>
                <a:path h="1280160" w="22549104">
                  <a:moveTo>
                    <a:pt x="0" y="0"/>
                  </a:moveTo>
                  <a:lnTo>
                    <a:pt x="22549104" y="0"/>
                  </a:lnTo>
                  <a:lnTo>
                    <a:pt x="22549104" y="1280160"/>
                  </a:lnTo>
                  <a:lnTo>
                    <a:pt x="0" y="12801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93215" r="0" b="-293215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>
              <a:off x="0" y="-19050"/>
              <a:ext cx="22549104" cy="129921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400"/>
                </a:lnSpc>
              </a:pPr>
              <a:r>
                <a:rPr lang="en-US" sz="4500" b="true">
                  <a:solidFill>
                    <a:srgbClr val="222222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PPL Perspective — มุมมองเชิง Programming Language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1843067" y="3123476"/>
            <a:ext cx="5434881" cy="3710280"/>
            <a:chOff x="0" y="0"/>
            <a:chExt cx="414664" cy="283091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414664" cy="283091"/>
            </a:xfrm>
            <a:custGeom>
              <a:avLst/>
              <a:gdLst/>
              <a:ahLst/>
              <a:cxnLst/>
              <a:rect r="r" b="b" t="t" l="l"/>
              <a:pathLst>
                <a:path h="283091" w="414664">
                  <a:moveTo>
                    <a:pt x="414664" y="66951"/>
                  </a:moveTo>
                  <a:lnTo>
                    <a:pt x="414664" y="216140"/>
                  </a:lnTo>
                  <a:cubicBezTo>
                    <a:pt x="414664" y="233896"/>
                    <a:pt x="407610" y="250925"/>
                    <a:pt x="395054" y="263481"/>
                  </a:cubicBezTo>
                  <a:cubicBezTo>
                    <a:pt x="382499" y="276037"/>
                    <a:pt x="365469" y="283091"/>
                    <a:pt x="347713" y="283091"/>
                  </a:cubicBezTo>
                  <a:lnTo>
                    <a:pt x="66951" y="283091"/>
                  </a:lnTo>
                  <a:cubicBezTo>
                    <a:pt x="49194" y="283091"/>
                    <a:pt x="32165" y="276037"/>
                    <a:pt x="19609" y="263481"/>
                  </a:cubicBezTo>
                  <a:cubicBezTo>
                    <a:pt x="7054" y="250925"/>
                    <a:pt x="0" y="233896"/>
                    <a:pt x="0" y="216140"/>
                  </a:cubicBezTo>
                  <a:lnTo>
                    <a:pt x="0" y="66951"/>
                  </a:lnTo>
                  <a:cubicBezTo>
                    <a:pt x="0" y="49194"/>
                    <a:pt x="7054" y="32165"/>
                    <a:pt x="19609" y="19609"/>
                  </a:cubicBezTo>
                  <a:cubicBezTo>
                    <a:pt x="32165" y="7054"/>
                    <a:pt x="49194" y="0"/>
                    <a:pt x="66951" y="0"/>
                  </a:cubicBezTo>
                  <a:lnTo>
                    <a:pt x="347713" y="0"/>
                  </a:lnTo>
                  <a:cubicBezTo>
                    <a:pt x="365469" y="0"/>
                    <a:pt x="382499" y="7054"/>
                    <a:pt x="395054" y="19609"/>
                  </a:cubicBezTo>
                  <a:cubicBezTo>
                    <a:pt x="407610" y="32165"/>
                    <a:pt x="414664" y="49194"/>
                    <a:pt x="414664" y="66951"/>
                  </a:cubicBezTo>
                  <a:close/>
                </a:path>
              </a:pathLst>
            </a:custGeom>
            <a:solidFill>
              <a:srgbClr val="F7F0F0"/>
            </a:solidFill>
            <a:ln w="38100" cap="rnd">
              <a:solidFill>
                <a:srgbClr val="F7F0F0"/>
              </a:solidFill>
              <a:prstDash val="solid"/>
              <a:round/>
            </a:ln>
          </p:spPr>
        </p:sp>
        <p:sp>
          <p:nvSpPr>
            <p:cNvPr name="TextBox 12" id="12"/>
            <p:cNvSpPr txBox="true"/>
            <p:nvPr/>
          </p:nvSpPr>
          <p:spPr>
            <a:xfrm>
              <a:off x="0" y="-38100"/>
              <a:ext cx="414664" cy="32119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800"/>
                </a:lnSpc>
              </a:pP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685800" y="9710928"/>
            <a:ext cx="10972800" cy="411480"/>
            <a:chOff x="0" y="0"/>
            <a:chExt cx="14630400" cy="54864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4630400" cy="548640"/>
            </a:xfrm>
            <a:custGeom>
              <a:avLst/>
              <a:gdLst/>
              <a:ahLst/>
              <a:cxnLst/>
              <a:rect r="r" b="b" t="t" l="l"/>
              <a:pathLst>
                <a:path h="548640" w="14630400">
                  <a:moveTo>
                    <a:pt x="0" y="0"/>
                  </a:moveTo>
                  <a:lnTo>
                    <a:pt x="14630400" y="0"/>
                  </a:lnTo>
                  <a:lnTo>
                    <a:pt x="146304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69601" r="0" b="-469601"/>
              </a:stretch>
            </a:blip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38100"/>
              <a:ext cx="14630400" cy="5867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00"/>
                </a:lnSpc>
              </a:pPr>
              <a:r>
                <a:rPr lang="en-US" sz="1500">
                  <a:solidFill>
                    <a:srgbClr val="6B6B6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517321 Principles of Programming Languages — Rust Tutorial</a:t>
              </a: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16911828" y="9710928"/>
            <a:ext cx="685800" cy="411480"/>
            <a:chOff x="0" y="0"/>
            <a:chExt cx="914400" cy="54864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914400" cy="548640"/>
            </a:xfrm>
            <a:custGeom>
              <a:avLst/>
              <a:gdLst/>
              <a:ahLst/>
              <a:cxnLst/>
              <a:rect r="r" b="b" t="t" l="l"/>
              <a:pathLst>
                <a:path h="548640" w="914400">
                  <a:moveTo>
                    <a:pt x="0" y="0"/>
                  </a:moveTo>
                  <a:lnTo>
                    <a:pt x="914400" y="0"/>
                  </a:lnTo>
                  <a:lnTo>
                    <a:pt x="9144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26982" t="0" r="-26982" b="0"/>
              </a:stretch>
            </a:blipFill>
          </p:spPr>
        </p:sp>
        <p:sp>
          <p:nvSpPr>
            <p:cNvPr name="TextBox 18" id="18"/>
            <p:cNvSpPr txBox="true"/>
            <p:nvPr/>
          </p:nvSpPr>
          <p:spPr>
            <a:xfrm>
              <a:off x="0" y="-38100"/>
              <a:ext cx="914400" cy="5867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800"/>
                </a:lnSpc>
              </a:pPr>
              <a:r>
                <a:rPr lang="en-US" sz="1500">
                  <a:solidFill>
                    <a:srgbClr val="6B6B6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6</a:t>
              </a:r>
            </a:p>
          </p:txBody>
        </p:sp>
      </p:grpSp>
      <p:sp>
        <p:nvSpPr>
          <p:cNvPr name="TextBox 19" id="19"/>
          <p:cNvSpPr txBox="true"/>
          <p:nvPr/>
        </p:nvSpPr>
        <p:spPr>
          <a:xfrm rot="0">
            <a:off x="2185967" y="4118874"/>
            <a:ext cx="4768980" cy="23139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10209" indent="-205105" lvl="1">
              <a:lnSpc>
                <a:spcPts val="2659"/>
              </a:lnSpc>
              <a:buFont typeface="Arial"/>
              <a:buChar char="•"/>
            </a:pPr>
            <a:r>
              <a:rPr lang="en-US" b="true" sz="1899">
                <a:solidFill>
                  <a:srgbClr val="8B2E2E"/>
                </a:solidFill>
                <a:latin typeface="Sarabun Bold"/>
                <a:ea typeface="Sarabun Bold"/>
                <a:cs typeface="Sarabun Bold"/>
                <a:sym typeface="Sarabun Bold"/>
              </a:rPr>
              <a:t>แยกข้อมูลที่มีค่ากับค่าว่างออกจากกันชัดเจน</a:t>
            </a:r>
            <a:r>
              <a:rPr lang="en-US" b="true" sz="1899">
                <a:solidFill>
                  <a:srgbClr val="222222"/>
                </a:solidFill>
                <a:latin typeface="Sarabun Bold"/>
                <a:ea typeface="Sarabun Bold"/>
                <a:cs typeface="Sarabun Bold"/>
                <a:sym typeface="Sarabun Bold"/>
              </a:rPr>
              <a:t> </a:t>
            </a:r>
            <a:r>
              <a:rPr lang="en-US" sz="1899">
                <a:solidFill>
                  <a:srgbClr val="222222"/>
                </a:solidFill>
                <a:latin typeface="Sarabun"/>
                <a:ea typeface="Sarabun"/>
                <a:cs typeface="Sarabun"/>
                <a:sym typeface="Sarabun"/>
              </a:rPr>
              <a:t>โดยจัดการค่าว่างด้วย Option&lt;T&gt; </a:t>
            </a:r>
          </a:p>
          <a:p>
            <a:pPr algn="l" marL="410209" indent="-205105" lvl="1">
              <a:lnSpc>
                <a:spcPts val="2659"/>
              </a:lnSpc>
              <a:buFont typeface="Arial"/>
              <a:buChar char="•"/>
            </a:pPr>
            <a:r>
              <a:rPr lang="en-US" b="true" sz="1899">
                <a:solidFill>
                  <a:srgbClr val="8B2E2E"/>
                </a:solidFill>
                <a:latin typeface="Sarabun Bold"/>
                <a:ea typeface="Sarabun Bold"/>
                <a:cs typeface="Sarabun Bold"/>
                <a:sym typeface="Sarabun Bold"/>
              </a:rPr>
              <a:t>ตัวแปรจะอยู่ในสถานะใดสถานะหนึ่งได้เพียงอย่างเดียวในขณะนั้น</a:t>
            </a:r>
            <a:r>
              <a:rPr lang="en-US" sz="1899">
                <a:solidFill>
                  <a:srgbClr val="222222"/>
                </a:solidFill>
                <a:latin typeface="Sarabun"/>
                <a:ea typeface="Sarabun"/>
                <a:cs typeface="Sarabun"/>
                <a:sym typeface="Sarabun"/>
              </a:rPr>
              <a:t> เช่น Option (Some หรือ None) และ Result (Ok หรือ Err)</a:t>
            </a:r>
          </a:p>
          <a:p>
            <a:pPr algn="l" marL="410209" indent="-205105" lvl="1">
              <a:lnSpc>
                <a:spcPts val="2659"/>
              </a:lnSpc>
              <a:buFont typeface="Arial"/>
              <a:buChar char="•"/>
            </a:pPr>
            <a:r>
              <a:rPr lang="en-US" b="true" sz="1899">
                <a:solidFill>
                  <a:srgbClr val="8B2E2E"/>
                </a:solidFill>
                <a:latin typeface="Sarabun Bold"/>
                <a:ea typeface="Sarabun Bold"/>
                <a:cs typeface="Sarabun Bold"/>
                <a:sym typeface="Sarabun Bold"/>
              </a:rPr>
              <a:t>บังคับให้จัดการผลลัพธ์ด้วย #[must_use]</a:t>
            </a:r>
            <a:r>
              <a:rPr lang="en-US" sz="1899">
                <a:solidFill>
                  <a:srgbClr val="222222"/>
                </a:solidFill>
                <a:latin typeface="Sarabun"/>
                <a:ea typeface="Sarabun"/>
                <a:cs typeface="Sarabun"/>
                <a:sym typeface="Sarabun"/>
              </a:rPr>
              <a:t> ถ้าละเลยคอมไพเลอร์จะแจ้งเตือนทันที</a:t>
            </a:r>
          </a:p>
        </p:txBody>
      </p:sp>
      <p:grpSp>
        <p:nvGrpSpPr>
          <p:cNvPr name="Group 20" id="20"/>
          <p:cNvGrpSpPr/>
          <p:nvPr/>
        </p:nvGrpSpPr>
        <p:grpSpPr>
          <a:xfrm rot="0">
            <a:off x="2098025" y="3329216"/>
            <a:ext cx="2517614" cy="570582"/>
            <a:chOff x="0" y="0"/>
            <a:chExt cx="898589" cy="203659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898589" cy="203659"/>
            </a:xfrm>
            <a:custGeom>
              <a:avLst/>
              <a:gdLst/>
              <a:ahLst/>
              <a:cxnLst/>
              <a:rect r="r" b="b" t="t" l="l"/>
              <a:pathLst>
                <a:path h="203659" w="898589">
                  <a:moveTo>
                    <a:pt x="898589" y="101829"/>
                  </a:moveTo>
                  <a:lnTo>
                    <a:pt x="898589" y="101829"/>
                  </a:lnTo>
                  <a:cubicBezTo>
                    <a:pt x="898589" y="128836"/>
                    <a:pt x="887861" y="154737"/>
                    <a:pt x="868764" y="173834"/>
                  </a:cubicBezTo>
                  <a:cubicBezTo>
                    <a:pt x="849668" y="192930"/>
                    <a:pt x="823767" y="203659"/>
                    <a:pt x="796760" y="203659"/>
                  </a:cubicBezTo>
                  <a:lnTo>
                    <a:pt x="101829" y="203659"/>
                  </a:lnTo>
                  <a:cubicBezTo>
                    <a:pt x="45591" y="203659"/>
                    <a:pt x="0" y="158068"/>
                    <a:pt x="0" y="101829"/>
                  </a:cubicBezTo>
                  <a:lnTo>
                    <a:pt x="0" y="101829"/>
                  </a:lnTo>
                  <a:cubicBezTo>
                    <a:pt x="0" y="45591"/>
                    <a:pt x="45591" y="0"/>
                    <a:pt x="101829" y="0"/>
                  </a:cubicBezTo>
                  <a:lnTo>
                    <a:pt x="796760" y="0"/>
                  </a:lnTo>
                  <a:cubicBezTo>
                    <a:pt x="852999" y="0"/>
                    <a:pt x="898589" y="45591"/>
                    <a:pt x="898589" y="101829"/>
                  </a:cubicBezTo>
                  <a:close/>
                </a:path>
              </a:pathLst>
            </a:custGeom>
            <a:solidFill>
              <a:srgbClr val="8B2E2E"/>
            </a:solid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38100"/>
              <a:ext cx="898589" cy="24175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800"/>
                </a:lnSpc>
              </a:pPr>
            </a:p>
          </p:txBody>
        </p:sp>
      </p:grpSp>
      <p:sp>
        <p:nvSpPr>
          <p:cNvPr name="TextBox 23" id="23"/>
          <p:cNvSpPr txBox="true"/>
          <p:nvPr/>
        </p:nvSpPr>
        <p:spPr>
          <a:xfrm rot="0">
            <a:off x="2437105" y="3408274"/>
            <a:ext cx="2367581" cy="390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19"/>
              </a:lnSpc>
            </a:pPr>
            <a:r>
              <a:rPr lang="en-US" b="true" sz="2599">
                <a:solidFill>
                  <a:srgbClr val="FFFFFF"/>
                </a:solidFill>
                <a:latin typeface="Sarabun Bold"/>
                <a:ea typeface="Sarabun Bold"/>
                <a:cs typeface="Sarabun Bold"/>
                <a:sym typeface="Sarabun Bold"/>
              </a:rPr>
              <a:t>Type System</a:t>
            </a:r>
          </a:p>
        </p:txBody>
      </p:sp>
      <p:grpSp>
        <p:nvGrpSpPr>
          <p:cNvPr name="Group 24" id="24"/>
          <p:cNvGrpSpPr/>
          <p:nvPr/>
        </p:nvGrpSpPr>
        <p:grpSpPr>
          <a:xfrm rot="0">
            <a:off x="8187304" y="3123476"/>
            <a:ext cx="8257630" cy="4917151"/>
            <a:chOff x="0" y="0"/>
            <a:chExt cx="630030" cy="375174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630030" cy="375174"/>
            </a:xfrm>
            <a:custGeom>
              <a:avLst/>
              <a:gdLst/>
              <a:ahLst/>
              <a:cxnLst/>
              <a:rect r="r" b="b" t="t" l="l"/>
              <a:pathLst>
                <a:path h="375174" w="630030">
                  <a:moveTo>
                    <a:pt x="630030" y="44065"/>
                  </a:moveTo>
                  <a:lnTo>
                    <a:pt x="630030" y="331109"/>
                  </a:lnTo>
                  <a:cubicBezTo>
                    <a:pt x="630030" y="342796"/>
                    <a:pt x="625388" y="354004"/>
                    <a:pt x="617124" y="362267"/>
                  </a:cubicBezTo>
                  <a:cubicBezTo>
                    <a:pt x="608860" y="370531"/>
                    <a:pt x="597652" y="375174"/>
                    <a:pt x="585966" y="375174"/>
                  </a:cubicBezTo>
                  <a:lnTo>
                    <a:pt x="44065" y="375174"/>
                  </a:lnTo>
                  <a:cubicBezTo>
                    <a:pt x="19728" y="375174"/>
                    <a:pt x="0" y="355445"/>
                    <a:pt x="0" y="331109"/>
                  </a:cubicBezTo>
                  <a:lnTo>
                    <a:pt x="0" y="44065"/>
                  </a:lnTo>
                  <a:cubicBezTo>
                    <a:pt x="0" y="19728"/>
                    <a:pt x="19728" y="0"/>
                    <a:pt x="44065" y="0"/>
                  </a:cubicBezTo>
                  <a:lnTo>
                    <a:pt x="585966" y="0"/>
                  </a:lnTo>
                  <a:cubicBezTo>
                    <a:pt x="610302" y="0"/>
                    <a:pt x="630030" y="19728"/>
                    <a:pt x="630030" y="44065"/>
                  </a:cubicBezTo>
                  <a:close/>
                </a:path>
              </a:pathLst>
            </a:custGeom>
            <a:solidFill>
              <a:srgbClr val="F7F0F0"/>
            </a:solidFill>
            <a:ln w="38100" cap="rnd">
              <a:solidFill>
                <a:srgbClr val="F7F0F0"/>
              </a:solidFill>
              <a:prstDash val="solid"/>
              <a:round/>
            </a:ln>
          </p:spPr>
        </p:sp>
        <p:sp>
          <p:nvSpPr>
            <p:cNvPr name="TextBox 26" id="26"/>
            <p:cNvSpPr txBox="true"/>
            <p:nvPr/>
          </p:nvSpPr>
          <p:spPr>
            <a:xfrm>
              <a:off x="0" y="-38100"/>
              <a:ext cx="630030" cy="41327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800"/>
                </a:lnSpc>
              </a:pPr>
            </a:p>
          </p:txBody>
        </p:sp>
      </p:grpSp>
      <p:grpSp>
        <p:nvGrpSpPr>
          <p:cNvPr name="Group 27" id="27"/>
          <p:cNvGrpSpPr/>
          <p:nvPr/>
        </p:nvGrpSpPr>
        <p:grpSpPr>
          <a:xfrm rot="0">
            <a:off x="8442262" y="3329216"/>
            <a:ext cx="3628502" cy="570582"/>
            <a:chOff x="0" y="0"/>
            <a:chExt cx="1295089" cy="203659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1295089" cy="203659"/>
            </a:xfrm>
            <a:custGeom>
              <a:avLst/>
              <a:gdLst/>
              <a:ahLst/>
              <a:cxnLst/>
              <a:rect r="r" b="b" t="t" l="l"/>
              <a:pathLst>
                <a:path h="203659" w="1295089">
                  <a:moveTo>
                    <a:pt x="1295089" y="101829"/>
                  </a:moveTo>
                  <a:lnTo>
                    <a:pt x="1295089" y="101829"/>
                  </a:lnTo>
                  <a:cubicBezTo>
                    <a:pt x="1295089" y="158068"/>
                    <a:pt x="1249498" y="203659"/>
                    <a:pt x="1193260" y="203659"/>
                  </a:cubicBezTo>
                  <a:lnTo>
                    <a:pt x="101829" y="203659"/>
                  </a:lnTo>
                  <a:cubicBezTo>
                    <a:pt x="45591" y="203659"/>
                    <a:pt x="0" y="158068"/>
                    <a:pt x="0" y="101829"/>
                  </a:cubicBezTo>
                  <a:lnTo>
                    <a:pt x="0" y="101829"/>
                  </a:lnTo>
                  <a:cubicBezTo>
                    <a:pt x="0" y="45591"/>
                    <a:pt x="45591" y="0"/>
                    <a:pt x="101829" y="0"/>
                  </a:cubicBezTo>
                  <a:lnTo>
                    <a:pt x="1193260" y="0"/>
                  </a:lnTo>
                  <a:cubicBezTo>
                    <a:pt x="1249498" y="0"/>
                    <a:pt x="1295089" y="45591"/>
                    <a:pt x="1295089" y="101829"/>
                  </a:cubicBezTo>
                  <a:close/>
                </a:path>
              </a:pathLst>
            </a:custGeom>
            <a:solidFill>
              <a:srgbClr val="8B2E2E"/>
            </a:solidFill>
          </p:spPr>
        </p:sp>
        <p:sp>
          <p:nvSpPr>
            <p:cNvPr name="TextBox 29" id="29"/>
            <p:cNvSpPr txBox="true"/>
            <p:nvPr/>
          </p:nvSpPr>
          <p:spPr>
            <a:xfrm>
              <a:off x="0" y="-38100"/>
              <a:ext cx="1295089" cy="24175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800"/>
                </a:lnSpc>
              </a:pPr>
            </a:p>
          </p:txBody>
        </p:sp>
      </p:grpSp>
      <p:sp>
        <p:nvSpPr>
          <p:cNvPr name="TextBox 30" id="30"/>
          <p:cNvSpPr txBox="true"/>
          <p:nvPr/>
        </p:nvSpPr>
        <p:spPr>
          <a:xfrm rot="0">
            <a:off x="8781341" y="3408274"/>
            <a:ext cx="3678794" cy="390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19"/>
              </a:lnSpc>
            </a:pPr>
            <a:r>
              <a:rPr lang="en-US" b="true" sz="2599">
                <a:solidFill>
                  <a:srgbClr val="FFFFFF"/>
                </a:solidFill>
                <a:latin typeface="Sarabun Bold"/>
                <a:ea typeface="Sarabun Bold"/>
                <a:cs typeface="Sarabun Bold"/>
                <a:sym typeface="Sarabun Bold"/>
              </a:rPr>
              <a:t>Memory / Resource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8442262" y="4118874"/>
            <a:ext cx="7802348" cy="36474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10209" indent="-205105" lvl="1">
              <a:lnSpc>
                <a:spcPts val="2659"/>
              </a:lnSpc>
              <a:buFont typeface="Arial"/>
              <a:buChar char="•"/>
            </a:pPr>
            <a:r>
              <a:rPr lang="en-US" b="true" sz="1899">
                <a:solidFill>
                  <a:srgbClr val="8B2E2E"/>
                </a:solidFill>
                <a:latin typeface="Sarabun Bold"/>
                <a:ea typeface="Sarabun Bold"/>
                <a:cs typeface="Sarabun Bold"/>
                <a:sym typeface="Sarabun Bold"/>
              </a:rPr>
              <a:t>คืนหน่วยความจำด้วย Ownership</a:t>
            </a:r>
            <a:r>
              <a:rPr lang="en-US" sz="1899">
                <a:solidFill>
                  <a:srgbClr val="8B2E2E"/>
                </a:solidFill>
                <a:latin typeface="Sarabun"/>
                <a:ea typeface="Sarabun"/>
                <a:cs typeface="Sarabun"/>
                <a:sym typeface="Sarabun"/>
              </a:rPr>
              <a:t> </a:t>
            </a:r>
            <a:r>
              <a:rPr lang="en-US" sz="1899">
                <a:solidFill>
                  <a:srgbClr val="222222"/>
                </a:solidFill>
                <a:latin typeface="Sarabun"/>
                <a:ea typeface="Sarabun"/>
                <a:cs typeface="Sarabun"/>
                <a:sym typeface="Sarabun"/>
              </a:rPr>
              <a:t>โดยค่าข้อมูลใน Option หรือ Result จะถูก Deallocate อัตโนมัติทันทีเมื่อตัวแปรหมด Scope</a:t>
            </a:r>
          </a:p>
          <a:p>
            <a:pPr algn="l" marL="410209" indent="-205105" lvl="1">
              <a:lnSpc>
                <a:spcPts val="2659"/>
              </a:lnSpc>
              <a:buFont typeface="Arial"/>
              <a:buChar char="•"/>
            </a:pPr>
            <a:r>
              <a:rPr lang="en-US" b="true" sz="1899">
                <a:solidFill>
                  <a:srgbClr val="8B2E2E"/>
                </a:solidFill>
                <a:latin typeface="Sarabun Bold"/>
                <a:ea typeface="Sarabun Bold"/>
                <a:cs typeface="Sarabun Bold"/>
                <a:sym typeface="Sarabun Bold"/>
              </a:rPr>
              <a:t>ประหยัดพื้นที่ด้วย NPO (Null Pointer Optimization)</a:t>
            </a:r>
            <a:r>
              <a:rPr lang="en-US" sz="1899">
                <a:solidFill>
                  <a:srgbClr val="222222"/>
                </a:solidFill>
                <a:latin typeface="Sarabun"/>
                <a:ea typeface="Sarabun"/>
                <a:cs typeface="Sarabun"/>
                <a:sym typeface="Sarabun"/>
              </a:rPr>
              <a:t> โดยถ้า T เป็น Pointer คอมไพเลอร์จะบีบขนาด Option&lt;T&gt; ให้เท่ากับ Pointer ปกติ โดยไม่เสียพื้นที่เก็บสถานะ None เพิ่มเติม</a:t>
            </a:r>
          </a:p>
          <a:p>
            <a:pPr algn="l" marL="410209" indent="-205105" lvl="1">
              <a:lnSpc>
                <a:spcPts val="2659"/>
              </a:lnSpc>
              <a:buFont typeface="Arial"/>
              <a:buChar char="•"/>
            </a:pPr>
            <a:r>
              <a:rPr lang="en-US" b="true" sz="1899">
                <a:solidFill>
                  <a:srgbClr val="8B2E2E"/>
                </a:solidFill>
                <a:latin typeface="Sarabun Bold"/>
                <a:ea typeface="Sarabun Bold"/>
                <a:cs typeface="Sarabun Bold"/>
                <a:sym typeface="Sarabun Bold"/>
              </a:rPr>
              <a:t>จัดเก็บค่าตัวแปรบน Stack เป็นหลัก</a:t>
            </a:r>
            <a:r>
              <a:rPr lang="en-US" sz="1899">
                <a:solidFill>
                  <a:srgbClr val="222222"/>
                </a:solidFill>
                <a:latin typeface="Sarabun"/>
                <a:ea typeface="Sarabun"/>
                <a:cs typeface="Sarabun"/>
                <a:sym typeface="Sarabun"/>
              </a:rPr>
              <a:t> โดยตัวแปร Enum มีพฤติกรรมเป็น Value Type จะจัดเก็บและส่งผ่านบน Stack โดยตรง (ยกเว้นสมาชิกภายในอ้างอิงไป Heap)</a:t>
            </a:r>
          </a:p>
          <a:p>
            <a:pPr algn="l" marL="410209" indent="-205105" lvl="1">
              <a:lnSpc>
                <a:spcPts val="2659"/>
              </a:lnSpc>
              <a:buFont typeface="Arial"/>
              <a:buChar char="•"/>
            </a:pPr>
            <a:r>
              <a:rPr lang="en-US" b="true" sz="1899">
                <a:solidFill>
                  <a:srgbClr val="8B2E2E"/>
                </a:solidFill>
                <a:latin typeface="Sarabun Bold"/>
                <a:ea typeface="Sarabun Bold"/>
                <a:cs typeface="Sarabun Bold"/>
                <a:sym typeface="Sarabun Bold"/>
              </a:rPr>
              <a:t>คืนทรัพยากรเมื่อ Panic ด้วย Drop</a:t>
            </a:r>
            <a:r>
              <a:rPr lang="en-US" b="true" sz="1899">
                <a:solidFill>
                  <a:srgbClr val="222222"/>
                </a:solidFill>
                <a:latin typeface="Sarabun Bold"/>
                <a:ea typeface="Sarabun Bold"/>
                <a:cs typeface="Sarabun Bold"/>
                <a:sym typeface="Sarabun Bold"/>
              </a:rPr>
              <a:t> </a:t>
            </a:r>
            <a:r>
              <a:rPr lang="en-US" b="true" sz="1899">
                <a:solidFill>
                  <a:srgbClr val="8B2E2E"/>
                </a:solidFill>
                <a:latin typeface="Sarabun Bold"/>
                <a:ea typeface="Sarabun Bold"/>
                <a:cs typeface="Sarabun Bold"/>
                <a:sym typeface="Sarabun Bold"/>
              </a:rPr>
              <a:t>Trait </a:t>
            </a:r>
            <a:r>
              <a:rPr lang="en-US" sz="1899">
                <a:solidFill>
                  <a:srgbClr val="222222"/>
                </a:solidFill>
                <a:latin typeface="Sarabun"/>
                <a:ea typeface="Sarabun"/>
                <a:cs typeface="Sarabun"/>
                <a:sym typeface="Sarabun"/>
              </a:rPr>
              <a:t>นั่นคือ เมื่อเกิด panic! รันไทม์จะไล่ทำลายตัวแปรใน Stack ย้อนกลับทีละตัวผ่าน Drop Trait เพื่อคืนหน่วยความจำและทรัพยากรทั้งหมดให้ระบบอย่างปลอดภัย</a:t>
            </a:r>
          </a:p>
        </p:txBody>
      </p:sp>
    </p:spTree>
  </p:cSld>
  <p:clrMapOvr>
    <a:masterClrMapping/>
  </p:clrMapOvr>
  <p:transition spd="fast">
    <p:wipe dir="l"/>
  </p:transition>
</p:sld>
</file>

<file path=ppt/slides/slide2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685800" y="617220"/>
            <a:ext cx="4114800" cy="576072"/>
            <a:chOff x="0" y="0"/>
            <a:chExt cx="5486400" cy="76809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5486400" cy="768096"/>
            </a:xfrm>
            <a:custGeom>
              <a:avLst/>
              <a:gdLst/>
              <a:ahLst/>
              <a:cxnLst/>
              <a:rect r="r" b="b" t="t" l="l"/>
              <a:pathLst>
                <a:path h="768096" w="5486400">
                  <a:moveTo>
                    <a:pt x="0" y="146304"/>
                  </a:moveTo>
                  <a:cubicBezTo>
                    <a:pt x="0" y="65532"/>
                    <a:pt x="65532" y="0"/>
                    <a:pt x="146304" y="0"/>
                  </a:cubicBezTo>
                  <a:lnTo>
                    <a:pt x="5340096" y="0"/>
                  </a:lnTo>
                  <a:cubicBezTo>
                    <a:pt x="5420868" y="0"/>
                    <a:pt x="5486400" y="65532"/>
                    <a:pt x="5486400" y="146304"/>
                  </a:cubicBezTo>
                  <a:lnTo>
                    <a:pt x="5486400" y="621792"/>
                  </a:lnTo>
                  <a:cubicBezTo>
                    <a:pt x="5486400" y="702564"/>
                    <a:pt x="5420868" y="768096"/>
                    <a:pt x="5340096" y="768096"/>
                  </a:cubicBezTo>
                  <a:lnTo>
                    <a:pt x="146304" y="768096"/>
                  </a:lnTo>
                  <a:cubicBezTo>
                    <a:pt x="65532" y="768096"/>
                    <a:pt x="0" y="702564"/>
                    <a:pt x="0" y="621792"/>
                  </a:cubicBezTo>
                  <a:close/>
                </a:path>
              </a:pathLst>
            </a:custGeom>
            <a:solidFill>
              <a:srgbClr val="8B2E2E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685800" y="617220"/>
            <a:ext cx="4114800" cy="576072"/>
            <a:chOff x="0" y="0"/>
            <a:chExt cx="5486400" cy="768096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5486400" cy="768096"/>
            </a:xfrm>
            <a:custGeom>
              <a:avLst/>
              <a:gdLst/>
              <a:ahLst/>
              <a:cxnLst/>
              <a:rect r="r" b="b" t="t" l="l"/>
              <a:pathLst>
                <a:path h="768096" w="5486400">
                  <a:moveTo>
                    <a:pt x="0" y="0"/>
                  </a:moveTo>
                  <a:lnTo>
                    <a:pt x="5486400" y="0"/>
                  </a:lnTo>
                  <a:lnTo>
                    <a:pt x="5486400" y="768096"/>
                  </a:lnTo>
                  <a:lnTo>
                    <a:pt x="0" y="76809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9178" r="0" b="-89178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-47625"/>
              <a:ext cx="5486400" cy="81572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340"/>
                </a:lnSpc>
              </a:pPr>
              <a:r>
                <a:rPr lang="en-US" sz="195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PART 3 · MEMBER 3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685800" y="1440180"/>
            <a:ext cx="16911828" cy="960120"/>
            <a:chOff x="0" y="0"/>
            <a:chExt cx="22549104" cy="128016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2549104" cy="1280160"/>
            </a:xfrm>
            <a:custGeom>
              <a:avLst/>
              <a:gdLst/>
              <a:ahLst/>
              <a:cxnLst/>
              <a:rect r="r" b="b" t="t" l="l"/>
              <a:pathLst>
                <a:path h="1280160" w="22549104">
                  <a:moveTo>
                    <a:pt x="0" y="0"/>
                  </a:moveTo>
                  <a:lnTo>
                    <a:pt x="22549104" y="0"/>
                  </a:lnTo>
                  <a:lnTo>
                    <a:pt x="22549104" y="1280160"/>
                  </a:lnTo>
                  <a:lnTo>
                    <a:pt x="0" y="12801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93215" r="0" b="-293215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>
              <a:off x="0" y="-19050"/>
              <a:ext cx="22549104" cy="129921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400"/>
                </a:lnSpc>
              </a:pPr>
              <a:r>
                <a:rPr lang="en-US" sz="4500" b="true">
                  <a:solidFill>
                    <a:srgbClr val="222222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PPL Perspective — มุมมองเชิง Programming Language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1210031" y="2900397"/>
            <a:ext cx="5777781" cy="3655646"/>
            <a:chOff x="0" y="0"/>
            <a:chExt cx="440826" cy="278922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440826" cy="278922"/>
            </a:xfrm>
            <a:custGeom>
              <a:avLst/>
              <a:gdLst/>
              <a:ahLst/>
              <a:cxnLst/>
              <a:rect r="r" b="b" t="t" l="l"/>
              <a:pathLst>
                <a:path h="278922" w="440826">
                  <a:moveTo>
                    <a:pt x="440826" y="62978"/>
                  </a:moveTo>
                  <a:lnTo>
                    <a:pt x="440826" y="215945"/>
                  </a:lnTo>
                  <a:cubicBezTo>
                    <a:pt x="440826" y="250726"/>
                    <a:pt x="412630" y="278922"/>
                    <a:pt x="377848" y="278922"/>
                  </a:cubicBezTo>
                  <a:lnTo>
                    <a:pt x="62978" y="278922"/>
                  </a:lnTo>
                  <a:cubicBezTo>
                    <a:pt x="28196" y="278922"/>
                    <a:pt x="0" y="250726"/>
                    <a:pt x="0" y="215945"/>
                  </a:cubicBezTo>
                  <a:lnTo>
                    <a:pt x="0" y="62978"/>
                  </a:lnTo>
                  <a:cubicBezTo>
                    <a:pt x="0" y="28196"/>
                    <a:pt x="28196" y="0"/>
                    <a:pt x="62978" y="0"/>
                  </a:cubicBezTo>
                  <a:lnTo>
                    <a:pt x="377848" y="0"/>
                  </a:lnTo>
                  <a:cubicBezTo>
                    <a:pt x="412630" y="0"/>
                    <a:pt x="440826" y="28196"/>
                    <a:pt x="440826" y="62978"/>
                  </a:cubicBezTo>
                  <a:close/>
                </a:path>
              </a:pathLst>
            </a:custGeom>
            <a:solidFill>
              <a:srgbClr val="F7F0F0"/>
            </a:solidFill>
            <a:ln w="38100" cap="rnd">
              <a:solidFill>
                <a:srgbClr val="F7F0F0"/>
              </a:solidFill>
              <a:prstDash val="solid"/>
              <a:round/>
            </a:ln>
          </p:spPr>
        </p:sp>
        <p:sp>
          <p:nvSpPr>
            <p:cNvPr name="TextBox 12" id="12"/>
            <p:cNvSpPr txBox="true"/>
            <p:nvPr/>
          </p:nvSpPr>
          <p:spPr>
            <a:xfrm>
              <a:off x="0" y="-38100"/>
              <a:ext cx="440826" cy="31702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800"/>
                </a:lnSpc>
              </a:pP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7654925" y="2900397"/>
            <a:ext cx="9423045" cy="6631072"/>
            <a:chOff x="0" y="0"/>
            <a:chExt cx="718948" cy="505944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718948" cy="505944"/>
            </a:xfrm>
            <a:custGeom>
              <a:avLst/>
              <a:gdLst/>
              <a:ahLst/>
              <a:cxnLst/>
              <a:rect r="r" b="b" t="t" l="l"/>
              <a:pathLst>
                <a:path h="505944" w="718948">
                  <a:moveTo>
                    <a:pt x="718948" y="38615"/>
                  </a:moveTo>
                  <a:lnTo>
                    <a:pt x="718948" y="467329"/>
                  </a:lnTo>
                  <a:cubicBezTo>
                    <a:pt x="718948" y="488655"/>
                    <a:pt x="701659" y="505944"/>
                    <a:pt x="680333" y="505944"/>
                  </a:cubicBezTo>
                  <a:lnTo>
                    <a:pt x="38615" y="505944"/>
                  </a:lnTo>
                  <a:cubicBezTo>
                    <a:pt x="17288" y="505944"/>
                    <a:pt x="0" y="488655"/>
                    <a:pt x="0" y="467329"/>
                  </a:cubicBezTo>
                  <a:lnTo>
                    <a:pt x="0" y="38615"/>
                  </a:lnTo>
                  <a:cubicBezTo>
                    <a:pt x="0" y="17288"/>
                    <a:pt x="17288" y="0"/>
                    <a:pt x="38615" y="0"/>
                  </a:cubicBezTo>
                  <a:lnTo>
                    <a:pt x="680333" y="0"/>
                  </a:lnTo>
                  <a:cubicBezTo>
                    <a:pt x="701659" y="0"/>
                    <a:pt x="718948" y="17288"/>
                    <a:pt x="718948" y="38615"/>
                  </a:cubicBezTo>
                  <a:close/>
                </a:path>
              </a:pathLst>
            </a:custGeom>
            <a:solidFill>
              <a:srgbClr val="F7F0F0"/>
            </a:solidFill>
            <a:ln w="38100" cap="rnd">
              <a:solidFill>
                <a:srgbClr val="F7F0F0"/>
              </a:solidFill>
              <a:prstDash val="solid"/>
              <a:round/>
            </a:ln>
          </p:spPr>
        </p:sp>
        <p:sp>
          <p:nvSpPr>
            <p:cNvPr name="TextBox 15" id="15"/>
            <p:cNvSpPr txBox="true"/>
            <p:nvPr/>
          </p:nvSpPr>
          <p:spPr>
            <a:xfrm>
              <a:off x="0" y="-38100"/>
              <a:ext cx="718948" cy="54404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800"/>
                </a:lnSpc>
              </a:pP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685800" y="9710928"/>
            <a:ext cx="10972800" cy="411480"/>
            <a:chOff x="0" y="0"/>
            <a:chExt cx="14630400" cy="54864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14630400" cy="548640"/>
            </a:xfrm>
            <a:custGeom>
              <a:avLst/>
              <a:gdLst/>
              <a:ahLst/>
              <a:cxnLst/>
              <a:rect r="r" b="b" t="t" l="l"/>
              <a:pathLst>
                <a:path h="548640" w="14630400">
                  <a:moveTo>
                    <a:pt x="0" y="0"/>
                  </a:moveTo>
                  <a:lnTo>
                    <a:pt x="14630400" y="0"/>
                  </a:lnTo>
                  <a:lnTo>
                    <a:pt x="146304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69601" r="0" b="-469601"/>
              </a:stretch>
            </a:blipFill>
          </p:spPr>
        </p:sp>
        <p:sp>
          <p:nvSpPr>
            <p:cNvPr name="TextBox 18" id="18"/>
            <p:cNvSpPr txBox="true"/>
            <p:nvPr/>
          </p:nvSpPr>
          <p:spPr>
            <a:xfrm>
              <a:off x="0" y="-38100"/>
              <a:ext cx="14630400" cy="5867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00"/>
                </a:lnSpc>
              </a:pPr>
              <a:r>
                <a:rPr lang="en-US" sz="1500">
                  <a:solidFill>
                    <a:srgbClr val="6B6B6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517321 Principles of Programming Languages — Rust Tutorial</a:t>
              </a: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16911828" y="9710928"/>
            <a:ext cx="685800" cy="411480"/>
            <a:chOff x="0" y="0"/>
            <a:chExt cx="914400" cy="54864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914400" cy="548640"/>
            </a:xfrm>
            <a:custGeom>
              <a:avLst/>
              <a:gdLst/>
              <a:ahLst/>
              <a:cxnLst/>
              <a:rect r="r" b="b" t="t" l="l"/>
              <a:pathLst>
                <a:path h="548640" w="914400">
                  <a:moveTo>
                    <a:pt x="0" y="0"/>
                  </a:moveTo>
                  <a:lnTo>
                    <a:pt x="914400" y="0"/>
                  </a:lnTo>
                  <a:lnTo>
                    <a:pt x="9144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26982" t="0" r="-26982" b="0"/>
              </a:stretch>
            </a:blipFill>
          </p:spPr>
        </p:sp>
        <p:sp>
          <p:nvSpPr>
            <p:cNvPr name="TextBox 21" id="21"/>
            <p:cNvSpPr txBox="true"/>
            <p:nvPr/>
          </p:nvSpPr>
          <p:spPr>
            <a:xfrm>
              <a:off x="0" y="-38100"/>
              <a:ext cx="914400" cy="5867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800"/>
                </a:lnSpc>
              </a:pPr>
              <a:r>
                <a:rPr lang="en-US" sz="1500">
                  <a:solidFill>
                    <a:srgbClr val="6B6B6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6</a:t>
              </a:r>
            </a:p>
          </p:txBody>
        </p:sp>
      </p:grpSp>
      <p:sp>
        <p:nvSpPr>
          <p:cNvPr name="TextBox 22" id="22"/>
          <p:cNvSpPr txBox="true"/>
          <p:nvPr/>
        </p:nvSpPr>
        <p:spPr>
          <a:xfrm rot="0">
            <a:off x="7909883" y="3862098"/>
            <a:ext cx="9001945" cy="53701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99"/>
              </a:lnSpc>
            </a:pPr>
            <a:r>
              <a:rPr lang="en-US" sz="1999" b="true">
                <a:solidFill>
                  <a:srgbClr val="8B2E2E"/>
                </a:solidFill>
                <a:latin typeface="Sarabun Bold"/>
                <a:ea typeface="Sarabun Bold"/>
                <a:cs typeface="Sarabun Bold"/>
                <a:sym typeface="Sarabun Bold"/>
              </a:rPr>
              <a:t>ความปลอดภัย (Safety)</a:t>
            </a:r>
          </a:p>
          <a:p>
            <a:pPr algn="l" marL="410209" indent="-205105" lvl="1">
              <a:lnSpc>
                <a:spcPts val="2659"/>
              </a:lnSpc>
              <a:buFont typeface="Arial"/>
              <a:buChar char="•"/>
            </a:pPr>
            <a:r>
              <a:rPr lang="en-US" b="true" sz="1899">
                <a:solidFill>
                  <a:srgbClr val="8B2E2E"/>
                </a:solidFill>
                <a:latin typeface="Sarabun Bold"/>
                <a:ea typeface="Sarabun Bold"/>
                <a:cs typeface="Sarabun Bold"/>
                <a:sym typeface="Sarabun Bold"/>
              </a:rPr>
              <a:t>กำจัดปัญหา Null Pointer Exception</a:t>
            </a:r>
            <a:r>
              <a:rPr lang="en-US" sz="1899">
                <a:solidFill>
                  <a:srgbClr val="222222"/>
                </a:solidFill>
                <a:latin typeface="Sarabun"/>
                <a:ea typeface="Sarabun"/>
                <a:cs typeface="Sarabun"/>
                <a:sym typeface="Sarabun"/>
              </a:rPr>
              <a:t> โดยบังคับใช้ Option&lt;T&gt; แทน null</a:t>
            </a:r>
          </a:p>
          <a:p>
            <a:pPr algn="l" marL="410209" indent="-205105" lvl="1">
              <a:lnSpc>
                <a:spcPts val="2659"/>
              </a:lnSpc>
              <a:buFont typeface="Arial"/>
              <a:buChar char="•"/>
            </a:pPr>
            <a:r>
              <a:rPr lang="en-US" b="true" sz="1899">
                <a:solidFill>
                  <a:srgbClr val="8B2E2E"/>
                </a:solidFill>
                <a:latin typeface="Sarabun Bold"/>
                <a:ea typeface="Sarabun Bold"/>
                <a:cs typeface="Sarabun Bold"/>
                <a:sym typeface="Sarabun Bold"/>
              </a:rPr>
              <a:t>ป้องกันการนำข้อมูลที่ไม่ถูกต้องไปใช้งาน</a:t>
            </a:r>
            <a:r>
              <a:rPr lang="en-US" sz="1899">
                <a:solidFill>
                  <a:srgbClr val="222222"/>
                </a:solidFill>
                <a:latin typeface="Sarabun"/>
                <a:ea typeface="Sarabun"/>
                <a:cs typeface="Sarabun"/>
                <a:sym typeface="Sarabun"/>
              </a:rPr>
              <a:t> โดยบังคับตรวจสอบและแกะค่าจาก Option หรือ Result ก่อนนำไปใช้งานเสมอ</a:t>
            </a:r>
          </a:p>
          <a:p>
            <a:pPr algn="l" marL="410209" indent="-205105" lvl="1">
              <a:lnSpc>
                <a:spcPts val="2659"/>
              </a:lnSpc>
              <a:buFont typeface="Arial"/>
              <a:buChar char="•"/>
            </a:pPr>
            <a:r>
              <a:rPr lang="en-US" b="true" sz="1899">
                <a:solidFill>
                  <a:srgbClr val="8B2E2E"/>
                </a:solidFill>
                <a:latin typeface="Sarabun Bold"/>
                <a:ea typeface="Sarabun Bold"/>
                <a:cs typeface="Sarabun Bold"/>
                <a:sym typeface="Sarabun Bold"/>
              </a:rPr>
              <a:t>ป้องกันระบบเสียหายด้วย panic!</a:t>
            </a:r>
            <a:r>
              <a:rPr lang="en-US" sz="1899">
                <a:solidFill>
                  <a:srgbClr val="222222"/>
                </a:solidFill>
                <a:latin typeface="Sarabun"/>
                <a:ea typeface="Sarabun"/>
                <a:cs typeface="Sarabun"/>
                <a:sym typeface="Sarabun"/>
              </a:rPr>
              <a:t> โดยสั่งหยุดโปรแกรมทันทีเมื่อเจอข้อผิดพลาดที่จัดการต่อไม่ได้ เพื่อไม่ให้โปรแกรมฝืนทำงานต่อด้วยข้อมูลที่ผิด</a:t>
            </a:r>
          </a:p>
          <a:p>
            <a:pPr algn="l">
              <a:lnSpc>
                <a:spcPts val="2659"/>
              </a:lnSpc>
            </a:pPr>
          </a:p>
          <a:p>
            <a:pPr algn="l">
              <a:lnSpc>
                <a:spcPts val="2799"/>
              </a:lnSpc>
            </a:pPr>
            <a:r>
              <a:rPr lang="en-US" sz="1999" b="true">
                <a:solidFill>
                  <a:srgbClr val="8B2E2E"/>
                </a:solidFill>
                <a:latin typeface="Sarabun Bold"/>
                <a:ea typeface="Sarabun Bold"/>
                <a:cs typeface="Sarabun Bold"/>
                <a:sym typeface="Sarabun Bold"/>
              </a:rPr>
              <a:t>ความน่าเชื่อถือ (Reliability)</a:t>
            </a:r>
          </a:p>
          <a:p>
            <a:pPr algn="l" marL="410209" indent="-205105" lvl="1">
              <a:lnSpc>
                <a:spcPts val="2659"/>
              </a:lnSpc>
              <a:buFont typeface="Arial"/>
              <a:buChar char="•"/>
            </a:pPr>
            <a:r>
              <a:rPr lang="en-US" b="true" sz="1899">
                <a:solidFill>
                  <a:srgbClr val="8B2E2E"/>
                </a:solidFill>
                <a:latin typeface="Sarabun Bold"/>
                <a:ea typeface="Sarabun Bold"/>
                <a:cs typeface="Sarabun Bold"/>
                <a:sym typeface="Sarabun Bold"/>
              </a:rPr>
              <a:t>การทำงานเป็นไปตามลำดับ</a:t>
            </a:r>
            <a:r>
              <a:rPr lang="en-US" sz="1899">
                <a:solidFill>
                  <a:srgbClr val="222222"/>
                </a:solidFill>
                <a:latin typeface="Sarabun"/>
                <a:ea typeface="Sarabun"/>
                <a:cs typeface="Sarabun"/>
                <a:sym typeface="Sarabun"/>
              </a:rPr>
              <a:t> โดยเป็นการคืนค่าเหมือนฟังก์ชันปกติ ไม่มีการกระโดดข้ามขั้นตอนแบบกะทันหัน ทำให้อ่านและตรวจสอบโค้ดได้ง่าย</a:t>
            </a:r>
          </a:p>
          <a:p>
            <a:pPr algn="l" marL="410209" indent="-205105" lvl="1">
              <a:lnSpc>
                <a:spcPts val="2659"/>
              </a:lnSpc>
              <a:buFont typeface="Arial"/>
              <a:buChar char="•"/>
            </a:pPr>
            <a:r>
              <a:rPr lang="en-US" b="true" sz="1899">
                <a:solidFill>
                  <a:srgbClr val="8B2E2E"/>
                </a:solidFill>
                <a:latin typeface="Sarabun Bold"/>
                <a:ea typeface="Sarabun Bold"/>
                <a:cs typeface="Sarabun Bold"/>
                <a:sym typeface="Sarabun Bold"/>
              </a:rPr>
              <a:t>ป้องกันการละเลยข้อผิดพลาดด้วย #[must_use]</a:t>
            </a:r>
            <a:r>
              <a:rPr lang="en-US" sz="1899">
                <a:solidFill>
                  <a:srgbClr val="222222"/>
                </a:solidFill>
                <a:latin typeface="Sarabun"/>
                <a:ea typeface="Sarabun"/>
                <a:cs typeface="Sarabun"/>
                <a:sym typeface="Sarabun"/>
              </a:rPr>
              <a:t> โดยจะบังคับให้จัดการผลลัพธ์เสมอ ถ้าละเลยหรือไม่นำค่าไปจัดการต่อ คอมไพเลอร์จะแจ้งเตือนทันที</a:t>
            </a:r>
          </a:p>
          <a:p>
            <a:pPr algn="l">
              <a:lnSpc>
                <a:spcPts val="2659"/>
              </a:lnSpc>
            </a:pPr>
          </a:p>
          <a:p>
            <a:pPr algn="l">
              <a:lnSpc>
                <a:spcPts val="2799"/>
              </a:lnSpc>
            </a:pPr>
            <a:r>
              <a:rPr lang="en-US" sz="1999" b="true">
                <a:solidFill>
                  <a:srgbClr val="8B2E2E"/>
                </a:solidFill>
                <a:latin typeface="Sarabun Bold"/>
                <a:ea typeface="Sarabun Bold"/>
                <a:cs typeface="Sarabun Bold"/>
                <a:sym typeface="Sarabun Bold"/>
              </a:rPr>
              <a:t>ประสิทธิภาพ (Performance)</a:t>
            </a:r>
          </a:p>
          <a:p>
            <a:pPr algn="l" marL="410209" indent="-205105" lvl="1">
              <a:lnSpc>
                <a:spcPts val="2659"/>
              </a:lnSpc>
              <a:buFont typeface="Arial"/>
              <a:buChar char="•"/>
            </a:pPr>
            <a:r>
              <a:rPr lang="en-US" b="true" sz="1899">
                <a:solidFill>
                  <a:srgbClr val="8B2E2E"/>
                </a:solidFill>
                <a:latin typeface="Sarabun Bold"/>
                <a:ea typeface="Sarabun Bold"/>
                <a:cs typeface="Sarabun Bold"/>
                <a:sym typeface="Sarabun Bold"/>
              </a:rPr>
              <a:t>ไม่มี Runtime Overhead บน Heap</a:t>
            </a:r>
            <a:r>
              <a:rPr lang="en-US" sz="1899">
                <a:solidFill>
                  <a:srgbClr val="222222"/>
                </a:solidFill>
                <a:latin typeface="Sarabun"/>
                <a:ea typeface="Sarabun"/>
                <a:cs typeface="Sarabun"/>
                <a:sym typeface="Sarabun"/>
              </a:rPr>
              <a:t> เพราะเป็นการจัดเก็บและส่งผ่าน Result และ Option บน Stack Frame เหมือนการคืนค่าฟังก์ชันทั่วไป จึงไม่มีภาระการจอง Heap Memory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464989" y="3895794"/>
            <a:ext cx="5231442" cy="23139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10209" indent="-205105" lvl="1">
              <a:lnSpc>
                <a:spcPts val="2659"/>
              </a:lnSpc>
              <a:buFont typeface="Arial"/>
              <a:buChar char="•"/>
            </a:pPr>
            <a:r>
              <a:rPr lang="en-US" b="true" sz="1899">
                <a:solidFill>
                  <a:srgbClr val="8B2E2E"/>
                </a:solidFill>
                <a:latin typeface="Sarabun Bold"/>
                <a:ea typeface="Sarabun Bold"/>
                <a:cs typeface="Sarabun Bold"/>
                <a:sym typeface="Sarabun Bold"/>
              </a:rPr>
              <a:t>การซ่อนรายละเอียดข้อมูล (Data Abstraction) </a:t>
            </a:r>
            <a:r>
              <a:rPr lang="en-US" sz="1899">
                <a:solidFill>
                  <a:srgbClr val="000000"/>
                </a:solidFill>
                <a:latin typeface="Sarabun"/>
                <a:ea typeface="Sarabun"/>
                <a:cs typeface="Sarabun"/>
                <a:sym typeface="Sarabun"/>
              </a:rPr>
              <a:t>ในภาษา Rust จะซ่อนค่าข้อมูลและสถานะ</a:t>
            </a:r>
            <a:r>
              <a:rPr lang="en-US" sz="1899">
                <a:solidFill>
                  <a:srgbClr val="000000"/>
                </a:solidFill>
                <a:latin typeface="Sarabun"/>
                <a:ea typeface="Sarabun"/>
                <a:cs typeface="Sarabun"/>
                <a:sym typeface="Sarabun"/>
              </a:rPr>
              <a:t>ข้อผิดพลาดไว</a:t>
            </a:r>
            <a:r>
              <a:rPr lang="en-US" sz="1899">
                <a:solidFill>
                  <a:srgbClr val="000000"/>
                </a:solidFill>
                <a:latin typeface="Sarabun"/>
                <a:ea typeface="Sarabun"/>
                <a:cs typeface="Sarabun"/>
                <a:sym typeface="Sarabun"/>
              </a:rPr>
              <a:t>้ภายในโครงส</a:t>
            </a:r>
            <a:r>
              <a:rPr lang="en-US" sz="1899">
                <a:solidFill>
                  <a:srgbClr val="000000"/>
                </a:solidFill>
                <a:latin typeface="Sarabun"/>
                <a:ea typeface="Sarabun"/>
                <a:cs typeface="Sarabun"/>
                <a:sym typeface="Sarabun"/>
              </a:rPr>
              <a:t>ร้าง Option หรือ Result โดยไม่ให้เข้าถึงตำแหน่งหน่วยความจำโดยตรง แต่จะบังคับให้เข้าถึงและใช้งานผ่านอินเทอร์เฟซที่ภาษากำหนดไว้เท่านั้น </a:t>
            </a:r>
            <a:r>
              <a:rPr lang="en-US" sz="1899">
                <a:solidFill>
                  <a:srgbClr val="000000"/>
                </a:solidFill>
                <a:latin typeface="Sarabun"/>
                <a:ea typeface="Sarabun"/>
                <a:cs typeface="Sarabun"/>
                <a:sym typeface="Sarabun"/>
              </a:rPr>
              <a:t>เช่น การใช้ Pattern Matching หรือเมธอดสำหรับการแกะค่า</a:t>
            </a:r>
          </a:p>
        </p:txBody>
      </p:sp>
      <p:grpSp>
        <p:nvGrpSpPr>
          <p:cNvPr name="Group 24" id="24"/>
          <p:cNvGrpSpPr/>
          <p:nvPr/>
        </p:nvGrpSpPr>
        <p:grpSpPr>
          <a:xfrm rot="0">
            <a:off x="1464989" y="3106137"/>
            <a:ext cx="2517614" cy="570582"/>
            <a:chOff x="0" y="0"/>
            <a:chExt cx="898589" cy="203659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898589" cy="203659"/>
            </a:xfrm>
            <a:custGeom>
              <a:avLst/>
              <a:gdLst/>
              <a:ahLst/>
              <a:cxnLst/>
              <a:rect r="r" b="b" t="t" l="l"/>
              <a:pathLst>
                <a:path h="203659" w="898589">
                  <a:moveTo>
                    <a:pt x="898589" y="101829"/>
                  </a:moveTo>
                  <a:lnTo>
                    <a:pt x="898589" y="101829"/>
                  </a:lnTo>
                  <a:cubicBezTo>
                    <a:pt x="898589" y="128836"/>
                    <a:pt x="887861" y="154737"/>
                    <a:pt x="868764" y="173834"/>
                  </a:cubicBezTo>
                  <a:cubicBezTo>
                    <a:pt x="849668" y="192930"/>
                    <a:pt x="823767" y="203659"/>
                    <a:pt x="796760" y="203659"/>
                  </a:cubicBezTo>
                  <a:lnTo>
                    <a:pt x="101829" y="203659"/>
                  </a:lnTo>
                  <a:cubicBezTo>
                    <a:pt x="45591" y="203659"/>
                    <a:pt x="0" y="158068"/>
                    <a:pt x="0" y="101829"/>
                  </a:cubicBezTo>
                  <a:lnTo>
                    <a:pt x="0" y="101829"/>
                  </a:lnTo>
                  <a:cubicBezTo>
                    <a:pt x="0" y="45591"/>
                    <a:pt x="45591" y="0"/>
                    <a:pt x="101829" y="0"/>
                  </a:cubicBezTo>
                  <a:lnTo>
                    <a:pt x="796760" y="0"/>
                  </a:lnTo>
                  <a:cubicBezTo>
                    <a:pt x="852999" y="0"/>
                    <a:pt x="898589" y="45591"/>
                    <a:pt x="898589" y="101829"/>
                  </a:cubicBezTo>
                  <a:close/>
                </a:path>
              </a:pathLst>
            </a:custGeom>
            <a:solidFill>
              <a:srgbClr val="8B2E2E"/>
            </a:solidFill>
          </p:spPr>
        </p:sp>
        <p:sp>
          <p:nvSpPr>
            <p:cNvPr name="TextBox 26" id="26"/>
            <p:cNvSpPr txBox="true"/>
            <p:nvPr/>
          </p:nvSpPr>
          <p:spPr>
            <a:xfrm>
              <a:off x="0" y="-38100"/>
              <a:ext cx="898589" cy="24175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800"/>
                </a:lnSpc>
              </a:pPr>
            </a:p>
          </p:txBody>
        </p:sp>
      </p:grpSp>
      <p:sp>
        <p:nvSpPr>
          <p:cNvPr name="TextBox 27" id="27"/>
          <p:cNvSpPr txBox="true"/>
          <p:nvPr/>
        </p:nvSpPr>
        <p:spPr>
          <a:xfrm rot="0">
            <a:off x="1804068" y="3185194"/>
            <a:ext cx="1912299" cy="390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19"/>
              </a:lnSpc>
            </a:pPr>
            <a:r>
              <a:rPr lang="en-US" b="true" sz="2599">
                <a:solidFill>
                  <a:srgbClr val="FFFFFF"/>
                </a:solidFill>
                <a:latin typeface="Sarabun Bold"/>
                <a:ea typeface="Sarabun Bold"/>
                <a:cs typeface="Sarabun Bold"/>
                <a:sym typeface="Sarabun Bold"/>
              </a:rPr>
              <a:t>Abstraction</a:t>
            </a:r>
          </a:p>
        </p:txBody>
      </p:sp>
      <p:grpSp>
        <p:nvGrpSpPr>
          <p:cNvPr name="Group 28" id="28"/>
          <p:cNvGrpSpPr/>
          <p:nvPr/>
        </p:nvGrpSpPr>
        <p:grpSpPr>
          <a:xfrm rot="0">
            <a:off x="7909883" y="3106137"/>
            <a:ext cx="2262656" cy="570582"/>
            <a:chOff x="0" y="0"/>
            <a:chExt cx="807589" cy="203659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807589" cy="203659"/>
            </a:xfrm>
            <a:custGeom>
              <a:avLst/>
              <a:gdLst/>
              <a:ahLst/>
              <a:cxnLst/>
              <a:rect r="r" b="b" t="t" l="l"/>
              <a:pathLst>
                <a:path h="203659" w="807589">
                  <a:moveTo>
                    <a:pt x="807589" y="101829"/>
                  </a:moveTo>
                  <a:lnTo>
                    <a:pt x="807589" y="101829"/>
                  </a:lnTo>
                  <a:cubicBezTo>
                    <a:pt x="807589" y="128836"/>
                    <a:pt x="796861" y="154737"/>
                    <a:pt x="777764" y="173834"/>
                  </a:cubicBezTo>
                  <a:cubicBezTo>
                    <a:pt x="758668" y="192930"/>
                    <a:pt x="732767" y="203659"/>
                    <a:pt x="705760" y="203659"/>
                  </a:cubicBezTo>
                  <a:lnTo>
                    <a:pt x="101829" y="203659"/>
                  </a:lnTo>
                  <a:cubicBezTo>
                    <a:pt x="45591" y="203659"/>
                    <a:pt x="0" y="158068"/>
                    <a:pt x="0" y="101829"/>
                  </a:cubicBezTo>
                  <a:lnTo>
                    <a:pt x="0" y="101829"/>
                  </a:lnTo>
                  <a:cubicBezTo>
                    <a:pt x="0" y="45591"/>
                    <a:pt x="45591" y="0"/>
                    <a:pt x="101829" y="0"/>
                  </a:cubicBezTo>
                  <a:lnTo>
                    <a:pt x="705760" y="0"/>
                  </a:lnTo>
                  <a:cubicBezTo>
                    <a:pt x="761999" y="0"/>
                    <a:pt x="807589" y="45591"/>
                    <a:pt x="807589" y="101829"/>
                  </a:cubicBezTo>
                  <a:close/>
                </a:path>
              </a:pathLst>
            </a:custGeom>
            <a:solidFill>
              <a:srgbClr val="8B2E2E"/>
            </a:solidFill>
          </p:spPr>
        </p:sp>
        <p:sp>
          <p:nvSpPr>
            <p:cNvPr name="TextBox 30" id="30"/>
            <p:cNvSpPr txBox="true"/>
            <p:nvPr/>
          </p:nvSpPr>
          <p:spPr>
            <a:xfrm>
              <a:off x="0" y="-38100"/>
              <a:ext cx="807589" cy="24175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800"/>
                </a:lnSpc>
              </a:pPr>
            </a:p>
          </p:txBody>
        </p:sp>
      </p:grpSp>
      <p:sp>
        <p:nvSpPr>
          <p:cNvPr name="TextBox 31" id="31"/>
          <p:cNvSpPr txBox="true"/>
          <p:nvPr/>
        </p:nvSpPr>
        <p:spPr>
          <a:xfrm rot="0">
            <a:off x="8248962" y="3185194"/>
            <a:ext cx="1730186" cy="390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19"/>
              </a:lnSpc>
            </a:pPr>
            <a:r>
              <a:rPr lang="en-US" b="true" sz="2599">
                <a:solidFill>
                  <a:srgbClr val="FFFFFF"/>
                </a:solidFill>
                <a:latin typeface="Sarabun Bold"/>
                <a:ea typeface="Sarabun Bold"/>
                <a:cs typeface="Sarabun Bold"/>
                <a:sym typeface="Sarabun Bold"/>
              </a:rPr>
              <a:t>Why Rust?</a:t>
            </a:r>
          </a:p>
        </p:txBody>
      </p:sp>
    </p:spTree>
  </p:cSld>
  <p:clrMapOvr>
    <a:masterClrMapping/>
  </p:clrMapOvr>
  <p:transition spd="fast">
    <p:wipe dir="l"/>
  </p:transition>
</p:sld>
</file>

<file path=ppt/slides/slide2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685800" y="617220"/>
            <a:ext cx="4114800" cy="576072"/>
            <a:chOff x="0" y="0"/>
            <a:chExt cx="5486400" cy="76809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5486400" cy="768096"/>
            </a:xfrm>
            <a:custGeom>
              <a:avLst/>
              <a:gdLst/>
              <a:ahLst/>
              <a:cxnLst/>
              <a:rect r="r" b="b" t="t" l="l"/>
              <a:pathLst>
                <a:path h="768096" w="5486400">
                  <a:moveTo>
                    <a:pt x="0" y="146304"/>
                  </a:moveTo>
                  <a:cubicBezTo>
                    <a:pt x="0" y="65532"/>
                    <a:pt x="65532" y="0"/>
                    <a:pt x="146304" y="0"/>
                  </a:cubicBezTo>
                  <a:lnTo>
                    <a:pt x="5340096" y="0"/>
                  </a:lnTo>
                  <a:cubicBezTo>
                    <a:pt x="5420868" y="0"/>
                    <a:pt x="5486400" y="65532"/>
                    <a:pt x="5486400" y="146304"/>
                  </a:cubicBezTo>
                  <a:lnTo>
                    <a:pt x="5486400" y="621792"/>
                  </a:lnTo>
                  <a:cubicBezTo>
                    <a:pt x="5486400" y="702564"/>
                    <a:pt x="5420868" y="768096"/>
                    <a:pt x="5340096" y="768096"/>
                  </a:cubicBezTo>
                  <a:lnTo>
                    <a:pt x="146304" y="768096"/>
                  </a:lnTo>
                  <a:cubicBezTo>
                    <a:pt x="65532" y="768096"/>
                    <a:pt x="0" y="702564"/>
                    <a:pt x="0" y="621792"/>
                  </a:cubicBezTo>
                  <a:close/>
                </a:path>
              </a:pathLst>
            </a:custGeom>
            <a:solidFill>
              <a:srgbClr val="8B2E2E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685800" y="617220"/>
            <a:ext cx="4114800" cy="576072"/>
            <a:chOff x="0" y="0"/>
            <a:chExt cx="5486400" cy="768096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5486400" cy="768096"/>
            </a:xfrm>
            <a:custGeom>
              <a:avLst/>
              <a:gdLst/>
              <a:ahLst/>
              <a:cxnLst/>
              <a:rect r="r" b="b" t="t" l="l"/>
              <a:pathLst>
                <a:path h="768096" w="5486400">
                  <a:moveTo>
                    <a:pt x="0" y="0"/>
                  </a:moveTo>
                  <a:lnTo>
                    <a:pt x="5486400" y="0"/>
                  </a:lnTo>
                  <a:lnTo>
                    <a:pt x="5486400" y="768096"/>
                  </a:lnTo>
                  <a:lnTo>
                    <a:pt x="0" y="76809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9178" r="0" b="-89178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-47625"/>
              <a:ext cx="5486400" cy="81572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340"/>
                </a:lnSpc>
              </a:pPr>
              <a:r>
                <a:rPr lang="en-US" sz="195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PART 4 · MEMBER 4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596646" y="-7782"/>
            <a:ext cx="16911828" cy="3989394"/>
            <a:chOff x="0" y="0"/>
            <a:chExt cx="22549104" cy="5319192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2549104" cy="5319192"/>
            </a:xfrm>
            <a:custGeom>
              <a:avLst/>
              <a:gdLst/>
              <a:ahLst/>
              <a:cxnLst/>
              <a:rect r="r" b="b" t="t" l="l"/>
              <a:pathLst>
                <a:path h="5319192" w="22549104">
                  <a:moveTo>
                    <a:pt x="0" y="0"/>
                  </a:moveTo>
                  <a:lnTo>
                    <a:pt x="22549104" y="0"/>
                  </a:lnTo>
                  <a:lnTo>
                    <a:pt x="22549104" y="5319192"/>
                  </a:lnTo>
                  <a:lnTo>
                    <a:pt x="0" y="53191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0567" r="0" b="5365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>
              <a:off x="0" y="-19050"/>
              <a:ext cx="22549104" cy="533824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400"/>
                </a:lnSpc>
              </a:pPr>
              <a:r>
                <a:rPr lang="en-US" sz="4500" b="true">
                  <a:solidFill>
                    <a:srgbClr val="222222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Common Mistakes 1 — การใช้ unwrap() และ “ ? “</a:t>
              </a:r>
            </a:p>
            <a:p>
              <a:pPr algn="l">
                <a:lnSpc>
                  <a:spcPts val="5400"/>
                </a:lnSpc>
              </a:pP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662976" y="1986915"/>
            <a:ext cx="7955280" cy="548640"/>
            <a:chOff x="0" y="0"/>
            <a:chExt cx="10607040" cy="73152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0607040" cy="731520"/>
            </a:xfrm>
            <a:custGeom>
              <a:avLst/>
              <a:gdLst/>
              <a:ahLst/>
              <a:cxnLst/>
              <a:rect r="r" b="b" t="t" l="l"/>
              <a:pathLst>
                <a:path h="731520" w="10607040">
                  <a:moveTo>
                    <a:pt x="0" y="0"/>
                  </a:moveTo>
                  <a:lnTo>
                    <a:pt x="10607040" y="0"/>
                  </a:lnTo>
                  <a:lnTo>
                    <a:pt x="1060704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32533" r="0" b="-232533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47625"/>
              <a:ext cx="10607040" cy="7791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 b="true">
                  <a:solidFill>
                    <a:srgbClr val="B23B3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❌  Incorrect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685800" y="2588895"/>
            <a:ext cx="8162949" cy="4722130"/>
            <a:chOff x="0" y="0"/>
            <a:chExt cx="10607040" cy="6135997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0607040" cy="6135997"/>
            </a:xfrm>
            <a:custGeom>
              <a:avLst/>
              <a:gdLst/>
              <a:ahLst/>
              <a:cxnLst/>
              <a:rect r="r" b="b" t="t" l="l"/>
              <a:pathLst>
                <a:path h="6135997" w="10607040">
                  <a:moveTo>
                    <a:pt x="0" y="175314"/>
                  </a:moveTo>
                  <a:cubicBezTo>
                    <a:pt x="0" y="78526"/>
                    <a:pt x="49149" y="0"/>
                    <a:pt x="109728" y="0"/>
                  </a:cubicBezTo>
                  <a:lnTo>
                    <a:pt x="10497312" y="0"/>
                  </a:lnTo>
                  <a:cubicBezTo>
                    <a:pt x="10557891" y="0"/>
                    <a:pt x="10607040" y="78526"/>
                    <a:pt x="10607040" y="175314"/>
                  </a:cubicBezTo>
                  <a:lnTo>
                    <a:pt x="10607040" y="5960683"/>
                  </a:lnTo>
                  <a:cubicBezTo>
                    <a:pt x="10607040" y="6057471"/>
                    <a:pt x="10557891" y="6135997"/>
                    <a:pt x="10497312" y="6135997"/>
                  </a:cubicBezTo>
                  <a:lnTo>
                    <a:pt x="109728" y="6135997"/>
                  </a:lnTo>
                  <a:cubicBezTo>
                    <a:pt x="49149" y="6135997"/>
                    <a:pt x="0" y="6057471"/>
                    <a:pt x="0" y="5960683"/>
                  </a:cubicBezTo>
                  <a:close/>
                </a:path>
              </a:pathLst>
            </a:custGeom>
            <a:solidFill>
              <a:srgbClr val="1E1E1E"/>
            </a:solidFill>
          </p:spPr>
        </p:sp>
      </p:grpSp>
      <p:sp>
        <p:nvSpPr>
          <p:cNvPr name="TextBox 15" id="15"/>
          <p:cNvSpPr txBox="true"/>
          <p:nvPr/>
        </p:nvSpPr>
        <p:spPr>
          <a:xfrm rot="0">
            <a:off x="916293" y="2766268"/>
            <a:ext cx="7701962" cy="29546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22"/>
              </a:lnSpc>
            </a:pPr>
            <a:r>
              <a:rPr lang="en-US" sz="1900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  <a:t>fn read_port(input: &amp;str) -&gt; u16 {</a:t>
            </a:r>
          </a:p>
          <a:p>
            <a:pPr algn="l">
              <a:lnSpc>
                <a:spcPts val="2622"/>
              </a:lnSpc>
            </a:pPr>
            <a:r>
              <a:rPr lang="en-US" sz="1900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  <a:t>    input.trim().parse().unwrap()</a:t>
            </a:r>
          </a:p>
          <a:p>
            <a:pPr algn="l">
              <a:lnSpc>
                <a:spcPts val="2622"/>
              </a:lnSpc>
            </a:pPr>
            <a:r>
              <a:rPr lang="en-US" sz="1900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</a:p>
          <a:p>
            <a:pPr algn="l">
              <a:lnSpc>
                <a:spcPts val="2622"/>
              </a:lnSpc>
            </a:pPr>
            <a:r>
              <a:rPr lang="en-US" sz="1900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  <a:t>fn main() {</a:t>
            </a:r>
          </a:p>
          <a:p>
            <a:pPr algn="l">
              <a:lnSpc>
                <a:spcPts val="2622"/>
              </a:lnSpc>
            </a:pPr>
            <a:r>
              <a:rPr lang="en-US" sz="1900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  <a:t>   let config = "abc"; </a:t>
            </a:r>
          </a:p>
          <a:p>
            <a:pPr algn="l">
              <a:lnSpc>
                <a:spcPts val="2622"/>
              </a:lnSpc>
            </a:pPr>
            <a:r>
              <a:rPr lang="en-US" sz="1900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  <a:t>   let port = read_port(config);</a:t>
            </a:r>
          </a:p>
          <a:p>
            <a:pPr algn="l">
              <a:lnSpc>
                <a:spcPts val="2622"/>
              </a:lnSpc>
            </a:pPr>
            <a:r>
              <a:rPr lang="en-US" sz="1900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  <a:t>   println!("Starting server on port {}",port);</a:t>
            </a:r>
          </a:p>
          <a:p>
            <a:pPr algn="l">
              <a:lnSpc>
                <a:spcPts val="2622"/>
              </a:lnSpc>
            </a:pPr>
            <a:r>
              <a:rPr lang="en-US" sz="1900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</a:p>
          <a:p>
            <a:pPr algn="l">
              <a:lnSpc>
                <a:spcPts val="2897"/>
              </a:lnSpc>
            </a:pPr>
          </a:p>
        </p:txBody>
      </p:sp>
      <p:grpSp>
        <p:nvGrpSpPr>
          <p:cNvPr name="Group 16" id="16"/>
          <p:cNvGrpSpPr/>
          <p:nvPr/>
        </p:nvGrpSpPr>
        <p:grpSpPr>
          <a:xfrm rot="0">
            <a:off x="9052560" y="1986915"/>
            <a:ext cx="7955280" cy="548640"/>
            <a:chOff x="0" y="0"/>
            <a:chExt cx="10607040" cy="73152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10607040" cy="731520"/>
            </a:xfrm>
            <a:custGeom>
              <a:avLst/>
              <a:gdLst/>
              <a:ahLst/>
              <a:cxnLst/>
              <a:rect r="r" b="b" t="t" l="l"/>
              <a:pathLst>
                <a:path h="731520" w="10607040">
                  <a:moveTo>
                    <a:pt x="0" y="0"/>
                  </a:moveTo>
                  <a:lnTo>
                    <a:pt x="10607040" y="0"/>
                  </a:lnTo>
                  <a:lnTo>
                    <a:pt x="1060704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32533" r="0" b="-232533"/>
              </a:stretch>
            </a:blipFill>
          </p:spPr>
        </p:sp>
        <p:sp>
          <p:nvSpPr>
            <p:cNvPr name="TextBox 18" id="18"/>
            <p:cNvSpPr txBox="true"/>
            <p:nvPr/>
          </p:nvSpPr>
          <p:spPr>
            <a:xfrm>
              <a:off x="0" y="-47625"/>
              <a:ext cx="10607040" cy="7791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 b="true">
                  <a:solidFill>
                    <a:srgbClr val="3B8B5C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✅  Correct</a:t>
              </a: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9052560" y="2588895"/>
            <a:ext cx="8545068" cy="4722130"/>
            <a:chOff x="0" y="0"/>
            <a:chExt cx="11107010" cy="6137897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11107010" cy="6137898"/>
            </a:xfrm>
            <a:custGeom>
              <a:avLst/>
              <a:gdLst/>
              <a:ahLst/>
              <a:cxnLst/>
              <a:rect r="r" b="b" t="t" l="l"/>
              <a:pathLst>
                <a:path h="6137898" w="11107010">
                  <a:moveTo>
                    <a:pt x="0" y="175369"/>
                  </a:moveTo>
                  <a:cubicBezTo>
                    <a:pt x="0" y="78550"/>
                    <a:pt x="51466" y="0"/>
                    <a:pt x="114900" y="0"/>
                  </a:cubicBezTo>
                  <a:lnTo>
                    <a:pt x="10992110" y="0"/>
                  </a:lnTo>
                  <a:cubicBezTo>
                    <a:pt x="11055545" y="0"/>
                    <a:pt x="11107010" y="78550"/>
                    <a:pt x="11107010" y="175369"/>
                  </a:cubicBezTo>
                  <a:lnTo>
                    <a:pt x="11107010" y="5962529"/>
                  </a:lnTo>
                  <a:cubicBezTo>
                    <a:pt x="11107010" y="6059347"/>
                    <a:pt x="11055545" y="6137898"/>
                    <a:pt x="10992110" y="6137898"/>
                  </a:cubicBezTo>
                  <a:lnTo>
                    <a:pt x="114900" y="6137898"/>
                  </a:lnTo>
                  <a:cubicBezTo>
                    <a:pt x="51466" y="6137898"/>
                    <a:pt x="0" y="6059347"/>
                    <a:pt x="0" y="5962529"/>
                  </a:cubicBezTo>
                  <a:close/>
                </a:path>
              </a:pathLst>
            </a:custGeom>
            <a:solidFill>
              <a:srgbClr val="1E1E1E"/>
            </a:solidFill>
          </p:spPr>
        </p:sp>
      </p:grpSp>
      <p:sp>
        <p:nvSpPr>
          <p:cNvPr name="TextBox 21" id="21"/>
          <p:cNvSpPr txBox="true"/>
          <p:nvPr/>
        </p:nvSpPr>
        <p:spPr>
          <a:xfrm rot="0">
            <a:off x="9266301" y="2682413"/>
            <a:ext cx="8117586" cy="44646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84"/>
              </a:lnSpc>
            </a:pPr>
            <a:r>
              <a:rPr lang="en-US" sz="1800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  <a:t>use std::num::ParseIntError;</a:t>
            </a:r>
          </a:p>
          <a:p>
            <a:pPr algn="l">
              <a:lnSpc>
                <a:spcPts val="2484"/>
              </a:lnSpc>
            </a:pPr>
          </a:p>
          <a:p>
            <a:pPr algn="l">
              <a:lnSpc>
                <a:spcPts val="2484"/>
              </a:lnSpc>
            </a:pPr>
            <a:r>
              <a:rPr lang="en-US" sz="1800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  <a:t>fn read_port(input: &amp;str) -&gt; Result&lt;u16, ParseIntError&gt; {</a:t>
            </a:r>
          </a:p>
          <a:p>
            <a:pPr algn="l">
              <a:lnSpc>
                <a:spcPts val="2484"/>
              </a:lnSpc>
            </a:pPr>
            <a:r>
              <a:rPr lang="en-US" sz="1800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  <a:t>    let port: u16 = input.trim().parse()?; </a:t>
            </a:r>
          </a:p>
          <a:p>
            <a:pPr algn="l">
              <a:lnSpc>
                <a:spcPts val="2484"/>
              </a:lnSpc>
            </a:pPr>
            <a:r>
              <a:rPr lang="en-US" sz="1800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  <a:t>    Ok(port)</a:t>
            </a:r>
          </a:p>
          <a:p>
            <a:pPr algn="l">
              <a:lnSpc>
                <a:spcPts val="2484"/>
              </a:lnSpc>
            </a:pPr>
            <a:r>
              <a:rPr lang="en-US" sz="1800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</a:p>
          <a:p>
            <a:pPr algn="l">
              <a:lnSpc>
                <a:spcPts val="2484"/>
              </a:lnSpc>
            </a:pPr>
            <a:r>
              <a:rPr lang="en-US" sz="1800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  <a:t>fn main() {</a:t>
            </a:r>
          </a:p>
          <a:p>
            <a:pPr algn="l">
              <a:lnSpc>
                <a:spcPts val="2484"/>
              </a:lnSpc>
            </a:pPr>
            <a:r>
              <a:rPr lang="en-US" sz="1800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  <a:t>    let config = "abc";</a:t>
            </a:r>
          </a:p>
          <a:p>
            <a:pPr algn="l">
              <a:lnSpc>
                <a:spcPts val="2484"/>
              </a:lnSpc>
            </a:pPr>
            <a:r>
              <a:rPr lang="en-US" sz="1800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  <a:t>    match read_port(config) {</a:t>
            </a:r>
          </a:p>
          <a:p>
            <a:pPr algn="l">
              <a:lnSpc>
                <a:spcPts val="2484"/>
              </a:lnSpc>
            </a:pPr>
            <a:r>
              <a:rPr lang="en-US" sz="1800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  <a:t>        Ok(port) =&gt; println!("Starting server on port {}", port),</a:t>
            </a:r>
          </a:p>
          <a:p>
            <a:pPr algn="l">
              <a:lnSpc>
                <a:spcPts val="2484"/>
              </a:lnSpc>
            </a:pPr>
            <a:r>
              <a:rPr lang="en-US" sz="1800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  <a:t>        Err(e) =&gt; println!("Invalid config: {}", e),</a:t>
            </a:r>
          </a:p>
          <a:p>
            <a:pPr algn="l">
              <a:lnSpc>
                <a:spcPts val="2484"/>
              </a:lnSpc>
            </a:pPr>
            <a:r>
              <a:rPr lang="en-US" sz="1800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  <a:t>    }</a:t>
            </a:r>
          </a:p>
          <a:p>
            <a:pPr algn="l">
              <a:lnSpc>
                <a:spcPts val="3035"/>
              </a:lnSpc>
            </a:pPr>
            <a:r>
              <a:rPr lang="en-US" sz="2199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</a:p>
        </p:txBody>
      </p:sp>
      <p:grpSp>
        <p:nvGrpSpPr>
          <p:cNvPr name="Group 22" id="22"/>
          <p:cNvGrpSpPr/>
          <p:nvPr/>
        </p:nvGrpSpPr>
        <p:grpSpPr>
          <a:xfrm rot="0">
            <a:off x="685800" y="7468362"/>
            <a:ext cx="16911828" cy="2194560"/>
            <a:chOff x="0" y="0"/>
            <a:chExt cx="22549104" cy="292608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22549104" cy="2926080"/>
            </a:xfrm>
            <a:custGeom>
              <a:avLst/>
              <a:gdLst/>
              <a:ahLst/>
              <a:cxnLst/>
              <a:rect r="r" b="b" t="t" l="l"/>
              <a:pathLst>
                <a:path h="2926080" w="22549104">
                  <a:moveTo>
                    <a:pt x="0" y="146304"/>
                  </a:moveTo>
                  <a:cubicBezTo>
                    <a:pt x="0" y="65532"/>
                    <a:pt x="65532" y="0"/>
                    <a:pt x="146304" y="0"/>
                  </a:cubicBezTo>
                  <a:lnTo>
                    <a:pt x="22402800" y="0"/>
                  </a:lnTo>
                  <a:cubicBezTo>
                    <a:pt x="22483572" y="0"/>
                    <a:pt x="22549104" y="65532"/>
                    <a:pt x="22549104" y="146304"/>
                  </a:cubicBezTo>
                  <a:lnTo>
                    <a:pt x="22549104" y="2779776"/>
                  </a:lnTo>
                  <a:cubicBezTo>
                    <a:pt x="22549104" y="2860548"/>
                    <a:pt x="22483572" y="2926080"/>
                    <a:pt x="22402800" y="2926080"/>
                  </a:cubicBezTo>
                  <a:lnTo>
                    <a:pt x="146304" y="2926080"/>
                  </a:lnTo>
                  <a:cubicBezTo>
                    <a:pt x="65532" y="2926080"/>
                    <a:pt x="0" y="2860548"/>
                    <a:pt x="0" y="2779776"/>
                  </a:cubicBezTo>
                  <a:close/>
                </a:path>
              </a:pathLst>
            </a:custGeom>
            <a:solidFill>
              <a:srgbClr val="F7F0F0"/>
            </a:solidFill>
          </p:spPr>
        </p:sp>
      </p:grpSp>
      <p:grpSp>
        <p:nvGrpSpPr>
          <p:cNvPr name="Group 24" id="24"/>
          <p:cNvGrpSpPr/>
          <p:nvPr/>
        </p:nvGrpSpPr>
        <p:grpSpPr>
          <a:xfrm rot="0">
            <a:off x="1028700" y="7674102"/>
            <a:ext cx="16226028" cy="480060"/>
            <a:chOff x="0" y="0"/>
            <a:chExt cx="21634704" cy="64008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21634704" cy="640080"/>
            </a:xfrm>
            <a:custGeom>
              <a:avLst/>
              <a:gdLst/>
              <a:ahLst/>
              <a:cxnLst/>
              <a:rect r="r" b="b" t="t" l="l"/>
              <a:pathLst>
                <a:path h="640080" w="21634704">
                  <a:moveTo>
                    <a:pt x="0" y="0"/>
                  </a:moveTo>
                  <a:lnTo>
                    <a:pt x="21634704" y="0"/>
                  </a:lnTo>
                  <a:lnTo>
                    <a:pt x="21634704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08594" r="0" b="-608594"/>
              </a:stretch>
            </a:blipFill>
          </p:spPr>
        </p:sp>
        <p:sp>
          <p:nvSpPr>
            <p:cNvPr name="TextBox 26" id="26"/>
            <p:cNvSpPr txBox="true"/>
            <p:nvPr/>
          </p:nvSpPr>
          <p:spPr>
            <a:xfrm>
              <a:off x="0" y="-19050"/>
              <a:ext cx="21634704" cy="65913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 b="true">
                  <a:solidFill>
                    <a:srgbClr val="8B2E2E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ทำไมถึงผิด? (Why?)</a:t>
              </a:r>
            </a:p>
          </p:txBody>
        </p:sp>
      </p:grpSp>
      <p:sp>
        <p:nvSpPr>
          <p:cNvPr name="TextBox 27" id="27"/>
          <p:cNvSpPr txBox="true"/>
          <p:nvPr/>
        </p:nvSpPr>
        <p:spPr>
          <a:xfrm rot="0">
            <a:off x="1033272" y="8068437"/>
            <a:ext cx="16226028" cy="7219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29"/>
              </a:lnSpc>
            </a:pPr>
            <a:r>
              <a:rPr lang="en-US" sz="1950">
                <a:solidFill>
                  <a:srgbClr val="222222"/>
                </a:solidFill>
                <a:latin typeface="Calibri (MS)"/>
                <a:ea typeface="Calibri (MS)"/>
                <a:cs typeface="Calibri (MS)"/>
                <a:sym typeface="Calibri (MS)"/>
              </a:rPr>
              <a:t>   เพร</a:t>
            </a:r>
            <a:r>
              <a:rPr lang="en-US" sz="1950">
                <a:solidFill>
                  <a:srgbClr val="222222"/>
                </a:solidFill>
                <a:latin typeface="Calibri (MS)"/>
                <a:ea typeface="Calibri (MS)"/>
                <a:cs typeface="Calibri (MS)"/>
                <a:sym typeface="Calibri (MS)"/>
              </a:rPr>
              <a:t>าะถ้าใช้ </a:t>
            </a:r>
            <a:r>
              <a:rPr lang="en-US" sz="1950" b="true">
                <a:solidFill>
                  <a:srgbClr val="222222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.unwrap()</a:t>
            </a:r>
            <a:r>
              <a:rPr lang="en-US" sz="1950">
                <a:solidFill>
                  <a:srgbClr val="222222"/>
                </a:solidFill>
                <a:latin typeface="Calibri (MS)"/>
                <a:ea typeface="Calibri (MS)"/>
                <a:cs typeface="Calibri (MS)"/>
                <a:sym typeface="Calibri (MS)"/>
              </a:rPr>
              <a:t> แล้วผลลัพธ์เป็น </a:t>
            </a:r>
            <a:r>
              <a:rPr lang="en-US" sz="1950" b="true">
                <a:solidFill>
                  <a:srgbClr val="222222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Err</a:t>
            </a:r>
            <a:r>
              <a:rPr lang="en-US" sz="1950">
                <a:solidFill>
                  <a:srgbClr val="222222"/>
                </a:solidFill>
                <a:latin typeface="Calibri (MS)"/>
                <a:ea typeface="Calibri (MS)"/>
                <a:cs typeface="Calibri (MS)"/>
                <a:sym typeface="Calibri (MS)"/>
              </a:rPr>
              <a:t> โปรแกรมจะ panic และหยุดทำงานทันที แต่ถ้าใช้ </a:t>
            </a:r>
            <a:r>
              <a:rPr lang="en-US" sz="1950" b="true">
                <a:solidFill>
                  <a:srgbClr val="222222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?</a:t>
            </a:r>
            <a:r>
              <a:rPr lang="en-US" sz="1950">
                <a:solidFill>
                  <a:srgbClr val="222222"/>
                </a:solidFill>
                <a:latin typeface="Calibri (MS)"/>
                <a:ea typeface="Calibri (MS)"/>
                <a:cs typeface="Calibri (MS)"/>
                <a:sym typeface="Calibri (MS)"/>
              </a:rPr>
              <a:t> แทน ตัว </a:t>
            </a:r>
            <a:r>
              <a:rPr lang="en-US" sz="1950" b="true">
                <a:solidFill>
                  <a:srgbClr val="222222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Err</a:t>
            </a:r>
            <a:r>
              <a:rPr lang="en-US" sz="1950">
                <a:solidFill>
                  <a:srgbClr val="222222"/>
                </a:solidFill>
                <a:latin typeface="Calibri (MS)"/>
                <a:ea typeface="Calibri (MS)"/>
                <a:cs typeface="Calibri (MS)"/>
                <a:sym typeface="Calibri (MS)"/>
              </a:rPr>
              <a:t> จะถูกส่งกลับไปยังฟังก์ชันที่เรียกใช้งาน (</a:t>
            </a:r>
            <a:r>
              <a:rPr lang="en-US" sz="1950" b="true">
                <a:solidFill>
                  <a:srgbClr val="222222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caller</a:t>
            </a:r>
            <a:r>
              <a:rPr lang="en-US" sz="1950">
                <a:solidFill>
                  <a:srgbClr val="222222"/>
                </a:solidFill>
                <a:latin typeface="Calibri (MS)"/>
                <a:ea typeface="Calibri (MS)"/>
                <a:cs typeface="Calibri (MS)"/>
                <a:sym typeface="Calibri (MS)"/>
              </a:rPr>
              <a:t>) เพื่อให้ฟังก์ชันนั้นเลือกได้เองว่าจะจัดการ </a:t>
            </a:r>
            <a:r>
              <a:rPr lang="en-US" sz="1950" b="true">
                <a:solidFill>
                  <a:srgbClr val="222222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error </a:t>
            </a:r>
            <a:r>
              <a:rPr lang="en-US" sz="1950">
                <a:solidFill>
                  <a:srgbClr val="222222"/>
                </a:solidFill>
                <a:latin typeface="Calibri (MS)"/>
                <a:ea typeface="Calibri (MS)"/>
                <a:cs typeface="Calibri (MS)"/>
                <a:sym typeface="Calibri (MS)"/>
              </a:rPr>
              <a:t>อย่างไร เช่น แสดงข้อความแจ้งเตือน</a:t>
            </a:r>
          </a:p>
        </p:txBody>
      </p:sp>
      <p:grpSp>
        <p:nvGrpSpPr>
          <p:cNvPr name="Group 28" id="28"/>
          <p:cNvGrpSpPr/>
          <p:nvPr/>
        </p:nvGrpSpPr>
        <p:grpSpPr>
          <a:xfrm rot="0">
            <a:off x="685800" y="9710928"/>
            <a:ext cx="10972800" cy="411480"/>
            <a:chOff x="0" y="0"/>
            <a:chExt cx="14630400" cy="548640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14630400" cy="548640"/>
            </a:xfrm>
            <a:custGeom>
              <a:avLst/>
              <a:gdLst/>
              <a:ahLst/>
              <a:cxnLst/>
              <a:rect r="r" b="b" t="t" l="l"/>
              <a:pathLst>
                <a:path h="548640" w="14630400">
                  <a:moveTo>
                    <a:pt x="0" y="0"/>
                  </a:moveTo>
                  <a:lnTo>
                    <a:pt x="14630400" y="0"/>
                  </a:lnTo>
                  <a:lnTo>
                    <a:pt x="146304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69601" r="0" b="-469601"/>
              </a:stretch>
            </a:blipFill>
          </p:spPr>
        </p:sp>
        <p:sp>
          <p:nvSpPr>
            <p:cNvPr name="TextBox 30" id="30"/>
            <p:cNvSpPr txBox="true"/>
            <p:nvPr/>
          </p:nvSpPr>
          <p:spPr>
            <a:xfrm>
              <a:off x="0" y="-38100"/>
              <a:ext cx="14630400" cy="5867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00"/>
                </a:lnSpc>
              </a:pPr>
              <a:r>
                <a:rPr lang="en-US" sz="1500">
                  <a:solidFill>
                    <a:srgbClr val="6B6B6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517321 Principles of Programming Languages — Rust Tutorial</a:t>
              </a:r>
            </a:p>
          </p:txBody>
        </p:sp>
      </p:grpSp>
      <p:grpSp>
        <p:nvGrpSpPr>
          <p:cNvPr name="Group 31" id="31"/>
          <p:cNvGrpSpPr/>
          <p:nvPr/>
        </p:nvGrpSpPr>
        <p:grpSpPr>
          <a:xfrm rot="0">
            <a:off x="16911828" y="9710928"/>
            <a:ext cx="685800" cy="411480"/>
            <a:chOff x="0" y="0"/>
            <a:chExt cx="914400" cy="548640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914400" cy="548640"/>
            </a:xfrm>
            <a:custGeom>
              <a:avLst/>
              <a:gdLst/>
              <a:ahLst/>
              <a:cxnLst/>
              <a:rect r="r" b="b" t="t" l="l"/>
              <a:pathLst>
                <a:path h="548640" w="914400">
                  <a:moveTo>
                    <a:pt x="0" y="0"/>
                  </a:moveTo>
                  <a:lnTo>
                    <a:pt x="914400" y="0"/>
                  </a:lnTo>
                  <a:lnTo>
                    <a:pt x="9144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26982" t="0" r="-26982" b="0"/>
              </a:stretch>
            </a:blipFill>
          </p:spPr>
        </p:sp>
        <p:sp>
          <p:nvSpPr>
            <p:cNvPr name="TextBox 33" id="33"/>
            <p:cNvSpPr txBox="true"/>
            <p:nvPr/>
          </p:nvSpPr>
          <p:spPr>
            <a:xfrm>
              <a:off x="0" y="-38100"/>
              <a:ext cx="914400" cy="5867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800"/>
                </a:lnSpc>
              </a:pPr>
              <a:r>
                <a:rPr lang="en-US" sz="1500">
                  <a:solidFill>
                    <a:srgbClr val="6B6B6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7</a:t>
              </a:r>
            </a:p>
          </p:txBody>
        </p:sp>
      </p:grpSp>
    </p:spTree>
  </p:cSld>
  <p:clrMapOvr>
    <a:masterClrMapping/>
  </p:clrMapOvr>
  <p:transition spd="fast">
    <p:wipe dir="l"/>
  </p:transition>
</p:sld>
</file>

<file path=ppt/slides/slide2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685800" y="617220"/>
            <a:ext cx="4114800" cy="576072"/>
            <a:chOff x="0" y="0"/>
            <a:chExt cx="5486400" cy="76809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5486400" cy="768096"/>
            </a:xfrm>
            <a:custGeom>
              <a:avLst/>
              <a:gdLst/>
              <a:ahLst/>
              <a:cxnLst/>
              <a:rect r="r" b="b" t="t" l="l"/>
              <a:pathLst>
                <a:path h="768096" w="5486400">
                  <a:moveTo>
                    <a:pt x="0" y="146304"/>
                  </a:moveTo>
                  <a:cubicBezTo>
                    <a:pt x="0" y="65532"/>
                    <a:pt x="65532" y="0"/>
                    <a:pt x="146304" y="0"/>
                  </a:cubicBezTo>
                  <a:lnTo>
                    <a:pt x="5340096" y="0"/>
                  </a:lnTo>
                  <a:cubicBezTo>
                    <a:pt x="5420868" y="0"/>
                    <a:pt x="5486400" y="65532"/>
                    <a:pt x="5486400" y="146304"/>
                  </a:cubicBezTo>
                  <a:lnTo>
                    <a:pt x="5486400" y="621792"/>
                  </a:lnTo>
                  <a:cubicBezTo>
                    <a:pt x="5486400" y="702564"/>
                    <a:pt x="5420868" y="768096"/>
                    <a:pt x="5340096" y="768096"/>
                  </a:cubicBezTo>
                  <a:lnTo>
                    <a:pt x="146304" y="768096"/>
                  </a:lnTo>
                  <a:cubicBezTo>
                    <a:pt x="65532" y="768096"/>
                    <a:pt x="0" y="702564"/>
                    <a:pt x="0" y="621792"/>
                  </a:cubicBezTo>
                  <a:close/>
                </a:path>
              </a:pathLst>
            </a:custGeom>
            <a:solidFill>
              <a:srgbClr val="8B2E2E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685800" y="617220"/>
            <a:ext cx="4114800" cy="576072"/>
            <a:chOff x="0" y="0"/>
            <a:chExt cx="5486400" cy="768096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5486400" cy="768096"/>
            </a:xfrm>
            <a:custGeom>
              <a:avLst/>
              <a:gdLst/>
              <a:ahLst/>
              <a:cxnLst/>
              <a:rect r="r" b="b" t="t" l="l"/>
              <a:pathLst>
                <a:path h="768096" w="5486400">
                  <a:moveTo>
                    <a:pt x="0" y="0"/>
                  </a:moveTo>
                  <a:lnTo>
                    <a:pt x="5486400" y="0"/>
                  </a:lnTo>
                  <a:lnTo>
                    <a:pt x="5486400" y="768096"/>
                  </a:lnTo>
                  <a:lnTo>
                    <a:pt x="0" y="76809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9178" r="0" b="-89178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-47625"/>
              <a:ext cx="5486400" cy="81572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340"/>
                </a:lnSpc>
              </a:pPr>
              <a:r>
                <a:rPr lang="en-US" sz="195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PART 4 · MEMBER 4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595503" y="-104513"/>
            <a:ext cx="17132828" cy="3303594"/>
            <a:chOff x="0" y="0"/>
            <a:chExt cx="22843771" cy="4404792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2843772" cy="4404792"/>
            </a:xfrm>
            <a:custGeom>
              <a:avLst/>
              <a:gdLst/>
              <a:ahLst/>
              <a:cxnLst/>
              <a:rect r="r" b="b" t="t" l="l"/>
              <a:pathLst>
                <a:path h="4404792" w="22843772">
                  <a:moveTo>
                    <a:pt x="0" y="0"/>
                  </a:moveTo>
                  <a:lnTo>
                    <a:pt x="22843772" y="0"/>
                  </a:lnTo>
                  <a:lnTo>
                    <a:pt x="22843772" y="4404792"/>
                  </a:lnTo>
                  <a:lnTo>
                    <a:pt x="0" y="44047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5216" r="1289" b="-14279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>
              <a:off x="0" y="-19050"/>
              <a:ext cx="22843771" cy="442384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400"/>
                </a:lnSpc>
              </a:pPr>
              <a:r>
                <a:rPr lang="en-US" sz="4500" b="true">
                  <a:solidFill>
                    <a:srgbClr val="222222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Common Mistakes 2 — การผูก Error String กับการใช้ Error variant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684657" y="1867472"/>
            <a:ext cx="7955280" cy="548640"/>
            <a:chOff x="0" y="0"/>
            <a:chExt cx="10607040" cy="73152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0607040" cy="731520"/>
            </a:xfrm>
            <a:custGeom>
              <a:avLst/>
              <a:gdLst/>
              <a:ahLst/>
              <a:cxnLst/>
              <a:rect r="r" b="b" t="t" l="l"/>
              <a:pathLst>
                <a:path h="731520" w="10607040">
                  <a:moveTo>
                    <a:pt x="0" y="0"/>
                  </a:moveTo>
                  <a:lnTo>
                    <a:pt x="10607040" y="0"/>
                  </a:lnTo>
                  <a:lnTo>
                    <a:pt x="1060704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32533" r="0" b="-232533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47625"/>
              <a:ext cx="10607040" cy="7791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 b="true">
                  <a:solidFill>
                    <a:srgbClr val="B23B3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❌  Incorrect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684657" y="2416112"/>
            <a:ext cx="8162949" cy="5187497"/>
            <a:chOff x="0" y="0"/>
            <a:chExt cx="10607040" cy="674070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0607040" cy="6740700"/>
            </a:xfrm>
            <a:custGeom>
              <a:avLst/>
              <a:gdLst/>
              <a:ahLst/>
              <a:cxnLst/>
              <a:rect r="r" b="b" t="t" l="l"/>
              <a:pathLst>
                <a:path h="6740700" w="10607040">
                  <a:moveTo>
                    <a:pt x="0" y="192591"/>
                  </a:moveTo>
                  <a:cubicBezTo>
                    <a:pt x="0" y="86265"/>
                    <a:pt x="49149" y="0"/>
                    <a:pt x="109728" y="0"/>
                  </a:cubicBezTo>
                  <a:lnTo>
                    <a:pt x="10497312" y="0"/>
                  </a:lnTo>
                  <a:cubicBezTo>
                    <a:pt x="10557891" y="0"/>
                    <a:pt x="10607040" y="86265"/>
                    <a:pt x="10607040" y="192591"/>
                  </a:cubicBezTo>
                  <a:lnTo>
                    <a:pt x="10607040" y="6548109"/>
                  </a:lnTo>
                  <a:cubicBezTo>
                    <a:pt x="10607040" y="6654435"/>
                    <a:pt x="10557891" y="6740700"/>
                    <a:pt x="10497312" y="6740700"/>
                  </a:cubicBezTo>
                  <a:lnTo>
                    <a:pt x="109728" y="6740700"/>
                  </a:lnTo>
                  <a:cubicBezTo>
                    <a:pt x="49149" y="6740700"/>
                    <a:pt x="0" y="6654435"/>
                    <a:pt x="0" y="6548109"/>
                  </a:cubicBezTo>
                  <a:close/>
                </a:path>
              </a:pathLst>
            </a:custGeom>
            <a:solidFill>
              <a:srgbClr val="1E1E1E"/>
            </a:solidFill>
          </p:spPr>
        </p:sp>
      </p:grpSp>
      <p:sp>
        <p:nvSpPr>
          <p:cNvPr name="TextBox 15" id="15"/>
          <p:cNvSpPr txBox="true"/>
          <p:nvPr/>
        </p:nvSpPr>
        <p:spPr>
          <a:xfrm rot="0">
            <a:off x="915150" y="2497121"/>
            <a:ext cx="7701962" cy="53046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45"/>
              </a:lnSpc>
            </a:pPr>
            <a:r>
              <a:rPr lang="en-US" sz="1699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  <a:t>fn find_user(id: u32) -&gt; Result&lt;String, String&gt; {</a:t>
            </a:r>
          </a:p>
          <a:p>
            <a:pPr algn="l">
              <a:lnSpc>
                <a:spcPts val="2345"/>
              </a:lnSpc>
            </a:pPr>
            <a:r>
              <a:rPr lang="en-US" sz="1699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  <a:t>   if id == 1 {</a:t>
            </a:r>
          </a:p>
          <a:p>
            <a:pPr algn="l">
              <a:lnSpc>
                <a:spcPts val="2345"/>
              </a:lnSpc>
            </a:pPr>
            <a:r>
              <a:rPr lang="en-US" sz="1699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  <a:t>      Ok("Alice".to_string())</a:t>
            </a:r>
          </a:p>
          <a:p>
            <a:pPr algn="l">
              <a:lnSpc>
                <a:spcPts val="2345"/>
              </a:lnSpc>
            </a:pPr>
            <a:r>
              <a:rPr lang="en-US" sz="1699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  <a:t>   } else {</a:t>
            </a:r>
          </a:p>
          <a:p>
            <a:pPr algn="l">
              <a:lnSpc>
                <a:spcPts val="2345"/>
              </a:lnSpc>
            </a:pPr>
            <a:r>
              <a:rPr lang="en-US" sz="1699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  <a:t>      Err("user not found".to_string())</a:t>
            </a:r>
          </a:p>
          <a:p>
            <a:pPr algn="l">
              <a:lnSpc>
                <a:spcPts val="2345"/>
              </a:lnSpc>
            </a:pPr>
            <a:r>
              <a:rPr lang="en-US" sz="1699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  <a:t>   }</a:t>
            </a:r>
          </a:p>
          <a:p>
            <a:pPr algn="l">
              <a:lnSpc>
                <a:spcPts val="2345"/>
              </a:lnSpc>
            </a:pPr>
            <a:r>
              <a:rPr lang="en-US" sz="1699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</a:p>
          <a:p>
            <a:pPr algn="l">
              <a:lnSpc>
                <a:spcPts val="2345"/>
              </a:lnSpc>
            </a:pPr>
            <a:r>
              <a:rPr lang="en-US" sz="1699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  <a:t>fn main() {</a:t>
            </a:r>
          </a:p>
          <a:p>
            <a:pPr algn="l">
              <a:lnSpc>
                <a:spcPts val="2345"/>
              </a:lnSpc>
            </a:pPr>
            <a:r>
              <a:rPr lang="en-US" sz="1699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  <a:t>   match find_user(2) {</a:t>
            </a:r>
          </a:p>
          <a:p>
            <a:pPr algn="l">
              <a:lnSpc>
                <a:spcPts val="2345"/>
              </a:lnSpc>
            </a:pPr>
            <a:r>
              <a:rPr lang="en-US" sz="1699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  <a:t>      Ok(name) =&gt; println!("Hello {}", name),</a:t>
            </a:r>
          </a:p>
          <a:p>
            <a:pPr algn="l">
              <a:lnSpc>
                <a:spcPts val="2345"/>
              </a:lnSpc>
            </a:pPr>
            <a:r>
              <a:rPr lang="en-US" sz="1699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  <a:t>      Err(err) =&gt; {</a:t>
            </a:r>
          </a:p>
          <a:p>
            <a:pPr algn="l">
              <a:lnSpc>
                <a:spcPts val="2345"/>
              </a:lnSpc>
            </a:pPr>
            <a:r>
              <a:rPr lang="en-US" sz="1699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  <a:t>      if err.contains("not found") {</a:t>
            </a:r>
          </a:p>
          <a:p>
            <a:pPr algn="l">
              <a:lnSpc>
                <a:spcPts val="2345"/>
              </a:lnSpc>
            </a:pPr>
            <a:r>
              <a:rPr lang="en-US" sz="1699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  <a:t>         println!("Creating a new user...");</a:t>
            </a:r>
          </a:p>
          <a:p>
            <a:pPr algn="l">
              <a:lnSpc>
                <a:spcPts val="2345"/>
              </a:lnSpc>
            </a:pPr>
            <a:r>
              <a:rPr lang="en-US" sz="1699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  <a:t>      } else {</a:t>
            </a:r>
          </a:p>
          <a:p>
            <a:pPr algn="l">
              <a:lnSpc>
                <a:spcPts val="2345"/>
              </a:lnSpc>
            </a:pPr>
            <a:r>
              <a:rPr lang="en-US" sz="1699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  <a:t>         println!("Something else went wrong");</a:t>
            </a:r>
          </a:p>
          <a:p>
            <a:pPr algn="l">
              <a:lnSpc>
                <a:spcPts val="2345"/>
              </a:lnSpc>
            </a:pPr>
            <a:r>
              <a:rPr lang="en-US" sz="1699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  <a:t>      }}</a:t>
            </a:r>
          </a:p>
          <a:p>
            <a:pPr algn="l">
              <a:lnSpc>
                <a:spcPts val="2345"/>
              </a:lnSpc>
            </a:pPr>
            <a:r>
              <a:rPr lang="en-US" sz="1699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  <a:t>}}</a:t>
            </a:r>
          </a:p>
          <a:p>
            <a:pPr algn="l">
              <a:lnSpc>
                <a:spcPts val="2345"/>
              </a:lnSpc>
            </a:pPr>
          </a:p>
        </p:txBody>
      </p:sp>
      <p:grpSp>
        <p:nvGrpSpPr>
          <p:cNvPr name="Group 16" id="16"/>
          <p:cNvGrpSpPr/>
          <p:nvPr/>
        </p:nvGrpSpPr>
        <p:grpSpPr>
          <a:xfrm rot="0">
            <a:off x="9051417" y="1867472"/>
            <a:ext cx="7955280" cy="548640"/>
            <a:chOff x="0" y="0"/>
            <a:chExt cx="10607040" cy="73152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10607040" cy="731520"/>
            </a:xfrm>
            <a:custGeom>
              <a:avLst/>
              <a:gdLst/>
              <a:ahLst/>
              <a:cxnLst/>
              <a:rect r="r" b="b" t="t" l="l"/>
              <a:pathLst>
                <a:path h="731520" w="10607040">
                  <a:moveTo>
                    <a:pt x="0" y="0"/>
                  </a:moveTo>
                  <a:lnTo>
                    <a:pt x="10607040" y="0"/>
                  </a:lnTo>
                  <a:lnTo>
                    <a:pt x="1060704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32533" r="0" b="-232533"/>
              </a:stretch>
            </a:blipFill>
          </p:spPr>
        </p:sp>
        <p:sp>
          <p:nvSpPr>
            <p:cNvPr name="TextBox 18" id="18"/>
            <p:cNvSpPr txBox="true"/>
            <p:nvPr/>
          </p:nvSpPr>
          <p:spPr>
            <a:xfrm>
              <a:off x="0" y="-47625"/>
              <a:ext cx="10607040" cy="7791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 b="true">
                  <a:solidFill>
                    <a:srgbClr val="3B8B5C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✅  Correct</a:t>
              </a: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9051417" y="2448497"/>
            <a:ext cx="8545068" cy="7017520"/>
            <a:chOff x="0" y="0"/>
            <a:chExt cx="11107010" cy="912148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11107010" cy="9121480"/>
            </a:xfrm>
            <a:custGeom>
              <a:avLst/>
              <a:gdLst/>
              <a:ahLst/>
              <a:cxnLst/>
              <a:rect r="r" b="b" t="t" l="l"/>
              <a:pathLst>
                <a:path h="9121480" w="11107010">
                  <a:moveTo>
                    <a:pt x="0" y="260614"/>
                  </a:moveTo>
                  <a:cubicBezTo>
                    <a:pt x="0" y="116733"/>
                    <a:pt x="51466" y="0"/>
                    <a:pt x="114900" y="0"/>
                  </a:cubicBezTo>
                  <a:lnTo>
                    <a:pt x="10992110" y="0"/>
                  </a:lnTo>
                  <a:cubicBezTo>
                    <a:pt x="11055545" y="0"/>
                    <a:pt x="11107010" y="116733"/>
                    <a:pt x="11107010" y="260614"/>
                  </a:cubicBezTo>
                  <a:lnTo>
                    <a:pt x="11107010" y="8860867"/>
                  </a:lnTo>
                  <a:cubicBezTo>
                    <a:pt x="11107010" y="9004747"/>
                    <a:pt x="11055545" y="9121480"/>
                    <a:pt x="10992110" y="9121480"/>
                  </a:cubicBezTo>
                  <a:lnTo>
                    <a:pt x="114900" y="9121480"/>
                  </a:lnTo>
                  <a:cubicBezTo>
                    <a:pt x="51466" y="9121480"/>
                    <a:pt x="0" y="9004747"/>
                    <a:pt x="0" y="8860867"/>
                  </a:cubicBezTo>
                  <a:close/>
                </a:path>
              </a:pathLst>
            </a:custGeom>
            <a:solidFill>
              <a:srgbClr val="1E1E1E"/>
            </a:solidFill>
          </p:spPr>
        </p:sp>
      </p:grpSp>
      <p:sp>
        <p:nvSpPr>
          <p:cNvPr name="TextBox 21" id="21"/>
          <p:cNvSpPr txBox="true"/>
          <p:nvPr/>
        </p:nvSpPr>
        <p:spPr>
          <a:xfrm rot="0">
            <a:off x="9265158" y="2589984"/>
            <a:ext cx="8117586" cy="66683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84"/>
              </a:lnSpc>
            </a:pPr>
            <a:r>
              <a:rPr lang="en-US" sz="1800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  <a:t>enum AppError {</a:t>
            </a:r>
          </a:p>
          <a:p>
            <a:pPr algn="l">
              <a:lnSpc>
                <a:spcPts val="2484"/>
              </a:lnSpc>
            </a:pPr>
            <a:r>
              <a:rPr lang="en-US" sz="1800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  <a:t>    UserNotFound,</a:t>
            </a:r>
          </a:p>
          <a:p>
            <a:pPr algn="l">
              <a:lnSpc>
                <a:spcPts val="2484"/>
              </a:lnSpc>
            </a:pPr>
            <a:r>
              <a:rPr lang="en-US" sz="1800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  <a:t>    DatabaseDown,</a:t>
            </a:r>
          </a:p>
          <a:p>
            <a:pPr algn="l">
              <a:lnSpc>
                <a:spcPts val="2484"/>
              </a:lnSpc>
            </a:pPr>
            <a:r>
              <a:rPr lang="en-US" sz="1800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</a:p>
          <a:p>
            <a:pPr algn="l">
              <a:lnSpc>
                <a:spcPts val="2484"/>
              </a:lnSpc>
            </a:pPr>
            <a:r>
              <a:rPr lang="en-US" sz="1800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  <a:t>fn find_user(id: u32) -&gt; Result&lt;String, AppError&gt; {</a:t>
            </a:r>
          </a:p>
          <a:p>
            <a:pPr algn="l">
              <a:lnSpc>
                <a:spcPts val="2484"/>
              </a:lnSpc>
            </a:pPr>
            <a:r>
              <a:rPr lang="en-US" sz="1800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  <a:t>    match id {</a:t>
            </a:r>
          </a:p>
          <a:p>
            <a:pPr algn="l">
              <a:lnSpc>
                <a:spcPts val="2484"/>
              </a:lnSpc>
            </a:pPr>
            <a:r>
              <a:rPr lang="en-US" sz="1800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  <a:t>        1 =&gt; Ok("Alice".to_string()),</a:t>
            </a:r>
          </a:p>
          <a:p>
            <a:pPr algn="l">
              <a:lnSpc>
                <a:spcPts val="2484"/>
              </a:lnSpc>
            </a:pPr>
            <a:r>
              <a:rPr lang="en-US" sz="1800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  <a:t>        99 =&gt; Err(AppError::DatabaseDown),</a:t>
            </a:r>
          </a:p>
          <a:p>
            <a:pPr algn="l">
              <a:lnSpc>
                <a:spcPts val="2484"/>
              </a:lnSpc>
            </a:pPr>
            <a:r>
              <a:rPr lang="en-US" sz="1800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  <a:t>        _ =&gt; Err(AppError::UserNotFound),</a:t>
            </a:r>
          </a:p>
          <a:p>
            <a:pPr algn="l">
              <a:lnSpc>
                <a:spcPts val="2484"/>
              </a:lnSpc>
            </a:pPr>
            <a:r>
              <a:rPr lang="en-US" sz="1800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  <a:t>    }</a:t>
            </a:r>
          </a:p>
          <a:p>
            <a:pPr algn="l">
              <a:lnSpc>
                <a:spcPts val="2484"/>
              </a:lnSpc>
            </a:pPr>
            <a:r>
              <a:rPr lang="en-US" sz="1800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</a:p>
          <a:p>
            <a:pPr algn="l">
              <a:lnSpc>
                <a:spcPts val="2484"/>
              </a:lnSpc>
            </a:pPr>
            <a:r>
              <a:rPr lang="en-US" sz="1800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  <a:t>fn main() {</a:t>
            </a:r>
          </a:p>
          <a:p>
            <a:pPr algn="l">
              <a:lnSpc>
                <a:spcPts val="2484"/>
              </a:lnSpc>
            </a:pPr>
            <a:r>
              <a:rPr lang="en-US" sz="1800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  <a:t>    let id = 2;</a:t>
            </a:r>
          </a:p>
          <a:p>
            <a:pPr algn="l">
              <a:lnSpc>
                <a:spcPts val="2484"/>
              </a:lnSpc>
            </a:pPr>
            <a:r>
              <a:rPr lang="en-US" sz="1800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  <a:t>    match find_user(id) {</a:t>
            </a:r>
          </a:p>
          <a:p>
            <a:pPr algn="l">
              <a:lnSpc>
                <a:spcPts val="2484"/>
              </a:lnSpc>
            </a:pPr>
            <a:r>
              <a:rPr lang="en-US" sz="1800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  <a:t>        Ok(name) =&gt; println!("Hello {}", name),</a:t>
            </a:r>
          </a:p>
          <a:p>
            <a:pPr algn="l">
              <a:lnSpc>
                <a:spcPts val="2484"/>
              </a:lnSpc>
            </a:pPr>
            <a:r>
              <a:rPr lang="en-US" sz="1800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  <a:t>        Err(AppError::UserNotFound) =&gt; println!("Creating a </a:t>
            </a:r>
          </a:p>
          <a:p>
            <a:pPr algn="l">
              <a:lnSpc>
                <a:spcPts val="2484"/>
              </a:lnSpc>
            </a:pPr>
            <a:r>
              <a:rPr lang="en-US" sz="1800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  <a:t>           new user..."),</a:t>
            </a:r>
          </a:p>
          <a:p>
            <a:pPr algn="l">
              <a:lnSpc>
                <a:spcPts val="2484"/>
              </a:lnSpc>
            </a:pPr>
            <a:r>
              <a:rPr lang="en-US" sz="1800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  <a:t>        Err(AppError::DatabaseDown) =&gt; println!("Try again </a:t>
            </a:r>
          </a:p>
          <a:p>
            <a:pPr algn="l">
              <a:lnSpc>
                <a:spcPts val="2484"/>
              </a:lnSpc>
            </a:pPr>
            <a:r>
              <a:rPr lang="en-US" sz="1800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  <a:t>           later"),</a:t>
            </a:r>
          </a:p>
          <a:p>
            <a:pPr algn="l">
              <a:lnSpc>
                <a:spcPts val="2484"/>
              </a:lnSpc>
            </a:pPr>
            <a:r>
              <a:rPr lang="en-US" sz="1800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  <a:t>    }</a:t>
            </a:r>
          </a:p>
          <a:p>
            <a:pPr algn="l">
              <a:lnSpc>
                <a:spcPts val="3035"/>
              </a:lnSpc>
            </a:pPr>
            <a:r>
              <a:rPr lang="en-US" sz="2199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</a:p>
        </p:txBody>
      </p:sp>
      <p:grpSp>
        <p:nvGrpSpPr>
          <p:cNvPr name="Group 22" id="22"/>
          <p:cNvGrpSpPr/>
          <p:nvPr/>
        </p:nvGrpSpPr>
        <p:grpSpPr>
          <a:xfrm rot="0">
            <a:off x="685800" y="7823347"/>
            <a:ext cx="8162949" cy="2001245"/>
            <a:chOff x="0" y="0"/>
            <a:chExt cx="10883931" cy="2668327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10883932" cy="2668327"/>
            </a:xfrm>
            <a:custGeom>
              <a:avLst/>
              <a:gdLst/>
              <a:ahLst/>
              <a:cxnLst/>
              <a:rect r="r" b="b" t="t" l="l"/>
              <a:pathLst>
                <a:path h="2668327" w="10883932">
                  <a:moveTo>
                    <a:pt x="0" y="133416"/>
                  </a:moveTo>
                  <a:cubicBezTo>
                    <a:pt x="0" y="59759"/>
                    <a:pt x="31631" y="0"/>
                    <a:pt x="70618" y="0"/>
                  </a:cubicBezTo>
                  <a:lnTo>
                    <a:pt x="10813314" y="0"/>
                  </a:lnTo>
                  <a:cubicBezTo>
                    <a:pt x="10852300" y="0"/>
                    <a:pt x="10883932" y="59759"/>
                    <a:pt x="10883932" y="133416"/>
                  </a:cubicBezTo>
                  <a:lnTo>
                    <a:pt x="10883932" y="2534910"/>
                  </a:lnTo>
                  <a:cubicBezTo>
                    <a:pt x="10883932" y="2608567"/>
                    <a:pt x="10852300" y="2668327"/>
                    <a:pt x="10813314" y="2668327"/>
                  </a:cubicBezTo>
                  <a:lnTo>
                    <a:pt x="70618" y="2668327"/>
                  </a:lnTo>
                  <a:cubicBezTo>
                    <a:pt x="31631" y="2668326"/>
                    <a:pt x="0" y="2608567"/>
                    <a:pt x="0" y="2534910"/>
                  </a:cubicBezTo>
                  <a:close/>
                </a:path>
              </a:pathLst>
            </a:custGeom>
            <a:solidFill>
              <a:srgbClr val="F7F0F0"/>
            </a:solidFill>
          </p:spPr>
        </p:sp>
      </p:grpSp>
      <p:grpSp>
        <p:nvGrpSpPr>
          <p:cNvPr name="Group 24" id="24"/>
          <p:cNvGrpSpPr/>
          <p:nvPr/>
        </p:nvGrpSpPr>
        <p:grpSpPr>
          <a:xfrm rot="0">
            <a:off x="781812" y="7362431"/>
            <a:ext cx="8184761" cy="1535962"/>
            <a:chOff x="0" y="0"/>
            <a:chExt cx="10913015" cy="2047949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10913015" cy="2047949"/>
            </a:xfrm>
            <a:custGeom>
              <a:avLst/>
              <a:gdLst/>
              <a:ahLst/>
              <a:cxnLst/>
              <a:rect r="r" b="b" t="t" l="l"/>
              <a:pathLst>
                <a:path h="2047949" w="10913015">
                  <a:moveTo>
                    <a:pt x="0" y="0"/>
                  </a:moveTo>
                  <a:lnTo>
                    <a:pt x="10913015" y="0"/>
                  </a:lnTo>
                  <a:lnTo>
                    <a:pt x="10913015" y="2047949"/>
                  </a:lnTo>
                  <a:lnTo>
                    <a:pt x="0" y="2047949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90214" r="-98246" b="-121468"/>
              </a:stretch>
            </a:blipFill>
          </p:spPr>
        </p:sp>
        <p:sp>
          <p:nvSpPr>
            <p:cNvPr name="TextBox 26" id="26"/>
            <p:cNvSpPr txBox="true"/>
            <p:nvPr/>
          </p:nvSpPr>
          <p:spPr>
            <a:xfrm>
              <a:off x="0" y="-19050"/>
              <a:ext cx="10913015" cy="206699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 b="true">
                  <a:solidFill>
                    <a:srgbClr val="8B2E2E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ทำไมถึงผิด? (Why?)</a:t>
              </a:r>
            </a:p>
          </p:txBody>
        </p:sp>
      </p:grpSp>
      <p:sp>
        <p:nvSpPr>
          <p:cNvPr name="TextBox 27" id="27"/>
          <p:cNvSpPr txBox="true"/>
          <p:nvPr/>
        </p:nvSpPr>
        <p:spPr>
          <a:xfrm rot="0">
            <a:off x="781812" y="8303767"/>
            <a:ext cx="8066937" cy="13150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90"/>
              </a:lnSpc>
            </a:pPr>
            <a:r>
              <a:rPr lang="en-US" sz="1850">
                <a:solidFill>
                  <a:srgbClr val="222222"/>
                </a:solidFill>
                <a:latin typeface="Calibri (MS)"/>
                <a:ea typeface="Calibri (MS)"/>
                <a:cs typeface="Calibri (MS)"/>
                <a:sym typeface="Calibri (MS)"/>
              </a:rPr>
              <a:t>   การเช็ก error ด้วย String ทำให้โค้ดต้องไปพึ่งพาข้อความที่เขียนไว้ ซึ่งคอมไพเลอร์ไม่ได้ช่วยตรวจสอบตรงนี้ ถ้ามีการเปลี่ยนข้อความจาก </a:t>
            </a:r>
            <a:r>
              <a:rPr lang="en-US" sz="1850" b="true">
                <a:solidFill>
                  <a:srgbClr val="222222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user not found </a:t>
            </a:r>
            <a:r>
              <a:rPr lang="en-US" sz="1850">
                <a:solidFill>
                  <a:srgbClr val="222222"/>
                </a:solidFill>
                <a:latin typeface="Calibri (MS)"/>
                <a:ea typeface="Calibri (MS)"/>
                <a:cs typeface="Calibri (MS)"/>
                <a:sym typeface="Calibri (MS)"/>
              </a:rPr>
              <a:t>เป็น </a:t>
            </a:r>
            <a:r>
              <a:rPr lang="en-US" sz="1850" b="true">
                <a:solidFill>
                  <a:srgbClr val="222222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no such user </a:t>
            </a:r>
            <a:r>
              <a:rPr lang="en-US" sz="1850">
                <a:solidFill>
                  <a:srgbClr val="222222"/>
                </a:solidFill>
                <a:latin typeface="Calibri (MS)"/>
                <a:ea typeface="Calibri (MS)"/>
                <a:cs typeface="Calibri (MS)"/>
                <a:sym typeface="Calibri (MS)"/>
              </a:rPr>
              <a:t>โค้ดที่ใช้ตรวจจับ </a:t>
            </a:r>
            <a:r>
              <a:rPr lang="en-US" sz="1850" b="true">
                <a:solidFill>
                  <a:srgbClr val="222222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error </a:t>
            </a:r>
            <a:r>
              <a:rPr lang="en-US" sz="1850">
                <a:solidFill>
                  <a:srgbClr val="222222"/>
                </a:solidFill>
                <a:latin typeface="Calibri (MS)"/>
                <a:ea typeface="Calibri (MS)"/>
                <a:cs typeface="Calibri (MS)"/>
                <a:sym typeface="Calibri (MS)"/>
              </a:rPr>
              <a:t>ก็อาจไม่ทำงานโดยที่เราไม่รู้ตัว แต่ถ้าใช้ </a:t>
            </a:r>
            <a:r>
              <a:rPr lang="en-US" sz="1850" b="true">
                <a:solidFill>
                  <a:srgbClr val="222222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enum</a:t>
            </a:r>
            <a:r>
              <a:rPr lang="en-US" sz="1850">
                <a:solidFill>
                  <a:srgbClr val="222222"/>
                </a:solidFill>
                <a:latin typeface="Calibri (MS)"/>
                <a:ea typeface="Calibri (MS)"/>
                <a:cs typeface="Calibri (MS)"/>
                <a:sym typeface="Calibri (MS)"/>
              </a:rPr>
              <a:t> เราสามารถกำหนดประเภทของ </a:t>
            </a:r>
            <a:r>
              <a:rPr lang="en-US" sz="1850" b="true">
                <a:solidFill>
                  <a:srgbClr val="222222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error </a:t>
            </a:r>
            <a:r>
              <a:rPr lang="en-US" sz="1850">
                <a:solidFill>
                  <a:srgbClr val="222222"/>
                </a:solidFill>
                <a:latin typeface="Calibri (MS)"/>
                <a:ea typeface="Calibri (MS)"/>
                <a:cs typeface="Calibri (MS)"/>
                <a:sym typeface="Calibri (MS)"/>
              </a:rPr>
              <a:t>ไว้ชัดเจน ทำให้ Rust สามารถตรวจสอบผ่านระบบ type ได้</a:t>
            </a:r>
          </a:p>
        </p:txBody>
      </p:sp>
      <p:grpSp>
        <p:nvGrpSpPr>
          <p:cNvPr name="Group 28" id="28"/>
          <p:cNvGrpSpPr/>
          <p:nvPr/>
        </p:nvGrpSpPr>
        <p:grpSpPr>
          <a:xfrm rot="0">
            <a:off x="12241931" y="9710928"/>
            <a:ext cx="10972800" cy="411480"/>
            <a:chOff x="0" y="0"/>
            <a:chExt cx="14630400" cy="548640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14630400" cy="548640"/>
            </a:xfrm>
            <a:custGeom>
              <a:avLst/>
              <a:gdLst/>
              <a:ahLst/>
              <a:cxnLst/>
              <a:rect r="r" b="b" t="t" l="l"/>
              <a:pathLst>
                <a:path h="548640" w="14630400">
                  <a:moveTo>
                    <a:pt x="0" y="0"/>
                  </a:moveTo>
                  <a:lnTo>
                    <a:pt x="14630400" y="0"/>
                  </a:lnTo>
                  <a:lnTo>
                    <a:pt x="146304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69601" r="0" b="-469601"/>
              </a:stretch>
            </a:blipFill>
          </p:spPr>
        </p:sp>
        <p:sp>
          <p:nvSpPr>
            <p:cNvPr name="TextBox 30" id="30"/>
            <p:cNvSpPr txBox="true"/>
            <p:nvPr/>
          </p:nvSpPr>
          <p:spPr>
            <a:xfrm>
              <a:off x="0" y="-38100"/>
              <a:ext cx="14630400" cy="5867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00"/>
                </a:lnSpc>
              </a:pPr>
              <a:r>
                <a:rPr lang="en-US" sz="1500">
                  <a:solidFill>
                    <a:srgbClr val="6B6B6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517321 Principles of Programming Languages — Rust Tutorial</a:t>
              </a:r>
            </a:p>
          </p:txBody>
        </p:sp>
      </p:grpSp>
      <p:grpSp>
        <p:nvGrpSpPr>
          <p:cNvPr name="Group 31" id="31"/>
          <p:cNvGrpSpPr/>
          <p:nvPr/>
        </p:nvGrpSpPr>
        <p:grpSpPr>
          <a:xfrm rot="0">
            <a:off x="16911828" y="9710928"/>
            <a:ext cx="685800" cy="411480"/>
            <a:chOff x="0" y="0"/>
            <a:chExt cx="914400" cy="548640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914400" cy="548640"/>
            </a:xfrm>
            <a:custGeom>
              <a:avLst/>
              <a:gdLst/>
              <a:ahLst/>
              <a:cxnLst/>
              <a:rect r="r" b="b" t="t" l="l"/>
              <a:pathLst>
                <a:path h="548640" w="914400">
                  <a:moveTo>
                    <a:pt x="0" y="0"/>
                  </a:moveTo>
                  <a:lnTo>
                    <a:pt x="914400" y="0"/>
                  </a:lnTo>
                  <a:lnTo>
                    <a:pt x="9144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26982" t="0" r="-26982" b="0"/>
              </a:stretch>
            </a:blipFill>
          </p:spPr>
        </p:sp>
        <p:sp>
          <p:nvSpPr>
            <p:cNvPr name="TextBox 33" id="33"/>
            <p:cNvSpPr txBox="true"/>
            <p:nvPr/>
          </p:nvSpPr>
          <p:spPr>
            <a:xfrm>
              <a:off x="0" y="-38100"/>
              <a:ext cx="914400" cy="5867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800"/>
                </a:lnSpc>
              </a:pPr>
              <a:r>
                <a:rPr lang="en-US" sz="1500">
                  <a:solidFill>
                    <a:srgbClr val="6B6B6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7</a:t>
              </a:r>
            </a:p>
          </p:txBody>
        </p:sp>
      </p:grpSp>
    </p:spTree>
  </p:cSld>
  <p:clrMapOvr>
    <a:masterClrMapping/>
  </p:clrMapOvr>
  <p:transition spd="fast">
    <p:wipe dir="l"/>
  </p:transition>
</p:sld>
</file>

<file path=ppt/slides/slide2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685800" y="617220"/>
            <a:ext cx="4114800" cy="576072"/>
            <a:chOff x="0" y="0"/>
            <a:chExt cx="5486400" cy="76809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5486400" cy="768096"/>
            </a:xfrm>
            <a:custGeom>
              <a:avLst/>
              <a:gdLst/>
              <a:ahLst/>
              <a:cxnLst/>
              <a:rect r="r" b="b" t="t" l="l"/>
              <a:pathLst>
                <a:path h="768096" w="5486400">
                  <a:moveTo>
                    <a:pt x="0" y="146304"/>
                  </a:moveTo>
                  <a:cubicBezTo>
                    <a:pt x="0" y="65532"/>
                    <a:pt x="65532" y="0"/>
                    <a:pt x="146304" y="0"/>
                  </a:cubicBezTo>
                  <a:lnTo>
                    <a:pt x="5340096" y="0"/>
                  </a:lnTo>
                  <a:cubicBezTo>
                    <a:pt x="5420868" y="0"/>
                    <a:pt x="5486400" y="65532"/>
                    <a:pt x="5486400" y="146304"/>
                  </a:cubicBezTo>
                  <a:lnTo>
                    <a:pt x="5486400" y="621792"/>
                  </a:lnTo>
                  <a:cubicBezTo>
                    <a:pt x="5486400" y="702564"/>
                    <a:pt x="5420868" y="768096"/>
                    <a:pt x="5340096" y="768096"/>
                  </a:cubicBezTo>
                  <a:lnTo>
                    <a:pt x="146304" y="768096"/>
                  </a:lnTo>
                  <a:cubicBezTo>
                    <a:pt x="65532" y="768096"/>
                    <a:pt x="0" y="702564"/>
                    <a:pt x="0" y="621792"/>
                  </a:cubicBezTo>
                  <a:close/>
                </a:path>
              </a:pathLst>
            </a:custGeom>
            <a:solidFill>
              <a:srgbClr val="8B2E2E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685800" y="617220"/>
            <a:ext cx="4114800" cy="576072"/>
            <a:chOff x="0" y="0"/>
            <a:chExt cx="5486400" cy="768096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5486400" cy="768096"/>
            </a:xfrm>
            <a:custGeom>
              <a:avLst/>
              <a:gdLst/>
              <a:ahLst/>
              <a:cxnLst/>
              <a:rect r="r" b="b" t="t" l="l"/>
              <a:pathLst>
                <a:path h="768096" w="5486400">
                  <a:moveTo>
                    <a:pt x="0" y="0"/>
                  </a:moveTo>
                  <a:lnTo>
                    <a:pt x="5486400" y="0"/>
                  </a:lnTo>
                  <a:lnTo>
                    <a:pt x="5486400" y="768096"/>
                  </a:lnTo>
                  <a:lnTo>
                    <a:pt x="0" y="76809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9178" r="0" b="-89178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-47625"/>
              <a:ext cx="5486400" cy="81572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340"/>
                </a:lnSpc>
              </a:pPr>
              <a:r>
                <a:rPr lang="en-US" sz="195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PART 4 · MEMBER 4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685800" y="1440180"/>
            <a:ext cx="16911828" cy="960120"/>
            <a:chOff x="0" y="0"/>
            <a:chExt cx="22549104" cy="128016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2549104" cy="1280160"/>
            </a:xfrm>
            <a:custGeom>
              <a:avLst/>
              <a:gdLst/>
              <a:ahLst/>
              <a:cxnLst/>
              <a:rect r="r" b="b" t="t" l="l"/>
              <a:pathLst>
                <a:path h="1280160" w="22549104">
                  <a:moveTo>
                    <a:pt x="0" y="0"/>
                  </a:moveTo>
                  <a:lnTo>
                    <a:pt x="22549104" y="0"/>
                  </a:lnTo>
                  <a:lnTo>
                    <a:pt x="22549104" y="1280160"/>
                  </a:lnTo>
                  <a:lnTo>
                    <a:pt x="0" y="12801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93215" r="0" b="-293215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>
              <a:off x="0" y="-19050"/>
              <a:ext cx="22549104" cy="129921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400"/>
                </a:lnSpc>
              </a:pPr>
              <a:r>
                <a:rPr lang="en-US" sz="4500" b="true">
                  <a:solidFill>
                    <a:srgbClr val="222222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Challenge — คำถามท้าทายผู้ฟัง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685800" y="2606040"/>
            <a:ext cx="16911828" cy="2379955"/>
            <a:chOff x="0" y="0"/>
            <a:chExt cx="22549104" cy="3173273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22549104" cy="3173272"/>
            </a:xfrm>
            <a:custGeom>
              <a:avLst/>
              <a:gdLst/>
              <a:ahLst/>
              <a:cxnLst/>
              <a:rect r="r" b="b" t="t" l="l"/>
              <a:pathLst>
                <a:path h="3173272" w="22549104">
                  <a:moveTo>
                    <a:pt x="0" y="118075"/>
                  </a:moveTo>
                  <a:cubicBezTo>
                    <a:pt x="0" y="52888"/>
                    <a:pt x="65532" y="0"/>
                    <a:pt x="146304" y="0"/>
                  </a:cubicBezTo>
                  <a:lnTo>
                    <a:pt x="22402800" y="0"/>
                  </a:lnTo>
                  <a:cubicBezTo>
                    <a:pt x="22483572" y="0"/>
                    <a:pt x="22549104" y="52888"/>
                    <a:pt x="22549104" y="118075"/>
                  </a:cubicBezTo>
                  <a:lnTo>
                    <a:pt x="22549104" y="3055197"/>
                  </a:lnTo>
                  <a:cubicBezTo>
                    <a:pt x="22549104" y="3120385"/>
                    <a:pt x="22483572" y="3173272"/>
                    <a:pt x="22402800" y="3173272"/>
                  </a:cubicBezTo>
                  <a:lnTo>
                    <a:pt x="146304" y="3173272"/>
                  </a:lnTo>
                  <a:cubicBezTo>
                    <a:pt x="65532" y="3173273"/>
                    <a:pt x="0" y="3120385"/>
                    <a:pt x="0" y="3055197"/>
                  </a:cubicBezTo>
                  <a:close/>
                </a:path>
              </a:pathLst>
            </a:custGeom>
            <a:solidFill>
              <a:srgbClr val="F7F0F0"/>
            </a:solid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1097280" y="2880360"/>
            <a:ext cx="16088868" cy="480060"/>
            <a:chOff x="0" y="0"/>
            <a:chExt cx="21451824" cy="64008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21451824" cy="640080"/>
            </a:xfrm>
            <a:custGeom>
              <a:avLst/>
              <a:gdLst/>
              <a:ahLst/>
              <a:cxnLst/>
              <a:rect r="r" b="b" t="t" l="l"/>
              <a:pathLst>
                <a:path h="640080" w="21451824">
                  <a:moveTo>
                    <a:pt x="0" y="0"/>
                  </a:moveTo>
                  <a:lnTo>
                    <a:pt x="21451824" y="0"/>
                  </a:lnTo>
                  <a:lnTo>
                    <a:pt x="21451824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03027" r="0" b="-603027"/>
              </a:stretch>
            </a:blip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19050"/>
              <a:ext cx="21451824" cy="65913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00"/>
                </a:lnSpc>
              </a:pPr>
              <a:r>
                <a:rPr lang="en-US" sz="2250" b="true">
                  <a:solidFill>
                    <a:srgbClr val="8B2E2E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โจทย์ (Problem)</a:t>
              </a:r>
            </a:p>
          </p:txBody>
        </p:sp>
      </p:grpSp>
      <p:sp>
        <p:nvSpPr>
          <p:cNvPr name="TextBox 15" id="15"/>
          <p:cNvSpPr txBox="true"/>
          <p:nvPr/>
        </p:nvSpPr>
        <p:spPr>
          <a:xfrm rot="0">
            <a:off x="1097280" y="3459480"/>
            <a:ext cx="16088868" cy="685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80"/>
              </a:lnSpc>
            </a:pPr>
            <a:r>
              <a:rPr lang="en-US" sz="2150">
                <a:solidFill>
                  <a:srgbClr val="222222"/>
                </a:solidFill>
                <a:latin typeface="Calibri (MS)"/>
                <a:ea typeface="Calibri (MS)"/>
                <a:cs typeface="Calibri (MS)"/>
                <a:sym typeface="Calibri (MS)"/>
              </a:rPr>
              <a:t>   </a:t>
            </a:r>
            <a:r>
              <a:rPr lang="en-US" sz="2150">
                <a:solidFill>
                  <a:srgbClr val="222222"/>
                </a:solidFill>
                <a:latin typeface="Calibri (MS)"/>
                <a:ea typeface="Calibri (MS)"/>
                <a:cs typeface="Calibri (MS)"/>
                <a:sym typeface="Calibri (MS)"/>
              </a:rPr>
              <a:t>เขียนฟังก์ชัน </a:t>
            </a:r>
            <a:r>
              <a:rPr lang="en-US" sz="2150" b="true">
                <a:solidFill>
                  <a:srgbClr val="222222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add_strings</a:t>
            </a:r>
            <a:r>
              <a:rPr lang="en-US" sz="2150">
                <a:solidFill>
                  <a:srgbClr val="222222"/>
                </a:solidFill>
                <a:latin typeface="Calibri (MS)"/>
                <a:ea typeface="Calibri (MS)"/>
                <a:cs typeface="Calibri (MS)"/>
                <a:sym typeface="Calibri (MS)"/>
              </a:rPr>
              <a:t> ที่รับข้อความ 2 ตัว </a:t>
            </a:r>
            <a:r>
              <a:rPr lang="en-US" sz="2150" b="true">
                <a:solidFill>
                  <a:srgbClr val="222222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(&amp;str)</a:t>
            </a:r>
            <a:r>
              <a:rPr lang="en-US" sz="2150">
                <a:solidFill>
                  <a:srgbClr val="222222"/>
                </a:solidFill>
                <a:latin typeface="Calibri (MS)"/>
                <a:ea typeface="Calibri (MS)"/>
                <a:cs typeface="Calibri (MS)"/>
                <a:sym typeface="Calibri (MS)"/>
              </a:rPr>
              <a:t> แปลงเป็น</a:t>
            </a:r>
            <a:r>
              <a:rPr lang="en-US" sz="2150" b="true">
                <a:solidFill>
                  <a:srgbClr val="222222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 i32</a:t>
            </a:r>
            <a:r>
              <a:rPr lang="en-US" sz="2150">
                <a:solidFill>
                  <a:srgbClr val="222222"/>
                </a:solidFill>
                <a:latin typeface="Calibri (MS)"/>
                <a:ea typeface="Calibri (MS)"/>
                <a:cs typeface="Calibri (MS)"/>
                <a:sym typeface="Calibri (MS)"/>
              </a:rPr>
              <a:t> แล้วคืนผลบวก โดยมี return type เป็น </a:t>
            </a:r>
            <a:r>
              <a:rPr lang="en-US" sz="2150" b="true">
                <a:solidFill>
                  <a:srgbClr val="222222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Result&lt;i32, ParseIntError&gt;</a:t>
            </a:r>
            <a:r>
              <a:rPr lang="en-US" sz="2150">
                <a:solidFill>
                  <a:srgbClr val="222222"/>
                </a:solidFill>
                <a:latin typeface="Calibri (MS)"/>
                <a:ea typeface="Calibri (MS)"/>
                <a:cs typeface="Calibri (MS)"/>
                <a:sym typeface="Calibri (MS)"/>
              </a:rPr>
              <a:t> และต้องใช้ </a:t>
            </a:r>
            <a:r>
              <a:rPr lang="en-US" sz="2150" b="true">
                <a:solidFill>
                  <a:srgbClr val="222222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“ ? “</a:t>
            </a:r>
            <a:r>
              <a:rPr lang="en-US" sz="2150">
                <a:solidFill>
                  <a:srgbClr val="222222"/>
                </a:solidFill>
                <a:latin typeface="Calibri (MS)"/>
                <a:ea typeface="Calibri (MS)"/>
                <a:cs typeface="Calibri (MS)"/>
                <a:sym typeface="Calibri (MS)"/>
              </a:rPr>
              <a:t> ในการส่ง error กลับ </a:t>
            </a:r>
            <a:r>
              <a:rPr lang="en-US" sz="2150" b="true">
                <a:solidFill>
                  <a:srgbClr val="B23B3B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(ห้ามใช้ unwrap)</a:t>
            </a:r>
          </a:p>
        </p:txBody>
      </p:sp>
      <p:grpSp>
        <p:nvGrpSpPr>
          <p:cNvPr name="Group 16" id="16"/>
          <p:cNvGrpSpPr/>
          <p:nvPr/>
        </p:nvGrpSpPr>
        <p:grpSpPr>
          <a:xfrm rot="0">
            <a:off x="9642348" y="5696422"/>
            <a:ext cx="7510210" cy="1490703"/>
            <a:chOff x="0" y="0"/>
            <a:chExt cx="22015566" cy="4369875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22015566" cy="4369875"/>
            </a:xfrm>
            <a:custGeom>
              <a:avLst/>
              <a:gdLst/>
              <a:ahLst/>
              <a:cxnLst/>
              <a:rect r="r" b="b" t="t" l="l"/>
              <a:pathLst>
                <a:path h="4369875" w="22015566">
                  <a:moveTo>
                    <a:pt x="0" y="162600"/>
                  </a:moveTo>
                  <a:cubicBezTo>
                    <a:pt x="0" y="72831"/>
                    <a:pt x="63981" y="0"/>
                    <a:pt x="142842" y="0"/>
                  </a:cubicBezTo>
                  <a:lnTo>
                    <a:pt x="21872724" y="0"/>
                  </a:lnTo>
                  <a:cubicBezTo>
                    <a:pt x="21951584" y="0"/>
                    <a:pt x="22015566" y="72831"/>
                    <a:pt x="22015566" y="162600"/>
                  </a:cubicBezTo>
                  <a:lnTo>
                    <a:pt x="22015566" y="4207275"/>
                  </a:lnTo>
                  <a:cubicBezTo>
                    <a:pt x="22015566" y="4297044"/>
                    <a:pt x="21951584" y="4369875"/>
                    <a:pt x="21872724" y="4369875"/>
                  </a:cubicBezTo>
                  <a:lnTo>
                    <a:pt x="142842" y="4369875"/>
                  </a:lnTo>
                  <a:cubicBezTo>
                    <a:pt x="63981" y="4369875"/>
                    <a:pt x="0" y="4297044"/>
                    <a:pt x="0" y="4207275"/>
                  </a:cubicBezTo>
                  <a:close/>
                </a:path>
              </a:pathLst>
            </a:custGeom>
            <a:solidFill>
              <a:srgbClr val="F7F0F0"/>
            </a:solidFill>
          </p:spPr>
        </p:sp>
      </p:grpSp>
      <p:grpSp>
        <p:nvGrpSpPr>
          <p:cNvPr name="Group 18" id="18"/>
          <p:cNvGrpSpPr/>
          <p:nvPr/>
        </p:nvGrpSpPr>
        <p:grpSpPr>
          <a:xfrm rot="0">
            <a:off x="9642348" y="5195788"/>
            <a:ext cx="7955280" cy="480060"/>
            <a:chOff x="0" y="0"/>
            <a:chExt cx="10607040" cy="64008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10607040" cy="640080"/>
            </a:xfrm>
            <a:custGeom>
              <a:avLst/>
              <a:gdLst/>
              <a:ahLst/>
              <a:cxnLst/>
              <a:rect r="r" b="b" t="t" l="l"/>
              <a:pathLst>
                <a:path h="640080" w="10607040">
                  <a:moveTo>
                    <a:pt x="0" y="0"/>
                  </a:moveTo>
                  <a:lnTo>
                    <a:pt x="10607040" y="0"/>
                  </a:lnTo>
                  <a:lnTo>
                    <a:pt x="1060704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72894" r="0" b="-272894"/>
              </a:stretch>
            </a:blipFill>
          </p:spPr>
        </p:sp>
        <p:sp>
          <p:nvSpPr>
            <p:cNvPr name="TextBox 20" id="20"/>
            <p:cNvSpPr txBox="true"/>
            <p:nvPr/>
          </p:nvSpPr>
          <p:spPr>
            <a:xfrm>
              <a:off x="0" y="-38100"/>
              <a:ext cx="10607040" cy="6781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59"/>
                </a:lnSpc>
              </a:pPr>
              <a:r>
                <a:rPr lang="en-US" sz="2049" b="true">
                  <a:solidFill>
                    <a:srgbClr val="C9A227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💡  Hint</a:t>
              </a:r>
            </a:p>
          </p:txBody>
        </p:sp>
      </p:grpSp>
      <p:sp>
        <p:nvSpPr>
          <p:cNvPr name="TextBox 21" id="21"/>
          <p:cNvSpPr txBox="true"/>
          <p:nvPr/>
        </p:nvSpPr>
        <p:spPr>
          <a:xfrm rot="0">
            <a:off x="9809310" y="5885398"/>
            <a:ext cx="7176285" cy="10096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79"/>
              </a:lnSpc>
            </a:pPr>
            <a:r>
              <a:rPr lang="en-US" sz="2149">
                <a:solidFill>
                  <a:srgbClr val="222222"/>
                </a:solidFill>
                <a:latin typeface="Calibri (MS)"/>
                <a:ea typeface="Calibri (MS)"/>
                <a:cs typeface="Calibri (MS)"/>
                <a:sym typeface="Calibri (MS)"/>
              </a:rPr>
              <a:t>   </a:t>
            </a:r>
            <a:r>
              <a:rPr lang="en-US" sz="2149">
                <a:solidFill>
                  <a:srgbClr val="222222"/>
                </a:solidFill>
                <a:latin typeface="Calibri (MS)"/>
                <a:ea typeface="Calibri (MS)"/>
                <a:cs typeface="Calibri (MS)"/>
                <a:sym typeface="Calibri (MS)"/>
              </a:rPr>
              <a:t>ใช้ </a:t>
            </a:r>
            <a:r>
              <a:rPr lang="en-US" sz="2149" b="true">
                <a:solidFill>
                  <a:srgbClr val="222222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.parse::&lt;i32&gt;()?</a:t>
            </a:r>
            <a:r>
              <a:rPr lang="en-US" sz="2149">
                <a:solidFill>
                  <a:srgbClr val="222222"/>
                </a:solidFill>
                <a:latin typeface="Calibri (MS)"/>
                <a:ea typeface="Calibri (MS)"/>
                <a:cs typeface="Calibri (MS)"/>
                <a:sym typeface="Calibri (MS)"/>
              </a:rPr>
              <a:t> กับข้อความแต่ละตัว ถ้าแปลงไม่ได้ </a:t>
            </a:r>
            <a:r>
              <a:rPr lang="en-US" sz="2149" b="true">
                <a:solidFill>
                  <a:srgbClr val="222222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? </a:t>
            </a:r>
            <a:r>
              <a:rPr lang="en-US" sz="2149">
                <a:solidFill>
                  <a:srgbClr val="222222"/>
                </a:solidFill>
                <a:latin typeface="Calibri (MS)"/>
                <a:ea typeface="Calibri (MS)"/>
                <a:cs typeface="Calibri (MS)"/>
                <a:sym typeface="Calibri (MS)"/>
              </a:rPr>
              <a:t>จะ </a:t>
            </a:r>
            <a:r>
              <a:rPr lang="en-US" sz="2149" b="true">
                <a:solidFill>
                  <a:srgbClr val="222222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return Err</a:t>
            </a:r>
            <a:r>
              <a:rPr lang="en-US" sz="2149">
                <a:solidFill>
                  <a:srgbClr val="222222"/>
                </a:solidFill>
                <a:latin typeface="Calibri (MS)"/>
                <a:ea typeface="Calibri (MS)"/>
                <a:cs typeface="Calibri (MS)"/>
                <a:sym typeface="Calibri (MS)"/>
              </a:rPr>
              <a:t> ออกจากฟังก์ชันให้อัตโนมัติ และ อย่าลืม </a:t>
            </a:r>
            <a:r>
              <a:rPr lang="en-US" sz="2149" b="true">
                <a:solidFill>
                  <a:srgbClr val="222222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use std::num::ParseIntError;</a:t>
            </a:r>
          </a:p>
        </p:txBody>
      </p:sp>
      <p:grpSp>
        <p:nvGrpSpPr>
          <p:cNvPr name="Group 22" id="22"/>
          <p:cNvGrpSpPr/>
          <p:nvPr/>
        </p:nvGrpSpPr>
        <p:grpSpPr>
          <a:xfrm rot="0">
            <a:off x="685800" y="5535402"/>
            <a:ext cx="8567426" cy="3573018"/>
            <a:chOff x="0" y="0"/>
            <a:chExt cx="11423235" cy="4764024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11423235" cy="4764024"/>
            </a:xfrm>
            <a:custGeom>
              <a:avLst/>
              <a:gdLst/>
              <a:ahLst/>
              <a:cxnLst/>
              <a:rect r="r" b="b" t="t" l="l"/>
              <a:pathLst>
                <a:path h="4764024" w="11423235">
                  <a:moveTo>
                    <a:pt x="0" y="142921"/>
                  </a:moveTo>
                  <a:cubicBezTo>
                    <a:pt x="0" y="64017"/>
                    <a:pt x="52931" y="0"/>
                    <a:pt x="118171" y="0"/>
                  </a:cubicBezTo>
                  <a:lnTo>
                    <a:pt x="11305064" y="0"/>
                  </a:lnTo>
                  <a:cubicBezTo>
                    <a:pt x="11370304" y="0"/>
                    <a:pt x="11423235" y="64017"/>
                    <a:pt x="11423235" y="142921"/>
                  </a:cubicBezTo>
                  <a:lnTo>
                    <a:pt x="11423235" y="4621103"/>
                  </a:lnTo>
                  <a:cubicBezTo>
                    <a:pt x="11423235" y="4700007"/>
                    <a:pt x="11370304" y="4764024"/>
                    <a:pt x="11305064" y="4764024"/>
                  </a:cubicBezTo>
                  <a:lnTo>
                    <a:pt x="118171" y="4764024"/>
                  </a:lnTo>
                  <a:cubicBezTo>
                    <a:pt x="52931" y="4764024"/>
                    <a:pt x="0" y="4700008"/>
                    <a:pt x="0" y="4621103"/>
                  </a:cubicBezTo>
                  <a:close/>
                </a:path>
              </a:pathLst>
            </a:custGeom>
            <a:solidFill>
              <a:srgbClr val="1E1E1E"/>
            </a:solidFill>
          </p:spPr>
        </p:sp>
      </p:grpSp>
      <p:sp>
        <p:nvSpPr>
          <p:cNvPr name="TextBox 24" id="24"/>
          <p:cNvSpPr txBox="true"/>
          <p:nvPr/>
        </p:nvSpPr>
        <p:spPr>
          <a:xfrm rot="0">
            <a:off x="886466" y="5305850"/>
            <a:ext cx="8270748" cy="39940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90"/>
              </a:lnSpc>
            </a:pPr>
          </a:p>
          <a:p>
            <a:pPr algn="l">
              <a:lnSpc>
                <a:spcPts val="2690"/>
              </a:lnSpc>
            </a:pPr>
            <a:r>
              <a:rPr lang="en-US" sz="1950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  <a:t>use std::num::ParseIntError;</a:t>
            </a:r>
          </a:p>
          <a:p>
            <a:pPr algn="l">
              <a:lnSpc>
                <a:spcPts val="2690"/>
              </a:lnSpc>
            </a:pPr>
            <a:r>
              <a:rPr lang="en-US" sz="1950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  <a:t>fn add_strings(a: &amp;str, b: &amp;str) -&gt; Result&lt;i32, ParseIntError&gt; {</a:t>
            </a:r>
          </a:p>
          <a:p>
            <a:pPr algn="l">
              <a:lnSpc>
                <a:spcPts val="2690"/>
              </a:lnSpc>
            </a:pPr>
            <a:r>
              <a:rPr lang="en-US" sz="1950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  <a:t>   let x = a.trim().parse::&lt;i32&gt;()?;</a:t>
            </a:r>
          </a:p>
          <a:p>
            <a:pPr algn="l">
              <a:lnSpc>
                <a:spcPts val="2690"/>
              </a:lnSpc>
            </a:pPr>
            <a:r>
              <a:rPr lang="en-US" sz="1950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  <a:t>   let y = b.trim().parse::&lt;i32&gt;()?;</a:t>
            </a:r>
          </a:p>
          <a:p>
            <a:pPr algn="l">
              <a:lnSpc>
                <a:spcPts val="2690"/>
              </a:lnSpc>
            </a:pPr>
            <a:r>
              <a:rPr lang="en-US" sz="1950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  <a:t>   Ok(x + y)}</a:t>
            </a:r>
          </a:p>
          <a:p>
            <a:pPr algn="l">
              <a:lnSpc>
                <a:spcPts val="2690"/>
              </a:lnSpc>
            </a:pPr>
            <a:r>
              <a:rPr lang="en-US" sz="1950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  <a:t>fn main() {</a:t>
            </a:r>
          </a:p>
          <a:p>
            <a:pPr algn="l">
              <a:lnSpc>
                <a:spcPts val="2690"/>
              </a:lnSpc>
            </a:pPr>
            <a:r>
              <a:rPr lang="en-US" sz="1950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  <a:t>   println!("{:?}", add_strings("10", "20"));</a:t>
            </a:r>
          </a:p>
          <a:p>
            <a:pPr algn="l">
              <a:lnSpc>
                <a:spcPts val="2690"/>
              </a:lnSpc>
            </a:pPr>
            <a:r>
              <a:rPr lang="en-US" sz="1950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  <a:t>   println!("{:?}", add_strings("10", "abc"));</a:t>
            </a:r>
          </a:p>
          <a:p>
            <a:pPr algn="l">
              <a:lnSpc>
                <a:spcPts val="2690"/>
              </a:lnSpc>
            </a:pPr>
            <a:r>
              <a:rPr lang="en-US" sz="1950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</a:p>
          <a:p>
            <a:pPr algn="l">
              <a:lnSpc>
                <a:spcPts val="2690"/>
              </a:lnSpc>
            </a:pPr>
          </a:p>
        </p:txBody>
      </p:sp>
      <p:grpSp>
        <p:nvGrpSpPr>
          <p:cNvPr name="Group 25" id="25"/>
          <p:cNvGrpSpPr/>
          <p:nvPr/>
        </p:nvGrpSpPr>
        <p:grpSpPr>
          <a:xfrm rot="0">
            <a:off x="685800" y="9710928"/>
            <a:ext cx="10972800" cy="411480"/>
            <a:chOff x="0" y="0"/>
            <a:chExt cx="14630400" cy="548640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14630400" cy="548640"/>
            </a:xfrm>
            <a:custGeom>
              <a:avLst/>
              <a:gdLst/>
              <a:ahLst/>
              <a:cxnLst/>
              <a:rect r="r" b="b" t="t" l="l"/>
              <a:pathLst>
                <a:path h="548640" w="14630400">
                  <a:moveTo>
                    <a:pt x="0" y="0"/>
                  </a:moveTo>
                  <a:lnTo>
                    <a:pt x="14630400" y="0"/>
                  </a:lnTo>
                  <a:lnTo>
                    <a:pt x="146304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69601" r="0" b="-469601"/>
              </a:stretch>
            </a:blipFill>
          </p:spPr>
        </p:sp>
        <p:sp>
          <p:nvSpPr>
            <p:cNvPr name="TextBox 27" id="27"/>
            <p:cNvSpPr txBox="true"/>
            <p:nvPr/>
          </p:nvSpPr>
          <p:spPr>
            <a:xfrm>
              <a:off x="0" y="-38100"/>
              <a:ext cx="14630400" cy="5867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00"/>
                </a:lnSpc>
              </a:pPr>
              <a:r>
                <a:rPr lang="en-US" sz="1500">
                  <a:solidFill>
                    <a:srgbClr val="6B6B6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517321 Principles of Programming Languages — Rust Tutorial</a:t>
              </a:r>
            </a:p>
          </p:txBody>
        </p:sp>
      </p:grpSp>
      <p:grpSp>
        <p:nvGrpSpPr>
          <p:cNvPr name="Group 28" id="28"/>
          <p:cNvGrpSpPr/>
          <p:nvPr/>
        </p:nvGrpSpPr>
        <p:grpSpPr>
          <a:xfrm rot="0">
            <a:off x="16911828" y="9710928"/>
            <a:ext cx="685800" cy="411480"/>
            <a:chOff x="0" y="0"/>
            <a:chExt cx="914400" cy="548640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914400" cy="548640"/>
            </a:xfrm>
            <a:custGeom>
              <a:avLst/>
              <a:gdLst/>
              <a:ahLst/>
              <a:cxnLst/>
              <a:rect r="r" b="b" t="t" l="l"/>
              <a:pathLst>
                <a:path h="548640" w="914400">
                  <a:moveTo>
                    <a:pt x="0" y="0"/>
                  </a:moveTo>
                  <a:lnTo>
                    <a:pt x="914400" y="0"/>
                  </a:lnTo>
                  <a:lnTo>
                    <a:pt x="9144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26982" t="0" r="-26982" b="0"/>
              </a:stretch>
            </a:blipFill>
          </p:spPr>
        </p:sp>
        <p:sp>
          <p:nvSpPr>
            <p:cNvPr name="TextBox 30" id="30"/>
            <p:cNvSpPr txBox="true"/>
            <p:nvPr/>
          </p:nvSpPr>
          <p:spPr>
            <a:xfrm>
              <a:off x="0" y="-38100"/>
              <a:ext cx="914400" cy="5867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800"/>
                </a:lnSpc>
              </a:pPr>
              <a:r>
                <a:rPr lang="en-US" sz="1500">
                  <a:solidFill>
                    <a:srgbClr val="6B6B6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8</a:t>
              </a:r>
            </a:p>
          </p:txBody>
        </p:sp>
      </p:grpSp>
      <p:grpSp>
        <p:nvGrpSpPr>
          <p:cNvPr name="Group 31" id="31"/>
          <p:cNvGrpSpPr/>
          <p:nvPr/>
        </p:nvGrpSpPr>
        <p:grpSpPr>
          <a:xfrm rot="0">
            <a:off x="822960" y="5043145"/>
            <a:ext cx="7955280" cy="492258"/>
            <a:chOff x="0" y="0"/>
            <a:chExt cx="10607040" cy="656344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10607040" cy="656344"/>
            </a:xfrm>
            <a:custGeom>
              <a:avLst/>
              <a:gdLst/>
              <a:ahLst/>
              <a:cxnLst/>
              <a:rect r="r" b="b" t="t" l="l"/>
              <a:pathLst>
                <a:path h="656344" w="10607040">
                  <a:moveTo>
                    <a:pt x="0" y="0"/>
                  </a:moveTo>
                  <a:lnTo>
                    <a:pt x="10607040" y="0"/>
                  </a:lnTo>
                  <a:lnTo>
                    <a:pt x="10607040" y="656344"/>
                  </a:lnTo>
                  <a:lnTo>
                    <a:pt x="0" y="65634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66132" r="0" b="-263654"/>
              </a:stretch>
            </a:blipFill>
          </p:spPr>
        </p:sp>
        <p:sp>
          <p:nvSpPr>
            <p:cNvPr name="TextBox 33" id="33"/>
            <p:cNvSpPr txBox="true"/>
            <p:nvPr/>
          </p:nvSpPr>
          <p:spPr>
            <a:xfrm>
              <a:off x="0" y="-47625"/>
              <a:ext cx="10607040" cy="70396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939"/>
                </a:lnSpc>
              </a:pPr>
              <a:r>
                <a:rPr lang="en-US" sz="2449" b="true">
                  <a:solidFill>
                    <a:srgbClr val="3B8B5C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Solution</a:t>
              </a:r>
            </a:p>
          </p:txBody>
        </p:sp>
      </p:grpSp>
      <p:grpSp>
        <p:nvGrpSpPr>
          <p:cNvPr name="Group 34" id="34"/>
          <p:cNvGrpSpPr/>
          <p:nvPr/>
        </p:nvGrpSpPr>
        <p:grpSpPr>
          <a:xfrm rot="0">
            <a:off x="9642348" y="7679383"/>
            <a:ext cx="7510210" cy="1366878"/>
            <a:chOff x="0" y="0"/>
            <a:chExt cx="22015566" cy="4006892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22015566" cy="4006892"/>
            </a:xfrm>
            <a:custGeom>
              <a:avLst/>
              <a:gdLst/>
              <a:ahLst/>
              <a:cxnLst/>
              <a:rect r="r" b="b" t="t" l="l"/>
              <a:pathLst>
                <a:path h="4006892" w="22015566">
                  <a:moveTo>
                    <a:pt x="0" y="149094"/>
                  </a:moveTo>
                  <a:cubicBezTo>
                    <a:pt x="0" y="66782"/>
                    <a:pt x="63981" y="0"/>
                    <a:pt x="142842" y="0"/>
                  </a:cubicBezTo>
                  <a:lnTo>
                    <a:pt x="21872724" y="0"/>
                  </a:lnTo>
                  <a:cubicBezTo>
                    <a:pt x="21951584" y="0"/>
                    <a:pt x="22015566" y="66782"/>
                    <a:pt x="22015566" y="149094"/>
                  </a:cubicBezTo>
                  <a:lnTo>
                    <a:pt x="22015566" y="3857799"/>
                  </a:lnTo>
                  <a:cubicBezTo>
                    <a:pt x="22015566" y="3940110"/>
                    <a:pt x="21951584" y="4006892"/>
                    <a:pt x="21872724" y="4006892"/>
                  </a:cubicBezTo>
                  <a:lnTo>
                    <a:pt x="142842" y="4006892"/>
                  </a:lnTo>
                  <a:cubicBezTo>
                    <a:pt x="63981" y="4006892"/>
                    <a:pt x="0" y="3940111"/>
                    <a:pt x="0" y="3857799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</p:grpSp>
      <p:sp>
        <p:nvSpPr>
          <p:cNvPr name="TextBox 36" id="36"/>
          <p:cNvSpPr txBox="true"/>
          <p:nvPr/>
        </p:nvSpPr>
        <p:spPr>
          <a:xfrm rot="0">
            <a:off x="9809310" y="7873174"/>
            <a:ext cx="6717030" cy="8745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9"/>
              </a:lnSpc>
              <a:spcBef>
                <a:spcPct val="0"/>
              </a:spcBef>
            </a:pPr>
            <a:r>
              <a:rPr lang="en-US" sz="2150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  <a:t>Ok(30)</a:t>
            </a:r>
          </a:p>
          <a:p>
            <a:pPr algn="l">
              <a:lnSpc>
                <a:spcPts val="3569"/>
              </a:lnSpc>
              <a:spcBef>
                <a:spcPct val="0"/>
              </a:spcBef>
            </a:pPr>
            <a:r>
              <a:rPr lang="en-US" sz="2150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  <a:t>Err(ParseIntError { kind: InvalidDigit })</a:t>
            </a:r>
          </a:p>
        </p:txBody>
      </p:sp>
      <p:grpSp>
        <p:nvGrpSpPr>
          <p:cNvPr name="Group 37" id="37"/>
          <p:cNvGrpSpPr/>
          <p:nvPr/>
        </p:nvGrpSpPr>
        <p:grpSpPr>
          <a:xfrm rot="0">
            <a:off x="9642348" y="7187125"/>
            <a:ext cx="7955280" cy="492258"/>
            <a:chOff x="0" y="0"/>
            <a:chExt cx="10607040" cy="656344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10607040" cy="656344"/>
            </a:xfrm>
            <a:custGeom>
              <a:avLst/>
              <a:gdLst/>
              <a:ahLst/>
              <a:cxnLst/>
              <a:rect r="r" b="b" t="t" l="l"/>
              <a:pathLst>
                <a:path h="656344" w="10607040">
                  <a:moveTo>
                    <a:pt x="0" y="0"/>
                  </a:moveTo>
                  <a:lnTo>
                    <a:pt x="10607040" y="0"/>
                  </a:lnTo>
                  <a:lnTo>
                    <a:pt x="10607040" y="656344"/>
                  </a:lnTo>
                  <a:lnTo>
                    <a:pt x="0" y="65634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66132" r="0" b="-263654"/>
              </a:stretch>
            </a:blipFill>
          </p:spPr>
        </p:sp>
        <p:sp>
          <p:nvSpPr>
            <p:cNvPr name="TextBox 39" id="39"/>
            <p:cNvSpPr txBox="true"/>
            <p:nvPr/>
          </p:nvSpPr>
          <p:spPr>
            <a:xfrm>
              <a:off x="0" y="-47625"/>
              <a:ext cx="10607040" cy="70396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939"/>
                </a:lnSpc>
              </a:pPr>
              <a:r>
                <a:rPr lang="en-US" sz="2449" b="true">
                  <a:solidFill>
                    <a:srgbClr val="3B8B5C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Expected output</a:t>
              </a:r>
            </a:p>
          </p:txBody>
        </p:sp>
      </p:grpSp>
    </p:spTree>
  </p:cSld>
  <p:clrMapOvr>
    <a:masterClrMapping/>
  </p:clrMapOvr>
  <p:transition spd="fast">
    <p:wipe dir="l"/>
  </p:transition>
</p:sld>
</file>

<file path=ppt/slides/slide2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685800" y="1440180"/>
            <a:ext cx="16911828" cy="960120"/>
            <a:chOff x="0" y="0"/>
            <a:chExt cx="22549104" cy="128016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2549104" cy="1280160"/>
            </a:xfrm>
            <a:custGeom>
              <a:avLst/>
              <a:gdLst/>
              <a:ahLst/>
              <a:cxnLst/>
              <a:rect r="r" b="b" t="t" l="l"/>
              <a:pathLst>
                <a:path h="1280160" w="22549104">
                  <a:moveTo>
                    <a:pt x="0" y="0"/>
                  </a:moveTo>
                  <a:lnTo>
                    <a:pt x="22549104" y="0"/>
                  </a:lnTo>
                  <a:lnTo>
                    <a:pt x="22549104" y="1280160"/>
                  </a:lnTo>
                  <a:lnTo>
                    <a:pt x="0" y="12801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93215" r="0" b="-293215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19050"/>
              <a:ext cx="22549104" cy="129921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400"/>
                </a:lnSpc>
              </a:pPr>
              <a:r>
                <a:rPr lang="en-US" sz="4500" b="true">
                  <a:solidFill>
                    <a:srgbClr val="222222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Key Takeaways — สรุปสิ่งที่ควรจำ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685800" y="2743200"/>
            <a:ext cx="685800" cy="685800"/>
            <a:chOff x="0" y="0"/>
            <a:chExt cx="914400" cy="9144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914400" cy="914400"/>
            </a:xfrm>
            <a:custGeom>
              <a:avLst/>
              <a:gdLst/>
              <a:ahLst/>
              <a:cxnLst/>
              <a:rect r="r" b="b" t="t" l="l"/>
              <a:pathLst>
                <a:path h="914400" w="914400">
                  <a:moveTo>
                    <a:pt x="0" y="457200"/>
                  </a:moveTo>
                  <a:cubicBezTo>
                    <a:pt x="0" y="204724"/>
                    <a:pt x="204724" y="0"/>
                    <a:pt x="457200" y="0"/>
                  </a:cubicBezTo>
                  <a:cubicBezTo>
                    <a:pt x="709676" y="0"/>
                    <a:pt x="914400" y="204724"/>
                    <a:pt x="914400" y="457200"/>
                  </a:cubicBezTo>
                  <a:cubicBezTo>
                    <a:pt x="914400" y="709676"/>
                    <a:pt x="709676" y="914400"/>
                    <a:pt x="457200" y="914400"/>
                  </a:cubicBezTo>
                  <a:cubicBezTo>
                    <a:pt x="204724" y="914400"/>
                    <a:pt x="0" y="709676"/>
                    <a:pt x="0" y="457200"/>
                  </a:cubicBezTo>
                  <a:close/>
                </a:path>
              </a:pathLst>
            </a:custGeom>
            <a:solidFill>
              <a:srgbClr val="8B2E2E"/>
            </a:solidFill>
          </p:spPr>
        </p:sp>
      </p:grpSp>
      <p:grpSp>
        <p:nvGrpSpPr>
          <p:cNvPr name="Group 7" id="7"/>
          <p:cNvGrpSpPr/>
          <p:nvPr/>
        </p:nvGrpSpPr>
        <p:grpSpPr>
          <a:xfrm rot="0">
            <a:off x="685800" y="2743200"/>
            <a:ext cx="685800" cy="685800"/>
            <a:chOff x="0" y="0"/>
            <a:chExt cx="914400" cy="9144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914400" cy="914400"/>
            </a:xfrm>
            <a:custGeom>
              <a:avLst/>
              <a:gdLst/>
              <a:ahLst/>
              <a:cxnLst/>
              <a:rect r="r" b="b" t="t" l="l"/>
              <a:pathLst>
                <a:path h="914400" w="914400">
                  <a:moveTo>
                    <a:pt x="0" y="0"/>
                  </a:moveTo>
                  <a:lnTo>
                    <a:pt x="914400" y="0"/>
                  </a:lnTo>
                  <a:lnTo>
                    <a:pt x="91440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>
              <a:off x="0" y="-9525"/>
              <a:ext cx="914400" cy="9239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879"/>
                </a:lnSpc>
              </a:pPr>
              <a:r>
                <a:rPr lang="en-US" sz="2400" b="true">
                  <a:solidFill>
                    <a:srgbClr val="FFFFFF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1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1714500" y="2674620"/>
            <a:ext cx="13696106" cy="1566118"/>
            <a:chOff x="0" y="0"/>
            <a:chExt cx="18261474" cy="2088158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8261474" cy="2088158"/>
            </a:xfrm>
            <a:custGeom>
              <a:avLst/>
              <a:gdLst/>
              <a:ahLst/>
              <a:cxnLst/>
              <a:rect r="r" b="b" t="t" l="l"/>
              <a:pathLst>
                <a:path h="2088158" w="18261474">
                  <a:moveTo>
                    <a:pt x="0" y="0"/>
                  </a:moveTo>
                  <a:lnTo>
                    <a:pt x="18261474" y="0"/>
                  </a:lnTo>
                  <a:lnTo>
                    <a:pt x="18261474" y="2088158"/>
                  </a:lnTo>
                  <a:lnTo>
                    <a:pt x="0" y="208815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6588" r="-14466" b="-123515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38100"/>
              <a:ext cx="18261474" cy="212625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 b="true">
                  <a:solidFill>
                    <a:srgbClr val="8B2E2E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แบ่งชนิด Error ชัดเจน</a:t>
              </a:r>
              <a:r>
                <a:rPr lang="en-US" sz="2400">
                  <a:solidFill>
                    <a:srgbClr val="8B2E2E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 </a:t>
              </a:r>
            </a:p>
            <a:p>
              <a:pPr algn="l">
                <a:lnSpc>
                  <a:spcPts val="2879"/>
                </a:lnSpc>
              </a:pPr>
              <a:r>
                <a:rPr lang="en-US" sz="2400">
                  <a:solidFill>
                    <a:srgbClr val="222222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โดยถ้าเกิดข้อผิดพลาด</a:t>
              </a:r>
              <a:r>
                <a:rPr lang="en-US" sz="2400">
                  <a:solidFill>
                    <a:srgbClr val="222222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รุนแรงจะหยุดทำงานทันที (panic!) แต่ถ้าเป็นข้อผิดพลาดที่แก้ไขได้ จะส่งค่ากลับมาควบคุมต่อผ่าน </a:t>
              </a:r>
              <a:r>
                <a:rPr lang="en-US" sz="2400" b="true">
                  <a:solidFill>
                    <a:srgbClr val="222222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Result</a:t>
              </a:r>
              <a:r>
                <a:rPr lang="en-US" sz="2400">
                  <a:solidFill>
                    <a:srgbClr val="222222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 หรือ </a:t>
              </a:r>
              <a:r>
                <a:rPr lang="en-US" sz="2400" b="true">
                  <a:solidFill>
                    <a:srgbClr val="222222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Option</a:t>
              </a:r>
            </a:p>
            <a:p>
              <a:pPr algn="l">
                <a:lnSpc>
                  <a:spcPts val="2879"/>
                </a:lnSpc>
              </a:pP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685800" y="4251960"/>
            <a:ext cx="685800" cy="685800"/>
            <a:chOff x="0" y="0"/>
            <a:chExt cx="914400" cy="91440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914400" cy="914400"/>
            </a:xfrm>
            <a:custGeom>
              <a:avLst/>
              <a:gdLst/>
              <a:ahLst/>
              <a:cxnLst/>
              <a:rect r="r" b="b" t="t" l="l"/>
              <a:pathLst>
                <a:path h="914400" w="914400">
                  <a:moveTo>
                    <a:pt x="0" y="457200"/>
                  </a:moveTo>
                  <a:cubicBezTo>
                    <a:pt x="0" y="204724"/>
                    <a:pt x="204724" y="0"/>
                    <a:pt x="457200" y="0"/>
                  </a:cubicBezTo>
                  <a:cubicBezTo>
                    <a:pt x="709676" y="0"/>
                    <a:pt x="914400" y="204724"/>
                    <a:pt x="914400" y="457200"/>
                  </a:cubicBezTo>
                  <a:cubicBezTo>
                    <a:pt x="914400" y="709676"/>
                    <a:pt x="709676" y="914400"/>
                    <a:pt x="457200" y="914400"/>
                  </a:cubicBezTo>
                  <a:cubicBezTo>
                    <a:pt x="204724" y="914400"/>
                    <a:pt x="0" y="709676"/>
                    <a:pt x="0" y="457200"/>
                  </a:cubicBezTo>
                  <a:close/>
                </a:path>
              </a:pathLst>
            </a:custGeom>
            <a:solidFill>
              <a:srgbClr val="8B2E2E"/>
            </a:solidFill>
          </p:spPr>
        </p:sp>
      </p:grpSp>
      <p:grpSp>
        <p:nvGrpSpPr>
          <p:cNvPr name="Group 15" id="15"/>
          <p:cNvGrpSpPr/>
          <p:nvPr/>
        </p:nvGrpSpPr>
        <p:grpSpPr>
          <a:xfrm rot="0">
            <a:off x="685800" y="4251960"/>
            <a:ext cx="685800" cy="685800"/>
            <a:chOff x="0" y="0"/>
            <a:chExt cx="914400" cy="91440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914400" cy="914400"/>
            </a:xfrm>
            <a:custGeom>
              <a:avLst/>
              <a:gdLst/>
              <a:ahLst/>
              <a:cxnLst/>
              <a:rect r="r" b="b" t="t" l="l"/>
              <a:pathLst>
                <a:path h="914400" w="914400">
                  <a:moveTo>
                    <a:pt x="0" y="0"/>
                  </a:moveTo>
                  <a:lnTo>
                    <a:pt x="914400" y="0"/>
                  </a:lnTo>
                  <a:lnTo>
                    <a:pt x="91440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9525"/>
              <a:ext cx="914400" cy="9239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879"/>
                </a:lnSpc>
              </a:pPr>
              <a:r>
                <a:rPr lang="en-US" sz="2400" b="true">
                  <a:solidFill>
                    <a:srgbClr val="FFFFFF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2</a:t>
              </a: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1714500" y="4149090"/>
            <a:ext cx="15677388" cy="891540"/>
            <a:chOff x="0" y="0"/>
            <a:chExt cx="20903184" cy="118872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20903185" cy="1188720"/>
            </a:xfrm>
            <a:custGeom>
              <a:avLst/>
              <a:gdLst/>
              <a:ahLst/>
              <a:cxnLst/>
              <a:rect r="r" b="b" t="t" l="l"/>
              <a:pathLst>
                <a:path h="1188720" w="20903185">
                  <a:moveTo>
                    <a:pt x="0" y="0"/>
                  </a:moveTo>
                  <a:lnTo>
                    <a:pt x="20903185" y="0"/>
                  </a:lnTo>
                  <a:lnTo>
                    <a:pt x="20903185" y="1188720"/>
                  </a:lnTo>
                  <a:lnTo>
                    <a:pt x="0" y="11887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92636" r="0" b="-292636"/>
              </a:stretch>
            </a:blipFill>
          </p:spPr>
        </p:sp>
        <p:sp>
          <p:nvSpPr>
            <p:cNvPr name="TextBox 20" id="20"/>
            <p:cNvSpPr txBox="true"/>
            <p:nvPr/>
          </p:nvSpPr>
          <p:spPr>
            <a:xfrm>
              <a:off x="0" y="-38100"/>
              <a:ext cx="20903184" cy="12268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 b="true">
                  <a:solidFill>
                    <a:srgbClr val="8B2E2E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ไม่มี Null เพื่อป้องกันโ</a:t>
              </a:r>
              <a:r>
                <a:rPr lang="en-US" sz="2400" b="true">
                  <a:solidFill>
                    <a:srgbClr val="8B2E2E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ปรแกรมล่ม</a:t>
              </a:r>
            </a:p>
            <a:p>
              <a:pPr algn="l">
                <a:lnSpc>
                  <a:spcPts val="2879"/>
                </a:lnSpc>
              </a:pPr>
              <a:r>
                <a:rPr lang="en-US" sz="2400">
                  <a:solidFill>
                    <a:srgbClr val="222222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Rust จะตัดการใช้ null ออกไป แล้วใช้ Option บังคับให้เราจัดการกรณีที่ "ไม่มีข้อมูล" แทน</a:t>
              </a: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685800" y="5760720"/>
            <a:ext cx="685800" cy="685800"/>
            <a:chOff x="0" y="0"/>
            <a:chExt cx="914400" cy="91440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914400" cy="914400"/>
            </a:xfrm>
            <a:custGeom>
              <a:avLst/>
              <a:gdLst/>
              <a:ahLst/>
              <a:cxnLst/>
              <a:rect r="r" b="b" t="t" l="l"/>
              <a:pathLst>
                <a:path h="914400" w="914400">
                  <a:moveTo>
                    <a:pt x="0" y="457200"/>
                  </a:moveTo>
                  <a:cubicBezTo>
                    <a:pt x="0" y="204724"/>
                    <a:pt x="204724" y="0"/>
                    <a:pt x="457200" y="0"/>
                  </a:cubicBezTo>
                  <a:cubicBezTo>
                    <a:pt x="709676" y="0"/>
                    <a:pt x="914400" y="204724"/>
                    <a:pt x="914400" y="457200"/>
                  </a:cubicBezTo>
                  <a:cubicBezTo>
                    <a:pt x="914400" y="709676"/>
                    <a:pt x="709676" y="914400"/>
                    <a:pt x="457200" y="914400"/>
                  </a:cubicBezTo>
                  <a:cubicBezTo>
                    <a:pt x="204724" y="914400"/>
                    <a:pt x="0" y="709676"/>
                    <a:pt x="0" y="457200"/>
                  </a:cubicBezTo>
                  <a:close/>
                </a:path>
              </a:pathLst>
            </a:custGeom>
            <a:solidFill>
              <a:srgbClr val="8B2E2E"/>
            </a:solidFill>
          </p:spPr>
        </p:sp>
      </p:grpSp>
      <p:grpSp>
        <p:nvGrpSpPr>
          <p:cNvPr name="Group 23" id="23"/>
          <p:cNvGrpSpPr/>
          <p:nvPr/>
        </p:nvGrpSpPr>
        <p:grpSpPr>
          <a:xfrm rot="0">
            <a:off x="685800" y="5760720"/>
            <a:ext cx="685800" cy="685800"/>
            <a:chOff x="0" y="0"/>
            <a:chExt cx="914400" cy="91440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914400" cy="914400"/>
            </a:xfrm>
            <a:custGeom>
              <a:avLst/>
              <a:gdLst/>
              <a:ahLst/>
              <a:cxnLst/>
              <a:rect r="r" b="b" t="t" l="l"/>
              <a:pathLst>
                <a:path h="914400" w="914400">
                  <a:moveTo>
                    <a:pt x="0" y="0"/>
                  </a:moveTo>
                  <a:lnTo>
                    <a:pt x="914400" y="0"/>
                  </a:lnTo>
                  <a:lnTo>
                    <a:pt x="91440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25" id="25"/>
            <p:cNvSpPr txBox="true"/>
            <p:nvPr/>
          </p:nvSpPr>
          <p:spPr>
            <a:xfrm>
              <a:off x="0" y="-9525"/>
              <a:ext cx="914400" cy="9239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879"/>
                </a:lnSpc>
              </a:pPr>
              <a:r>
                <a:rPr lang="en-US" sz="2400" b="true">
                  <a:solidFill>
                    <a:srgbClr val="FFFFFF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3</a:t>
              </a: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1714500" y="5692140"/>
            <a:ext cx="15677388" cy="891540"/>
            <a:chOff x="0" y="0"/>
            <a:chExt cx="20903184" cy="118872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20903185" cy="1188720"/>
            </a:xfrm>
            <a:custGeom>
              <a:avLst/>
              <a:gdLst/>
              <a:ahLst/>
              <a:cxnLst/>
              <a:rect r="r" b="b" t="t" l="l"/>
              <a:pathLst>
                <a:path h="1188720" w="20903185">
                  <a:moveTo>
                    <a:pt x="0" y="0"/>
                  </a:moveTo>
                  <a:lnTo>
                    <a:pt x="20903185" y="0"/>
                  </a:lnTo>
                  <a:lnTo>
                    <a:pt x="20903185" y="1188720"/>
                  </a:lnTo>
                  <a:lnTo>
                    <a:pt x="0" y="11887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92636" r="0" b="-292636"/>
              </a:stretch>
            </a:blipFill>
          </p:spPr>
        </p:sp>
        <p:sp>
          <p:nvSpPr>
            <p:cNvPr name="TextBox 28" id="28"/>
            <p:cNvSpPr txBox="true"/>
            <p:nvPr/>
          </p:nvSpPr>
          <p:spPr>
            <a:xfrm>
              <a:off x="0" y="-38100"/>
              <a:ext cx="20903184" cy="12268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 b="true">
                  <a:solidFill>
                    <a:srgbClr val="8B2E2E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ส่งต่อ Error ง่าย ๆ ด้วย</a:t>
              </a:r>
              <a:r>
                <a:rPr lang="en-US" sz="2400" b="true">
                  <a:solidFill>
                    <a:srgbClr val="8B2E2E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เครื่องหมาย ?</a:t>
              </a:r>
            </a:p>
            <a:p>
              <a:pPr algn="l">
                <a:lnSpc>
                  <a:spcPts val="2879"/>
                </a:lnSpc>
              </a:pPr>
              <a:r>
                <a:rPr lang="en-US" sz="2400">
                  <a:solidFill>
                    <a:srgbClr val="222222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แค่ใส่ ? ก็สามารถส่ง Error ไปจัดการต่อได้เลย ช่วยให้โค้ดสั้น และอ่านง่าย</a:t>
              </a:r>
            </a:p>
          </p:txBody>
        </p:sp>
      </p:grpSp>
      <p:grpSp>
        <p:nvGrpSpPr>
          <p:cNvPr name="Group 29" id="29"/>
          <p:cNvGrpSpPr/>
          <p:nvPr/>
        </p:nvGrpSpPr>
        <p:grpSpPr>
          <a:xfrm rot="0">
            <a:off x="685800" y="7269480"/>
            <a:ext cx="685800" cy="685800"/>
            <a:chOff x="0" y="0"/>
            <a:chExt cx="914400" cy="914400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914400" cy="914400"/>
            </a:xfrm>
            <a:custGeom>
              <a:avLst/>
              <a:gdLst/>
              <a:ahLst/>
              <a:cxnLst/>
              <a:rect r="r" b="b" t="t" l="l"/>
              <a:pathLst>
                <a:path h="914400" w="914400">
                  <a:moveTo>
                    <a:pt x="0" y="457200"/>
                  </a:moveTo>
                  <a:cubicBezTo>
                    <a:pt x="0" y="204724"/>
                    <a:pt x="204724" y="0"/>
                    <a:pt x="457200" y="0"/>
                  </a:cubicBezTo>
                  <a:cubicBezTo>
                    <a:pt x="709676" y="0"/>
                    <a:pt x="914400" y="204724"/>
                    <a:pt x="914400" y="457200"/>
                  </a:cubicBezTo>
                  <a:cubicBezTo>
                    <a:pt x="914400" y="709676"/>
                    <a:pt x="709676" y="914400"/>
                    <a:pt x="457200" y="914400"/>
                  </a:cubicBezTo>
                  <a:cubicBezTo>
                    <a:pt x="204724" y="914400"/>
                    <a:pt x="0" y="709676"/>
                    <a:pt x="0" y="457200"/>
                  </a:cubicBezTo>
                  <a:close/>
                </a:path>
              </a:pathLst>
            </a:custGeom>
            <a:solidFill>
              <a:srgbClr val="8B2E2E"/>
            </a:solidFill>
          </p:spPr>
        </p:sp>
      </p:grpSp>
      <p:grpSp>
        <p:nvGrpSpPr>
          <p:cNvPr name="Group 31" id="31"/>
          <p:cNvGrpSpPr/>
          <p:nvPr/>
        </p:nvGrpSpPr>
        <p:grpSpPr>
          <a:xfrm rot="0">
            <a:off x="685800" y="7269480"/>
            <a:ext cx="685800" cy="685800"/>
            <a:chOff x="0" y="0"/>
            <a:chExt cx="914400" cy="914400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914400" cy="914400"/>
            </a:xfrm>
            <a:custGeom>
              <a:avLst/>
              <a:gdLst/>
              <a:ahLst/>
              <a:cxnLst/>
              <a:rect r="r" b="b" t="t" l="l"/>
              <a:pathLst>
                <a:path h="914400" w="914400">
                  <a:moveTo>
                    <a:pt x="0" y="0"/>
                  </a:moveTo>
                  <a:lnTo>
                    <a:pt x="914400" y="0"/>
                  </a:lnTo>
                  <a:lnTo>
                    <a:pt x="91440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33" id="33"/>
            <p:cNvSpPr txBox="true"/>
            <p:nvPr/>
          </p:nvSpPr>
          <p:spPr>
            <a:xfrm>
              <a:off x="0" y="-9525"/>
              <a:ext cx="914400" cy="9239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879"/>
                </a:lnSpc>
              </a:pPr>
              <a:r>
                <a:rPr lang="en-US" sz="2400" b="true">
                  <a:solidFill>
                    <a:srgbClr val="FFFFFF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4</a:t>
              </a:r>
            </a:p>
          </p:txBody>
        </p:sp>
      </p:grpSp>
      <p:grpSp>
        <p:nvGrpSpPr>
          <p:cNvPr name="Group 34" id="34"/>
          <p:cNvGrpSpPr/>
          <p:nvPr/>
        </p:nvGrpSpPr>
        <p:grpSpPr>
          <a:xfrm rot="0">
            <a:off x="1714500" y="7166610"/>
            <a:ext cx="14865754" cy="891540"/>
            <a:chOff x="0" y="0"/>
            <a:chExt cx="19821005" cy="1188720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19821006" cy="1188720"/>
            </a:xfrm>
            <a:custGeom>
              <a:avLst/>
              <a:gdLst/>
              <a:ahLst/>
              <a:cxnLst/>
              <a:rect r="r" b="b" t="t" l="l"/>
              <a:pathLst>
                <a:path h="1188720" w="19821006">
                  <a:moveTo>
                    <a:pt x="0" y="0"/>
                  </a:moveTo>
                  <a:lnTo>
                    <a:pt x="19821006" y="0"/>
                  </a:lnTo>
                  <a:lnTo>
                    <a:pt x="19821006" y="1188720"/>
                  </a:lnTo>
                  <a:lnTo>
                    <a:pt x="0" y="11887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92636" r="-5459" b="-292636"/>
              </a:stretch>
            </a:blipFill>
          </p:spPr>
        </p:sp>
        <p:sp>
          <p:nvSpPr>
            <p:cNvPr name="TextBox 36" id="36"/>
            <p:cNvSpPr txBox="true"/>
            <p:nvPr/>
          </p:nvSpPr>
          <p:spPr>
            <a:xfrm>
              <a:off x="0" y="-38100"/>
              <a:ext cx="19821005" cy="12268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 b="true">
                  <a:solidFill>
                    <a:srgbClr val="8B2E2E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การเชื่อมโยงวิชา PPL</a:t>
              </a:r>
            </a:p>
            <a:p>
              <a:pPr algn="l">
                <a:lnSpc>
                  <a:spcPts val="2879"/>
                </a:lnSpc>
              </a:pPr>
              <a:r>
                <a:rPr lang="en-US" sz="2400">
                  <a:solidFill>
                    <a:srgbClr val="222222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เปลี่ยนจากการรอดัก Error ตอนรันโปรแกรม มาเป็นการบังคับจัดการทุกกรณีผ่าน Type System ตั้งแต่ขั้นตอนคอมไพล์</a:t>
              </a:r>
            </a:p>
          </p:txBody>
        </p:sp>
      </p:grpSp>
      <p:grpSp>
        <p:nvGrpSpPr>
          <p:cNvPr name="Group 37" id="37"/>
          <p:cNvGrpSpPr/>
          <p:nvPr/>
        </p:nvGrpSpPr>
        <p:grpSpPr>
          <a:xfrm rot="0">
            <a:off x="685800" y="9710928"/>
            <a:ext cx="10972800" cy="411480"/>
            <a:chOff x="0" y="0"/>
            <a:chExt cx="14630400" cy="548640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14630400" cy="548640"/>
            </a:xfrm>
            <a:custGeom>
              <a:avLst/>
              <a:gdLst/>
              <a:ahLst/>
              <a:cxnLst/>
              <a:rect r="r" b="b" t="t" l="l"/>
              <a:pathLst>
                <a:path h="548640" w="14630400">
                  <a:moveTo>
                    <a:pt x="0" y="0"/>
                  </a:moveTo>
                  <a:lnTo>
                    <a:pt x="14630400" y="0"/>
                  </a:lnTo>
                  <a:lnTo>
                    <a:pt x="146304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69601" r="0" b="-469601"/>
              </a:stretch>
            </a:blipFill>
          </p:spPr>
        </p:sp>
        <p:sp>
          <p:nvSpPr>
            <p:cNvPr name="TextBox 39" id="39"/>
            <p:cNvSpPr txBox="true"/>
            <p:nvPr/>
          </p:nvSpPr>
          <p:spPr>
            <a:xfrm>
              <a:off x="0" y="-38100"/>
              <a:ext cx="14630400" cy="5867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00"/>
                </a:lnSpc>
              </a:pPr>
              <a:r>
                <a:rPr lang="en-US" sz="1500">
                  <a:solidFill>
                    <a:srgbClr val="6B6B6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517321 Principles of Programming Languages — Rust Tutorial</a:t>
              </a:r>
            </a:p>
          </p:txBody>
        </p:sp>
      </p:grpSp>
      <p:grpSp>
        <p:nvGrpSpPr>
          <p:cNvPr name="Group 40" id="40"/>
          <p:cNvGrpSpPr/>
          <p:nvPr/>
        </p:nvGrpSpPr>
        <p:grpSpPr>
          <a:xfrm rot="0">
            <a:off x="16911828" y="9710928"/>
            <a:ext cx="685800" cy="411480"/>
            <a:chOff x="0" y="0"/>
            <a:chExt cx="914400" cy="548640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914400" cy="548640"/>
            </a:xfrm>
            <a:custGeom>
              <a:avLst/>
              <a:gdLst/>
              <a:ahLst/>
              <a:cxnLst/>
              <a:rect r="r" b="b" t="t" l="l"/>
              <a:pathLst>
                <a:path h="548640" w="914400">
                  <a:moveTo>
                    <a:pt x="0" y="0"/>
                  </a:moveTo>
                  <a:lnTo>
                    <a:pt x="914400" y="0"/>
                  </a:lnTo>
                  <a:lnTo>
                    <a:pt x="9144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26982" t="0" r="-26982" b="0"/>
              </a:stretch>
            </a:blipFill>
          </p:spPr>
        </p:sp>
        <p:sp>
          <p:nvSpPr>
            <p:cNvPr name="TextBox 42" id="42"/>
            <p:cNvSpPr txBox="true"/>
            <p:nvPr/>
          </p:nvSpPr>
          <p:spPr>
            <a:xfrm>
              <a:off x="0" y="-38100"/>
              <a:ext cx="914400" cy="5867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800"/>
                </a:lnSpc>
              </a:pPr>
              <a:r>
                <a:rPr lang="en-US" sz="1500">
                  <a:solidFill>
                    <a:srgbClr val="6B6B6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9</a:t>
              </a:r>
            </a:p>
          </p:txBody>
        </p:sp>
      </p:grpSp>
    </p:spTree>
  </p:cSld>
  <p:clrMapOvr>
    <a:masterClrMapping/>
  </p:clrMapOvr>
  <p:transition spd="fast">
    <p:wipe dir="l"/>
  </p:transition>
</p:sld>
</file>

<file path=ppt/slides/slide2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685800" y="1440180"/>
            <a:ext cx="16911828" cy="960120"/>
            <a:chOff x="0" y="0"/>
            <a:chExt cx="22549104" cy="128016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2549104" cy="1280160"/>
            </a:xfrm>
            <a:custGeom>
              <a:avLst/>
              <a:gdLst/>
              <a:ahLst/>
              <a:cxnLst/>
              <a:rect r="r" b="b" t="t" l="l"/>
              <a:pathLst>
                <a:path h="1280160" w="22549104">
                  <a:moveTo>
                    <a:pt x="0" y="0"/>
                  </a:moveTo>
                  <a:lnTo>
                    <a:pt x="22549104" y="0"/>
                  </a:lnTo>
                  <a:lnTo>
                    <a:pt x="22549104" y="1280160"/>
                  </a:lnTo>
                  <a:lnTo>
                    <a:pt x="0" y="12801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93215" r="0" b="-293215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19050"/>
              <a:ext cx="22549104" cy="129921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400"/>
                </a:lnSpc>
              </a:pPr>
              <a:r>
                <a:rPr lang="en-US" sz="4500" b="true">
                  <a:solidFill>
                    <a:srgbClr val="222222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References — เอกสารอ้างอิง</a:t>
              </a: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685800" y="2686050"/>
            <a:ext cx="16911828" cy="400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0"/>
              </a:lnSpc>
            </a:pPr>
            <a:r>
              <a:rPr lang="en-US" sz="2250">
                <a:solidFill>
                  <a:srgbClr val="222222"/>
                </a:solidFill>
                <a:latin typeface="Calibri (MS)"/>
                <a:ea typeface="Calibri (MS)"/>
                <a:cs typeface="Calibri (MS)"/>
                <a:sym typeface="Calibri (MS)"/>
              </a:rPr>
              <a:t>•  The Rust Programming Language (The Rust Book) — https://doc.rust-lang.org/book/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685800" y="3714750"/>
            <a:ext cx="16911828" cy="400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0"/>
              </a:lnSpc>
            </a:pPr>
            <a:r>
              <a:rPr lang="en-US" sz="2250">
                <a:solidFill>
                  <a:srgbClr val="222222"/>
                </a:solidFill>
                <a:latin typeface="Calibri (MS)"/>
                <a:ea typeface="Calibri (MS)"/>
                <a:cs typeface="Calibri (MS)"/>
                <a:sym typeface="Calibri (MS)"/>
              </a:rPr>
              <a:t>•  Rust by Example — https://doc.rust-lang.org/rust-by-example/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685800" y="4743450"/>
            <a:ext cx="16911828" cy="10858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0"/>
              </a:lnSpc>
            </a:pPr>
            <a:r>
              <a:rPr lang="en-US" sz="2250">
                <a:solidFill>
                  <a:srgbClr val="222222"/>
                </a:solidFill>
                <a:latin typeface="Calibri (MS)"/>
                <a:ea typeface="Calibri (MS)"/>
                <a:cs typeface="Calibri (MS)"/>
                <a:sym typeface="Calibri (MS)"/>
              </a:rPr>
              <a:t>•  Rust by Example — https://doc.rust-lang.org/rust-by-example/index.html</a:t>
            </a:r>
          </a:p>
          <a:p>
            <a:pPr algn="l">
              <a:lnSpc>
                <a:spcPts val="2700"/>
              </a:lnSpc>
            </a:pPr>
          </a:p>
          <a:p>
            <a:pPr algn="l">
              <a:lnSpc>
                <a:spcPts val="2700"/>
              </a:lnSpc>
            </a:pPr>
          </a:p>
        </p:txBody>
      </p:sp>
      <p:sp>
        <p:nvSpPr>
          <p:cNvPr name="TextBox 8" id="8"/>
          <p:cNvSpPr txBox="true"/>
          <p:nvPr/>
        </p:nvSpPr>
        <p:spPr>
          <a:xfrm rot="0">
            <a:off x="685800" y="5772150"/>
            <a:ext cx="16911828" cy="400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0"/>
              </a:lnSpc>
            </a:pPr>
            <a:r>
              <a:rPr lang="en-US" sz="2250">
                <a:solidFill>
                  <a:srgbClr val="222222"/>
                </a:solidFill>
                <a:latin typeface="Calibri (MS)"/>
                <a:ea typeface="Calibri (MS)"/>
                <a:cs typeface="Calibri (MS)"/>
                <a:sym typeface="Calibri (MS)"/>
              </a:rPr>
              <a:t>•  Rustify: Rust Error Handling in 2026 — https://rustify.rs/articles/rust-error-handling-result-option</a:t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685800" y="7406640"/>
            <a:ext cx="16911828" cy="548640"/>
            <a:chOff x="0" y="0"/>
            <a:chExt cx="22549104" cy="73152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22549104" cy="731520"/>
            </a:xfrm>
            <a:custGeom>
              <a:avLst/>
              <a:gdLst/>
              <a:ahLst/>
              <a:cxnLst/>
              <a:rect r="r" b="b" t="t" l="l"/>
              <a:pathLst>
                <a:path h="731520" w="22549104">
                  <a:moveTo>
                    <a:pt x="0" y="0"/>
                  </a:moveTo>
                  <a:lnTo>
                    <a:pt x="22549104" y="0"/>
                  </a:lnTo>
                  <a:lnTo>
                    <a:pt x="22549104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50626" r="0" b="-550626"/>
              </a:stretch>
            </a:blip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47625"/>
              <a:ext cx="22549104" cy="7791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40"/>
                </a:lnSpc>
              </a:pPr>
              <a:r>
                <a:rPr lang="en-US" sz="1950" i="true">
                  <a:solidFill>
                    <a:srgbClr val="6B6B6B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GitHub Repository: https://github.com/670710620/rust-tutorial-2569/tree/main</a:t>
              </a: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685800" y="9710928"/>
            <a:ext cx="10972800" cy="411480"/>
            <a:chOff x="0" y="0"/>
            <a:chExt cx="14630400" cy="54864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4630400" cy="548640"/>
            </a:xfrm>
            <a:custGeom>
              <a:avLst/>
              <a:gdLst/>
              <a:ahLst/>
              <a:cxnLst/>
              <a:rect r="r" b="b" t="t" l="l"/>
              <a:pathLst>
                <a:path h="548640" w="14630400">
                  <a:moveTo>
                    <a:pt x="0" y="0"/>
                  </a:moveTo>
                  <a:lnTo>
                    <a:pt x="14630400" y="0"/>
                  </a:lnTo>
                  <a:lnTo>
                    <a:pt x="146304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69601" r="0" b="-469601"/>
              </a:stretch>
            </a:blip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38100"/>
              <a:ext cx="14630400" cy="5867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00"/>
                </a:lnSpc>
              </a:pPr>
              <a:r>
                <a:rPr lang="en-US" sz="1500">
                  <a:solidFill>
                    <a:srgbClr val="6B6B6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517321 Principles of Programming Languages — Rust Tutorial</a:t>
              </a: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16911828" y="9710928"/>
            <a:ext cx="685800" cy="411480"/>
            <a:chOff x="0" y="0"/>
            <a:chExt cx="914400" cy="54864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914400" cy="548640"/>
            </a:xfrm>
            <a:custGeom>
              <a:avLst/>
              <a:gdLst/>
              <a:ahLst/>
              <a:cxnLst/>
              <a:rect r="r" b="b" t="t" l="l"/>
              <a:pathLst>
                <a:path h="548640" w="914400">
                  <a:moveTo>
                    <a:pt x="0" y="0"/>
                  </a:moveTo>
                  <a:lnTo>
                    <a:pt x="914400" y="0"/>
                  </a:lnTo>
                  <a:lnTo>
                    <a:pt x="9144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26982" t="0" r="-26982" b="0"/>
              </a:stretch>
            </a:blip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38100"/>
              <a:ext cx="914400" cy="5867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800"/>
                </a:lnSpc>
              </a:pPr>
              <a:r>
                <a:rPr lang="en-US" sz="1500">
                  <a:solidFill>
                    <a:srgbClr val="6B6B6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10</a:t>
              </a:r>
            </a:p>
          </p:txBody>
        </p:sp>
      </p:grpSp>
    </p:spTree>
  </p:cSld>
  <p:clrMapOvr>
    <a:masterClrMapping/>
  </p:clrMapOvr>
  <p:transition spd="fast">
    <p:wipe dir="l"/>
  </p:transition>
</p:sld>
</file>

<file path=ppt/slides/slide2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3A14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2743200" y="-3429000"/>
            <a:ext cx="8229600" cy="8229600"/>
            <a:chOff x="0" y="0"/>
            <a:chExt cx="10972800" cy="1097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0972800" cy="10972800"/>
            </a:xfrm>
            <a:custGeom>
              <a:avLst/>
              <a:gdLst/>
              <a:ahLst/>
              <a:cxnLst/>
              <a:rect r="r" b="b" t="t" l="l"/>
              <a:pathLst>
                <a:path h="10972800" w="10972800">
                  <a:moveTo>
                    <a:pt x="0" y="5486400"/>
                  </a:moveTo>
                  <a:cubicBezTo>
                    <a:pt x="0" y="2456307"/>
                    <a:pt x="2456307" y="0"/>
                    <a:pt x="5486400" y="0"/>
                  </a:cubicBezTo>
                  <a:cubicBezTo>
                    <a:pt x="8516493" y="0"/>
                    <a:pt x="10972800" y="2456307"/>
                    <a:pt x="10972800" y="5486400"/>
                  </a:cubicBezTo>
                  <a:cubicBezTo>
                    <a:pt x="10972800" y="8516493"/>
                    <a:pt x="8516493" y="10972800"/>
                    <a:pt x="5486400" y="10972800"/>
                  </a:cubicBezTo>
                  <a:cubicBezTo>
                    <a:pt x="2456307" y="10972800"/>
                    <a:pt x="0" y="8516493"/>
                    <a:pt x="0" y="5486400"/>
                  </a:cubicBezTo>
                  <a:close/>
                </a:path>
              </a:pathLst>
            </a:custGeom>
            <a:solidFill>
              <a:srgbClr val="8B2E2E">
                <a:alpha val="30196"/>
              </a:srgbClr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13482828" y="5486400"/>
            <a:ext cx="7543800" cy="7543800"/>
            <a:chOff x="0" y="0"/>
            <a:chExt cx="10058400" cy="100584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0058400" cy="10058400"/>
            </a:xfrm>
            <a:custGeom>
              <a:avLst/>
              <a:gdLst/>
              <a:ahLst/>
              <a:cxnLst/>
              <a:rect r="r" b="b" t="t" l="l"/>
              <a:pathLst>
                <a:path h="10058400" w="10058400">
                  <a:moveTo>
                    <a:pt x="0" y="5029200"/>
                  </a:moveTo>
                  <a:cubicBezTo>
                    <a:pt x="0" y="2251710"/>
                    <a:pt x="2251710" y="0"/>
                    <a:pt x="5029200" y="0"/>
                  </a:cubicBezTo>
                  <a:cubicBezTo>
                    <a:pt x="7806690" y="0"/>
                    <a:pt x="10058400" y="2251710"/>
                    <a:pt x="10058400" y="5029200"/>
                  </a:cubicBezTo>
                  <a:cubicBezTo>
                    <a:pt x="10058400" y="7806690"/>
                    <a:pt x="7806690" y="10058400"/>
                    <a:pt x="5029200" y="10058400"/>
                  </a:cubicBezTo>
                  <a:cubicBezTo>
                    <a:pt x="2251710" y="10058400"/>
                    <a:pt x="0" y="7806690"/>
                    <a:pt x="0" y="5029200"/>
                  </a:cubicBezTo>
                  <a:close/>
                </a:path>
              </a:pathLst>
            </a:custGeom>
            <a:solidFill>
              <a:srgbClr val="C9A227">
                <a:alpha val="4706"/>
              </a:srgbClr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1028700" y="2215615"/>
            <a:ext cx="16088868" cy="4839556"/>
            <a:chOff x="0" y="0"/>
            <a:chExt cx="21451824" cy="6452741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1451824" cy="6452741"/>
            </a:xfrm>
            <a:custGeom>
              <a:avLst/>
              <a:gdLst/>
              <a:ahLst/>
              <a:cxnLst/>
              <a:rect r="r" b="b" t="t" l="l"/>
              <a:pathLst>
                <a:path h="6452741" w="21451824">
                  <a:moveTo>
                    <a:pt x="0" y="0"/>
                  </a:moveTo>
                  <a:lnTo>
                    <a:pt x="21451824" y="0"/>
                  </a:lnTo>
                  <a:lnTo>
                    <a:pt x="21451824" y="6452741"/>
                  </a:lnTo>
                  <a:lnTo>
                    <a:pt x="0" y="6452741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0606" r="0" b="21052"/>
              </a:stretch>
            </a:blipFill>
          </p:spPr>
        </p:sp>
        <p:sp>
          <p:nvSpPr>
            <p:cNvPr name="TextBox 8" id="8"/>
            <p:cNvSpPr txBox="true"/>
            <p:nvPr/>
          </p:nvSpPr>
          <p:spPr>
            <a:xfrm>
              <a:off x="0" y="-19050"/>
              <a:ext cx="21451824" cy="647179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7920"/>
                </a:lnSpc>
              </a:pPr>
              <a:r>
                <a:rPr lang="en-US" sz="6600">
                  <a:solidFill>
                    <a:srgbClr val="C9A227"/>
                  </a:solidFill>
                  <a:latin typeface="Cambria"/>
                  <a:ea typeface="Cambria"/>
                  <a:cs typeface="Cambria"/>
                  <a:sym typeface="Cambria"/>
                </a:rPr>
                <a:t>Questions &amp; Answers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1097280" y="5074920"/>
            <a:ext cx="16088868" cy="1980251"/>
            <a:chOff x="0" y="0"/>
            <a:chExt cx="21451824" cy="2640335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21451824" cy="2640335"/>
            </a:xfrm>
            <a:custGeom>
              <a:avLst/>
              <a:gdLst/>
              <a:ahLst/>
              <a:cxnLst/>
              <a:rect r="r" b="b" t="t" l="l"/>
              <a:pathLst>
                <a:path h="2640335" w="21451824">
                  <a:moveTo>
                    <a:pt x="0" y="0"/>
                  </a:moveTo>
                  <a:lnTo>
                    <a:pt x="21451824" y="0"/>
                  </a:lnTo>
                  <a:lnTo>
                    <a:pt x="21451824" y="2640335"/>
                  </a:lnTo>
                  <a:lnTo>
                    <a:pt x="0" y="264033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37530" r="0" b="-79088"/>
              </a:stretch>
            </a:blip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19050"/>
              <a:ext cx="21451824" cy="26593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240"/>
                </a:lnSpc>
              </a:pPr>
              <a:r>
                <a:rPr lang="en-US" sz="2700">
                  <a:solidFill>
                    <a:srgbClr val="D8C8C8"/>
                  </a:solidFill>
                  <a:latin typeface="Cambria"/>
                  <a:ea typeface="Cambria"/>
                  <a:cs typeface="Cambria"/>
                  <a:sym typeface="Cambria"/>
                </a:rPr>
                <a:t>กลุ่ม [14]  —  [Error Handling : Option and Result]</a:t>
              </a:r>
            </a:p>
          </p:txBody>
        </p:sp>
      </p:grpSp>
    </p:spTree>
  </p:cSld>
  <p:clrMapOvr>
    <a:masterClrMapping/>
  </p:clrMapOvr>
  <p:transition spd="fast">
    <p:wipe dir="l"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DAHWFksJqjc</dc:identifier>
  <dcterms:modified xsi:type="dcterms:W3CDTF">2011-08-01T06:04:30Z</dcterms:modified>
  <cp:revision>1</cp:revision>
  <dc:title>Rust_Presentation.pptx</dc:title>
</cp:coreProperties>
</file>